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3"/>
  </p:notesMasterIdLst>
  <p:handoutMasterIdLst>
    <p:handoutMasterId r:id="rId34"/>
  </p:handoutMasterIdLst>
  <p:sldIdLst>
    <p:sldId id="256" r:id="rId2"/>
    <p:sldId id="257" r:id="rId3"/>
    <p:sldId id="258" r:id="rId4"/>
    <p:sldId id="348" r:id="rId5"/>
    <p:sldId id="296" r:id="rId6"/>
    <p:sldId id="298" r:id="rId7"/>
    <p:sldId id="261" r:id="rId8"/>
    <p:sldId id="260" r:id="rId9"/>
    <p:sldId id="350" r:id="rId10"/>
    <p:sldId id="290" r:id="rId11"/>
    <p:sldId id="303" r:id="rId12"/>
    <p:sldId id="341" r:id="rId13"/>
    <p:sldId id="351" r:id="rId14"/>
    <p:sldId id="334" r:id="rId15"/>
    <p:sldId id="346" r:id="rId16"/>
    <p:sldId id="345" r:id="rId17"/>
    <p:sldId id="324" r:id="rId18"/>
    <p:sldId id="352" r:id="rId19"/>
    <p:sldId id="262" r:id="rId20"/>
    <p:sldId id="263" r:id="rId21"/>
    <p:sldId id="335" r:id="rId22"/>
    <p:sldId id="264" r:id="rId23"/>
    <p:sldId id="265" r:id="rId24"/>
    <p:sldId id="277" r:id="rId25"/>
    <p:sldId id="274" r:id="rId26"/>
    <p:sldId id="338" r:id="rId27"/>
    <p:sldId id="339" r:id="rId28"/>
    <p:sldId id="353" r:id="rId29"/>
    <p:sldId id="266" r:id="rId30"/>
    <p:sldId id="267" r:id="rId31"/>
    <p:sldId id="331" r:id="rId3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148" autoAdjust="0"/>
  </p:normalViewPr>
  <p:slideViewPr>
    <p:cSldViewPr snapToGrid="0">
      <p:cViewPr varScale="1">
        <p:scale>
          <a:sx n="64" d="100"/>
          <a:sy n="64" d="100"/>
        </p:scale>
        <p:origin x="509"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8D3EDD8B-3049-4CC9-A5EA-D27DAB09E41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928CD61D-1AAB-46BF-8476-CF5931933E2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05FABDE-DD18-41EE-A694-AE7E3EA70032}" type="datetimeFigureOut">
              <a:rPr lang="zh-TW" altLang="en-US" smtClean="0"/>
              <a:t>2025/2/25</a:t>
            </a:fld>
            <a:endParaRPr lang="zh-TW" altLang="en-US"/>
          </a:p>
        </p:txBody>
      </p:sp>
      <p:sp>
        <p:nvSpPr>
          <p:cNvPr id="4" name="頁尾版面配置區 3">
            <a:extLst>
              <a:ext uri="{FF2B5EF4-FFF2-40B4-BE49-F238E27FC236}">
                <a16:creationId xmlns:a16="http://schemas.microsoft.com/office/drawing/2014/main" id="{90C6FC84-B80F-43D1-9BD7-2BEBE03EA78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648B139C-8C6A-4FC1-929D-CCF72450FE3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47D9EBD-CEAB-4EFC-94BD-958D38FFE6A5}" type="slidenum">
              <a:rPr lang="zh-TW" altLang="en-US" smtClean="0"/>
              <a:t>‹#›</a:t>
            </a:fld>
            <a:endParaRPr lang="zh-TW" altLang="en-US"/>
          </a:p>
        </p:txBody>
      </p:sp>
    </p:spTree>
    <p:extLst>
      <p:ext uri="{BB962C8B-B14F-4D97-AF65-F5344CB8AC3E}">
        <p14:creationId xmlns:p14="http://schemas.microsoft.com/office/powerpoint/2010/main" val="300673346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9A1DDC-413D-4F1F-AF6F-F2A89A93D78A}" type="datetimeFigureOut">
              <a:rPr lang="en-US" smtClean="0"/>
              <a:t>2/25/2025</a:t>
            </a:fld>
            <a:endParaRPr 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0C650C-39F8-41A4-936A-22972DCFA6CA}" type="slidenum">
              <a:rPr lang="en-US" smtClean="0"/>
              <a:t>‹#›</a:t>
            </a:fld>
            <a:endParaRPr lang="en-US"/>
          </a:p>
        </p:txBody>
      </p:sp>
    </p:spTree>
    <p:extLst>
      <p:ext uri="{BB962C8B-B14F-4D97-AF65-F5344CB8AC3E}">
        <p14:creationId xmlns:p14="http://schemas.microsoft.com/office/powerpoint/2010/main" val="273502912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Good morning/afternoon everyone. Today, I’m going to introduce the work on </a:t>
            </a:r>
            <a:r>
              <a:rPr lang="en-US" altLang="zh-TW" b="1" dirty="0"/>
              <a:t>Skeleton Recall Loss</a:t>
            </a:r>
            <a:r>
              <a:rPr lang="en-US" altLang="zh-TW" dirty="0"/>
              <a:t>, a novel loss function designed for connectivity-preserving segmentation of thin structures.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Segmenting thin and curvilinear structures, such as blood vessels, cracks, and roads, is a critical challenge in medical imaging and engineering applications. Traditional segmentation methods often fail to maintain the topology of these structures, leading to broken or misconnected regions. The proposed loss function effectively addresses this issue while remaining efficient and architecture-agnostic.</a:t>
            </a:r>
            <a:endParaRPr lang="en-US" altLang="zh-TW" b="1" dirty="0"/>
          </a:p>
          <a:p>
            <a:endParaRPr lang="zh-TW" altLang="en-US" dirty="0"/>
          </a:p>
        </p:txBody>
      </p:sp>
      <p:sp>
        <p:nvSpPr>
          <p:cNvPr id="4" name="投影片編號版面配置區 3"/>
          <p:cNvSpPr>
            <a:spLocks noGrp="1"/>
          </p:cNvSpPr>
          <p:nvPr>
            <p:ph type="sldNum" sz="quarter" idx="5"/>
          </p:nvPr>
        </p:nvSpPr>
        <p:spPr/>
        <p:txBody>
          <a:bodyPr/>
          <a:lstStyle/>
          <a:p>
            <a:fld id="{F70C650C-39F8-41A4-936A-22972DCFA6CA}" type="slidenum">
              <a:rPr lang="en-US" smtClean="0"/>
              <a:t>1</a:t>
            </a:fld>
            <a:endParaRPr lang="en-US"/>
          </a:p>
        </p:txBody>
      </p:sp>
    </p:spTree>
    <p:extLst>
      <p:ext uri="{BB962C8B-B14F-4D97-AF65-F5344CB8AC3E}">
        <p14:creationId xmlns:p14="http://schemas.microsoft.com/office/powerpoint/2010/main" val="22974146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This is the outline, I tear into 5 parts .</a:t>
            </a:r>
          </a:p>
          <a:p>
            <a:r>
              <a:rPr lang="en-US" altLang="zh-TW" dirty="0"/>
              <a:t>Let’s start to introduce the paper.</a:t>
            </a:r>
            <a:endParaRPr lang="zh-TW" altLang="en-US" dirty="0"/>
          </a:p>
        </p:txBody>
      </p:sp>
      <p:sp>
        <p:nvSpPr>
          <p:cNvPr id="4" name="投影片編號版面配置區 3"/>
          <p:cNvSpPr>
            <a:spLocks noGrp="1"/>
          </p:cNvSpPr>
          <p:nvPr>
            <p:ph type="sldNum" sz="quarter" idx="5"/>
          </p:nvPr>
        </p:nvSpPr>
        <p:spPr/>
        <p:txBody>
          <a:bodyPr/>
          <a:lstStyle/>
          <a:p>
            <a:fld id="{F70C650C-39F8-41A4-936A-22972DCFA6CA}" type="slidenum">
              <a:rPr lang="en-US" smtClean="0"/>
              <a:t>2</a:t>
            </a:fld>
            <a:endParaRPr lang="en-US"/>
          </a:p>
        </p:txBody>
      </p:sp>
    </p:spTree>
    <p:extLst>
      <p:ext uri="{BB962C8B-B14F-4D97-AF65-F5344CB8AC3E}">
        <p14:creationId xmlns:p14="http://schemas.microsoft.com/office/powerpoint/2010/main" val="42702662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0C650C-39F8-41A4-936A-22972DCFA6CA}" type="slidenum">
              <a:rPr lang="en-US" smtClean="0"/>
              <a:t>3</a:t>
            </a:fld>
            <a:endParaRPr lang="en-US"/>
          </a:p>
        </p:txBody>
      </p:sp>
    </p:spTree>
    <p:extLst>
      <p:ext uri="{BB962C8B-B14F-4D97-AF65-F5344CB8AC3E}">
        <p14:creationId xmlns:p14="http://schemas.microsoft.com/office/powerpoint/2010/main" val="25282816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Thin structure segmentation is challenging because standard pixel-wise losses, such as Dice Loss or Cross-Entropy Loss, do not explicitly consider connectivity. Some recent methods, like </a:t>
            </a:r>
            <a:r>
              <a:rPr lang="en-US" altLang="zh-TW" b="1" dirty="0" err="1"/>
              <a:t>clDice</a:t>
            </a:r>
            <a:r>
              <a:rPr lang="en-US" altLang="zh-TW" b="1" dirty="0"/>
              <a:t> Loss</a:t>
            </a:r>
            <a:r>
              <a:rPr lang="en-US" altLang="zh-TW" dirty="0"/>
              <a:t>, attempt to preserve connectivity using differentiable skeletonization, but they suffer from </a:t>
            </a:r>
            <a:r>
              <a:rPr lang="en-US" altLang="zh-TW" b="1" dirty="0"/>
              <a:t>high computational costs and memory usage</a:t>
            </a:r>
            <a:r>
              <a:rPr lang="en-US" altLang="zh-TW" dirty="0"/>
              <a:t>, especially in multi-class settings.</a:t>
            </a:r>
          </a:p>
          <a:p>
            <a:endParaRPr lang="en-US" altLang="zh-TW" b="1" dirty="0"/>
          </a:p>
          <a:p>
            <a:r>
              <a:rPr lang="en-US" altLang="zh-TW" b="1" dirty="0"/>
              <a:t>High Computational Cost</a:t>
            </a:r>
            <a:r>
              <a:rPr lang="en-US" altLang="zh-TW" dirty="0"/>
              <a:t> – Many topology-aware segmentation methods, such as </a:t>
            </a:r>
            <a:r>
              <a:rPr lang="en-US" altLang="zh-TW" dirty="0" err="1"/>
              <a:t>clDice</a:t>
            </a:r>
            <a:r>
              <a:rPr lang="en-US" altLang="zh-TW" dirty="0"/>
              <a:t> Loss, require GPU-intensive skeletonization, increasing training time and memory usage.</a:t>
            </a:r>
          </a:p>
          <a:p>
            <a:pPr>
              <a:buFont typeface="Arial" panose="020B0604020202020204" pitchFamily="34" charset="0"/>
              <a:buChar char="•"/>
            </a:pPr>
            <a:r>
              <a:rPr lang="zh-TW" altLang="en-US" b="1" dirty="0"/>
              <a:t>計算成本高</a:t>
            </a:r>
            <a:r>
              <a:rPr lang="zh-TW" altLang="en-US" dirty="0"/>
              <a:t> </a:t>
            </a:r>
            <a:r>
              <a:rPr lang="en-US" altLang="zh-TW" dirty="0"/>
              <a:t>– </a:t>
            </a:r>
            <a:r>
              <a:rPr lang="zh-TW" altLang="en-US" dirty="0"/>
              <a:t>許多拓撲保持的分割方法（如 </a:t>
            </a:r>
            <a:r>
              <a:rPr lang="en-US" altLang="zh-TW" dirty="0" err="1"/>
              <a:t>clDice</a:t>
            </a:r>
            <a:r>
              <a:rPr lang="en-US" altLang="zh-TW" dirty="0"/>
              <a:t> Loss</a:t>
            </a:r>
            <a:r>
              <a:rPr lang="zh-TW" altLang="en-US" dirty="0"/>
              <a:t>）需要 </a:t>
            </a:r>
            <a:r>
              <a:rPr lang="en-US" altLang="zh-TW" dirty="0"/>
              <a:t>GPU </a:t>
            </a:r>
            <a:r>
              <a:rPr lang="zh-TW" altLang="en-US" dirty="0"/>
              <a:t>密集的骨架化處理，導致訓練時間和記憶體需求增加。</a:t>
            </a:r>
          </a:p>
          <a:p>
            <a:r>
              <a:rPr lang="en-US" altLang="zh-TW" b="1" dirty="0"/>
              <a:t>Architecture Dependency</a:t>
            </a:r>
            <a:r>
              <a:rPr lang="en-US" altLang="zh-TW" dirty="0"/>
              <a:t> – Some methods require modifications to the network architecture, limiting their flexibility.</a:t>
            </a:r>
          </a:p>
          <a:p>
            <a:pPr>
              <a:buFont typeface="Arial" panose="020B0604020202020204" pitchFamily="34" charset="0"/>
              <a:buChar char="•"/>
            </a:pPr>
            <a:r>
              <a:rPr lang="zh-TW" altLang="en-US" b="1" dirty="0"/>
              <a:t>架構依賴性</a:t>
            </a:r>
            <a:r>
              <a:rPr lang="zh-TW" altLang="en-US" dirty="0"/>
              <a:t> </a:t>
            </a:r>
            <a:r>
              <a:rPr lang="en-US" altLang="zh-TW" dirty="0"/>
              <a:t>– </a:t>
            </a:r>
            <a:r>
              <a:rPr lang="zh-TW" altLang="en-US" dirty="0"/>
              <a:t>某些方法需要對網路架構進行修改，降低其通用性。</a:t>
            </a:r>
          </a:p>
          <a:p>
            <a:r>
              <a:rPr lang="en-US" altLang="zh-TW" b="1" dirty="0"/>
              <a:t>Limited Multi-Class Support</a:t>
            </a:r>
            <a:r>
              <a:rPr lang="en-US" altLang="zh-TW" dirty="0"/>
              <a:t> – Existing topology-aware losses struggle with multi-class segmentation due to excessive computational requirements.</a:t>
            </a:r>
          </a:p>
          <a:p>
            <a:pPr>
              <a:buFont typeface="Arial" panose="020B0604020202020204" pitchFamily="34" charset="0"/>
              <a:buChar char="•"/>
            </a:pPr>
            <a:r>
              <a:rPr lang="zh-TW" altLang="en-US" b="1" dirty="0"/>
              <a:t>多分類支援受限</a:t>
            </a:r>
            <a:r>
              <a:rPr lang="zh-TW" altLang="en-US" dirty="0"/>
              <a:t> </a:t>
            </a:r>
            <a:r>
              <a:rPr lang="en-US" altLang="zh-TW" dirty="0"/>
              <a:t>– </a:t>
            </a:r>
            <a:r>
              <a:rPr lang="zh-TW" altLang="en-US" dirty="0"/>
              <a:t>現有的拓撲保持損失函數在多類別分割時計算需求過高，難以適用。</a:t>
            </a:r>
          </a:p>
          <a:p>
            <a:endParaRPr lang="en-US" altLang="zh-TW" b="1" dirty="0"/>
          </a:p>
          <a:p>
            <a:r>
              <a:rPr lang="en-US" altLang="zh-TW" b="1" dirty="0"/>
              <a:t>Main Tasks (</a:t>
            </a:r>
            <a:r>
              <a:rPr lang="zh-TW" altLang="en-US" b="1" dirty="0"/>
              <a:t>主要任務</a:t>
            </a:r>
            <a:r>
              <a:rPr lang="en-US" altLang="zh-TW" b="1" dirty="0"/>
              <a:t>)</a:t>
            </a:r>
          </a:p>
          <a:p>
            <a:pPr>
              <a:buFont typeface="+mj-lt"/>
              <a:buAutoNum type="arabicPeriod"/>
            </a:pPr>
            <a:r>
              <a:rPr lang="en-US" altLang="zh-TW" b="1" dirty="0"/>
              <a:t>Efficient Training</a:t>
            </a:r>
            <a:r>
              <a:rPr lang="en-US" altLang="zh-TW" dirty="0"/>
              <a:t> – Develop a loss function that maintains topology without significantly increasing training time or memory usage.</a:t>
            </a:r>
            <a:br>
              <a:rPr lang="en-US" altLang="zh-TW" dirty="0"/>
            </a:br>
            <a:r>
              <a:rPr lang="zh-TW" altLang="en-US" b="1" dirty="0"/>
              <a:t>高效訓練</a:t>
            </a:r>
            <a:r>
              <a:rPr lang="zh-TW" altLang="en-US" dirty="0"/>
              <a:t> </a:t>
            </a:r>
            <a:r>
              <a:rPr lang="en-US" altLang="zh-TW" dirty="0"/>
              <a:t>– </a:t>
            </a:r>
            <a:r>
              <a:rPr lang="zh-TW" altLang="en-US" dirty="0"/>
              <a:t>設計一種能夠保持拓撲結構但不顯著增加訓練時間與記憶體消耗的損失函數。</a:t>
            </a:r>
          </a:p>
          <a:p>
            <a:pPr>
              <a:buFont typeface="+mj-lt"/>
              <a:buAutoNum type="arabicPeriod"/>
            </a:pPr>
            <a:r>
              <a:rPr lang="en-US" altLang="zh-TW" b="1" dirty="0"/>
              <a:t>Architecture Independence</a:t>
            </a:r>
            <a:r>
              <a:rPr lang="en-US" altLang="zh-TW" dirty="0"/>
              <a:t> – Ensure compatibility with various segmentation networks without requiring modifications.</a:t>
            </a:r>
            <a:br>
              <a:rPr lang="en-US" altLang="zh-TW" dirty="0"/>
            </a:br>
            <a:r>
              <a:rPr lang="zh-TW" altLang="en-US" b="1" dirty="0"/>
              <a:t>架構獨立性</a:t>
            </a:r>
            <a:r>
              <a:rPr lang="zh-TW" altLang="en-US" dirty="0"/>
              <a:t> </a:t>
            </a:r>
            <a:r>
              <a:rPr lang="en-US" altLang="zh-TW" dirty="0"/>
              <a:t>– </a:t>
            </a:r>
            <a:r>
              <a:rPr lang="zh-TW" altLang="en-US" dirty="0"/>
              <a:t>使其能夠無縫整合到不同的分割模型中，而無需修改網路架構。</a:t>
            </a:r>
          </a:p>
          <a:p>
            <a:pPr>
              <a:buFont typeface="+mj-lt"/>
              <a:buAutoNum type="arabicPeriod"/>
            </a:pPr>
            <a:r>
              <a:rPr lang="en-US" altLang="zh-TW" b="1" dirty="0"/>
              <a:t>Multi-Class Segmentation</a:t>
            </a:r>
            <a:r>
              <a:rPr lang="en-US" altLang="zh-TW" dirty="0"/>
              <a:t> – Enable topology-preserving segmentation for both binary and multi-class tasks.</a:t>
            </a:r>
            <a:br>
              <a:rPr lang="en-US" altLang="zh-TW" dirty="0"/>
            </a:br>
            <a:r>
              <a:rPr lang="zh-TW" altLang="en-US" b="1" dirty="0"/>
              <a:t>多分類分割</a:t>
            </a:r>
            <a:r>
              <a:rPr lang="zh-TW" altLang="en-US" dirty="0"/>
              <a:t> </a:t>
            </a:r>
            <a:r>
              <a:rPr lang="en-US" altLang="zh-TW" dirty="0"/>
              <a:t>– </a:t>
            </a:r>
            <a:r>
              <a:rPr lang="zh-TW" altLang="en-US" dirty="0"/>
              <a:t>使拓撲保持分割適用於二元與多類別分割任務</a:t>
            </a:r>
          </a:p>
          <a:p>
            <a:endParaRPr lang="en-US" altLang="zh-TW" dirty="0"/>
          </a:p>
        </p:txBody>
      </p:sp>
      <p:sp>
        <p:nvSpPr>
          <p:cNvPr id="4" name="投影片編號版面配置區 3"/>
          <p:cNvSpPr>
            <a:spLocks noGrp="1"/>
          </p:cNvSpPr>
          <p:nvPr>
            <p:ph type="sldNum" sz="quarter" idx="5"/>
          </p:nvPr>
        </p:nvSpPr>
        <p:spPr/>
        <p:txBody>
          <a:bodyPr/>
          <a:lstStyle/>
          <a:p>
            <a:fld id="{F70C650C-39F8-41A4-936A-22972DCFA6CA}" type="slidenum">
              <a:rPr lang="en-US" smtClean="0"/>
              <a:t>4</a:t>
            </a:fld>
            <a:endParaRPr lang="en-US"/>
          </a:p>
        </p:txBody>
      </p:sp>
    </p:spTree>
    <p:extLst>
      <p:ext uri="{BB962C8B-B14F-4D97-AF65-F5344CB8AC3E}">
        <p14:creationId xmlns:p14="http://schemas.microsoft.com/office/powerpoint/2010/main" val="33195944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To overcome these limitations, the paper introduce </a:t>
            </a:r>
            <a:r>
              <a:rPr lang="en-US" altLang="zh-TW" b="1" dirty="0"/>
              <a:t>Skeleton Recall Loss</a:t>
            </a:r>
            <a:r>
              <a:rPr lang="en-US" altLang="zh-TW" dirty="0"/>
              <a:t>, which has the following advantages:</a:t>
            </a:r>
          </a:p>
          <a:p>
            <a:pPr>
              <a:buFont typeface="+mj-lt"/>
              <a:buAutoNum type="arabicPeriod"/>
            </a:pPr>
            <a:r>
              <a:rPr lang="en-US" altLang="zh-TW" b="1" dirty="0"/>
              <a:t>Minimal Computational Cost</a:t>
            </a:r>
            <a:r>
              <a:rPr lang="en-US" altLang="zh-TW" dirty="0"/>
              <a:t> – Unlike </a:t>
            </a:r>
            <a:r>
              <a:rPr lang="en-US" altLang="zh-TW" dirty="0" err="1"/>
              <a:t>clDice</a:t>
            </a:r>
            <a:r>
              <a:rPr lang="en-US" altLang="zh-TW" dirty="0"/>
              <a:t> Loss, our method avoids GPU-intensive skeletonization, making it highly efficient.</a:t>
            </a:r>
          </a:p>
          <a:p>
            <a:pPr>
              <a:buFont typeface="+mj-lt"/>
              <a:buAutoNum type="arabicPeriod"/>
            </a:pPr>
            <a:r>
              <a:rPr lang="en-US" altLang="zh-TW" b="1" dirty="0"/>
              <a:t>Topology-Preserving</a:t>
            </a:r>
            <a:r>
              <a:rPr lang="en-US" altLang="zh-TW" dirty="0"/>
              <a:t> – It explicitly optimizes for connectivity conservation, reducing errors in connected components (β₀) and loops (β₁).</a:t>
            </a:r>
          </a:p>
          <a:p>
            <a:pPr>
              <a:buFont typeface="+mj-lt"/>
              <a:buAutoNum type="arabicPeriod"/>
            </a:pPr>
            <a:r>
              <a:rPr lang="en-US" altLang="zh-TW" b="1" dirty="0"/>
              <a:t>Architecture-Agnostic</a:t>
            </a:r>
            <a:r>
              <a:rPr lang="en-US" altLang="zh-TW" dirty="0"/>
              <a:t> – It can be integrated into different 2D and 3D segmentation models without modifications.</a:t>
            </a:r>
          </a:p>
          <a:p>
            <a:pPr>
              <a:buFont typeface="+mj-lt"/>
              <a:buAutoNum type="arabicPeriod"/>
            </a:pPr>
            <a:r>
              <a:rPr lang="en-US" altLang="zh-TW" b="1" dirty="0"/>
              <a:t>Multi-Class Compatibility</a:t>
            </a:r>
            <a:r>
              <a:rPr lang="en-US" altLang="zh-TW" dirty="0"/>
              <a:t> – It supports multi-class segmentation with minimal additional overhead.</a:t>
            </a:r>
          </a:p>
          <a:p>
            <a:endParaRPr lang="en-US" altLang="zh-TW" b="1" dirty="0"/>
          </a:p>
          <a:p>
            <a:r>
              <a:rPr lang="en-US" altLang="zh-TW" b="1" dirty="0"/>
              <a:t>Efficient and Lightweight</a:t>
            </a:r>
            <a:r>
              <a:rPr lang="en-US" altLang="zh-TW" dirty="0"/>
              <a:t> – Skeleton Recall Loss computes topology-aware segmentation with minimal training time and memory by leveraging CPU-based operations instead of GPU-intensive skeletonization.</a:t>
            </a:r>
          </a:p>
          <a:p>
            <a:pPr>
              <a:buFont typeface="Arial" panose="020B0604020202020204" pitchFamily="34" charset="0"/>
              <a:buChar char="•"/>
            </a:pPr>
            <a:r>
              <a:rPr lang="zh-TW" altLang="en-US" b="1" dirty="0"/>
              <a:t>高效且輕量</a:t>
            </a:r>
            <a:r>
              <a:rPr lang="zh-TW" altLang="en-US" dirty="0"/>
              <a:t> </a:t>
            </a:r>
            <a:r>
              <a:rPr lang="en-US" altLang="zh-TW" dirty="0"/>
              <a:t>– Skeleton Recall Loss </a:t>
            </a:r>
            <a:r>
              <a:rPr lang="zh-TW" altLang="en-US" dirty="0"/>
              <a:t>利用 </a:t>
            </a:r>
            <a:r>
              <a:rPr lang="en-US" altLang="zh-TW" dirty="0"/>
              <a:t>CPU </a:t>
            </a:r>
            <a:r>
              <a:rPr lang="zh-TW" altLang="en-US" dirty="0"/>
              <a:t>運算取代 </a:t>
            </a:r>
            <a:r>
              <a:rPr lang="en-US" altLang="zh-TW" dirty="0"/>
              <a:t>GPU </a:t>
            </a:r>
            <a:r>
              <a:rPr lang="zh-TW" altLang="en-US" dirty="0"/>
              <a:t>密集骨架化處理，大幅減少訓練時間與記憶體消耗。</a:t>
            </a:r>
          </a:p>
          <a:p>
            <a:r>
              <a:rPr lang="en-US" altLang="zh-TW" b="1" dirty="0"/>
              <a:t>Architecture-Agnostic</a:t>
            </a:r>
            <a:r>
              <a:rPr lang="en-US" altLang="zh-TW" dirty="0"/>
              <a:t> – It seamlessly integrates with various 2D and 3D segmentation models without requiring architectural modifications.</a:t>
            </a:r>
          </a:p>
          <a:p>
            <a:pPr>
              <a:buFont typeface="Arial" panose="020B0604020202020204" pitchFamily="34" charset="0"/>
              <a:buChar char="•"/>
            </a:pPr>
            <a:r>
              <a:rPr lang="zh-TW" altLang="en-US" b="1" dirty="0"/>
              <a:t>架構無關性</a:t>
            </a:r>
            <a:r>
              <a:rPr lang="zh-TW" altLang="en-US" dirty="0"/>
              <a:t> </a:t>
            </a:r>
            <a:r>
              <a:rPr lang="en-US" altLang="zh-TW" dirty="0"/>
              <a:t>– </a:t>
            </a:r>
            <a:r>
              <a:rPr lang="zh-TW" altLang="en-US" dirty="0"/>
              <a:t>可無縫適配不同的 </a:t>
            </a:r>
            <a:r>
              <a:rPr lang="en-US" altLang="zh-TW" dirty="0"/>
              <a:t>2D </a:t>
            </a:r>
            <a:r>
              <a:rPr lang="zh-TW" altLang="en-US" dirty="0"/>
              <a:t>和 </a:t>
            </a:r>
            <a:r>
              <a:rPr lang="en-US" altLang="zh-TW" dirty="0"/>
              <a:t>3D </a:t>
            </a:r>
            <a:r>
              <a:rPr lang="zh-TW" altLang="en-US" dirty="0"/>
              <a:t>分割網路，無需修改架構。</a:t>
            </a:r>
          </a:p>
          <a:p>
            <a:r>
              <a:rPr lang="en-US" altLang="zh-TW" b="1" dirty="0"/>
              <a:t>Multi-Class Support</a:t>
            </a:r>
            <a:r>
              <a:rPr lang="en-US" altLang="zh-TW" dirty="0"/>
              <a:t> – Unlike </a:t>
            </a:r>
            <a:r>
              <a:rPr lang="en-US" altLang="zh-TW" dirty="0" err="1"/>
              <a:t>clDice</a:t>
            </a:r>
            <a:r>
              <a:rPr lang="en-US" altLang="zh-TW" dirty="0"/>
              <a:t> Loss, it efficiently handles multi-class segmentation while maintaining connectivity with minimal computational cost.</a:t>
            </a:r>
          </a:p>
          <a:p>
            <a:pPr>
              <a:buFont typeface="Arial" panose="020B0604020202020204" pitchFamily="34" charset="0"/>
              <a:buChar char="•"/>
            </a:pPr>
            <a:r>
              <a:rPr lang="zh-TW" altLang="en-US" b="1" dirty="0"/>
              <a:t>多類別支援</a:t>
            </a:r>
            <a:r>
              <a:rPr lang="zh-TW" altLang="en-US" dirty="0"/>
              <a:t> </a:t>
            </a:r>
            <a:r>
              <a:rPr lang="en-US" altLang="zh-TW" dirty="0"/>
              <a:t>– </a:t>
            </a:r>
            <a:r>
              <a:rPr lang="zh-TW" altLang="en-US" dirty="0"/>
              <a:t>相較於 </a:t>
            </a:r>
            <a:r>
              <a:rPr lang="en-US" altLang="zh-TW" dirty="0" err="1"/>
              <a:t>clDice</a:t>
            </a:r>
            <a:r>
              <a:rPr lang="en-US" altLang="zh-TW" dirty="0"/>
              <a:t> Loss</a:t>
            </a:r>
            <a:r>
              <a:rPr lang="zh-TW" altLang="en-US" dirty="0"/>
              <a:t>，其可有效維持連通性並處理多類別分割，且計算成本極低。</a:t>
            </a:r>
          </a:p>
        </p:txBody>
      </p:sp>
      <p:sp>
        <p:nvSpPr>
          <p:cNvPr id="4" name="投影片編號版面配置區 3"/>
          <p:cNvSpPr>
            <a:spLocks noGrp="1"/>
          </p:cNvSpPr>
          <p:nvPr>
            <p:ph type="sldNum" sz="quarter" idx="5"/>
          </p:nvPr>
        </p:nvSpPr>
        <p:spPr/>
        <p:txBody>
          <a:bodyPr/>
          <a:lstStyle/>
          <a:p>
            <a:fld id="{F70C650C-39F8-41A4-936A-22972DCFA6CA}" type="slidenum">
              <a:rPr lang="en-US" smtClean="0"/>
              <a:t>5</a:t>
            </a:fld>
            <a:endParaRPr lang="en-US"/>
          </a:p>
        </p:txBody>
      </p:sp>
    </p:spTree>
    <p:extLst>
      <p:ext uri="{BB962C8B-B14F-4D97-AF65-F5344CB8AC3E}">
        <p14:creationId xmlns:p14="http://schemas.microsoft.com/office/powerpoint/2010/main" val="383924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0" dirty="0"/>
              <a:t>The </a:t>
            </a:r>
            <a:r>
              <a:rPr lang="en-US" altLang="zh-TW" dirty="0"/>
              <a:t>framework consists of three key components:</a:t>
            </a:r>
            <a:br>
              <a:rPr lang="en-US" altLang="zh-TW" dirty="0"/>
            </a:br>
            <a:r>
              <a:rPr lang="en-US" altLang="zh-TW" dirty="0"/>
              <a:t>Segmentation Network –to use a baseline segmentation model such as </a:t>
            </a:r>
            <a:r>
              <a:rPr lang="en-US" altLang="zh-TW" dirty="0" err="1"/>
              <a:t>nnUNet</a:t>
            </a:r>
            <a:r>
              <a:rPr lang="en-US" altLang="zh-TW" dirty="0"/>
              <a:t> or </a:t>
            </a:r>
            <a:r>
              <a:rPr lang="en-US" altLang="zh-TW" dirty="0" err="1"/>
              <a:t>HRNet</a:t>
            </a:r>
            <a:r>
              <a:rPr lang="en-US" altLang="zh-TW" dirty="0"/>
              <a:t> to generate an initial prediction.</a:t>
            </a:r>
          </a:p>
          <a:p>
            <a:endParaRPr lang="en-US" altLang="zh-TW" dirty="0"/>
          </a:p>
          <a:p>
            <a:r>
              <a:rPr lang="en-US" altLang="zh-TW" dirty="0"/>
              <a:t>Tubed Skeleton Computation – Instead of using a computationally expensive differentiable skeletonization, it precompute a Tubed Skeleton from the ground truth using lightweight image processing techniques.</a:t>
            </a:r>
          </a:p>
          <a:p>
            <a:endParaRPr lang="en-US" altLang="zh-TW" dirty="0"/>
          </a:p>
          <a:p>
            <a:r>
              <a:rPr lang="en-US" altLang="zh-TW" dirty="0"/>
              <a:t>Skeleton Recall Loss – During training, it compare the predicted segmentation mask with the precomputed Tubed Skeleton to ensure connectivity preservation without excessive computational overhead.</a:t>
            </a:r>
            <a:endParaRPr lang="en-US" altLang="zh-TW" b="0" dirty="0"/>
          </a:p>
        </p:txBody>
      </p:sp>
      <p:sp>
        <p:nvSpPr>
          <p:cNvPr id="4" name="投影片編號版面配置區 3"/>
          <p:cNvSpPr>
            <a:spLocks noGrp="1"/>
          </p:cNvSpPr>
          <p:nvPr>
            <p:ph type="sldNum" sz="quarter" idx="5"/>
          </p:nvPr>
        </p:nvSpPr>
        <p:spPr/>
        <p:txBody>
          <a:bodyPr/>
          <a:lstStyle/>
          <a:p>
            <a:fld id="{F70C650C-39F8-41A4-936A-22972DCFA6CA}" type="slidenum">
              <a:rPr lang="en-US" smtClean="0"/>
              <a:t>6</a:t>
            </a:fld>
            <a:endParaRPr lang="en-US"/>
          </a:p>
        </p:txBody>
      </p:sp>
    </p:spTree>
    <p:extLst>
      <p:ext uri="{BB962C8B-B14F-4D97-AF65-F5344CB8AC3E}">
        <p14:creationId xmlns:p14="http://schemas.microsoft.com/office/powerpoint/2010/main" val="26182215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F70C650C-39F8-41A4-936A-22972DCFA6CA}" type="slidenum">
              <a:rPr lang="en-US" smtClean="0"/>
              <a:t>7</a:t>
            </a:fld>
            <a:endParaRPr lang="en-US"/>
          </a:p>
        </p:txBody>
      </p:sp>
    </p:spTree>
    <p:extLst>
      <p:ext uri="{BB962C8B-B14F-4D97-AF65-F5344CB8AC3E}">
        <p14:creationId xmlns:p14="http://schemas.microsoft.com/office/powerpoint/2010/main" val="13418148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F70C650C-39F8-41A4-936A-22972DCFA6CA}" type="slidenum">
              <a:rPr lang="en-US" smtClean="0"/>
              <a:t>8</a:t>
            </a:fld>
            <a:endParaRPr lang="en-US"/>
          </a:p>
        </p:txBody>
      </p:sp>
    </p:spTree>
    <p:extLst>
      <p:ext uri="{BB962C8B-B14F-4D97-AF65-F5344CB8AC3E}">
        <p14:creationId xmlns:p14="http://schemas.microsoft.com/office/powerpoint/2010/main" val="29964769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F70C650C-39F8-41A4-936A-22972DCFA6CA}" type="slidenum">
              <a:rPr lang="en-US" smtClean="0"/>
              <a:t>9</a:t>
            </a:fld>
            <a:endParaRPr lang="en-US"/>
          </a:p>
        </p:txBody>
      </p:sp>
    </p:spTree>
    <p:extLst>
      <p:ext uri="{BB962C8B-B14F-4D97-AF65-F5344CB8AC3E}">
        <p14:creationId xmlns:p14="http://schemas.microsoft.com/office/powerpoint/2010/main" val="34040290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Q1. </a:t>
            </a:r>
            <a:r>
              <a:rPr lang="zh-TW" altLang="en-US" dirty="0"/>
              <a:t>有沒有一種好的像素級度量方法，可以在保證網絡拓撲保持的前提下，評估管狀、線狀和曲線結構的分割結果？</a:t>
            </a:r>
            <a:endParaRPr lang="en-US" altLang="zh-TW" dirty="0"/>
          </a:p>
          <a:p>
            <a:r>
              <a:rPr lang="en-US" altLang="zh-TW" dirty="0"/>
              <a:t>Q2. </a:t>
            </a:r>
            <a:r>
              <a:rPr lang="zh-TW" altLang="en-US" dirty="0"/>
              <a:t>我們能否將這種度量方法作為損失函數應用於神經網絡？（目前的文獻在這方面仍然存在空白）</a:t>
            </a:r>
            <a:endParaRPr lang="en-US" altLang="zh-TW" dirty="0"/>
          </a:p>
          <a:p>
            <a:endParaRPr lang="en-US" altLang="zh-TW" dirty="0"/>
          </a:p>
          <a:p>
            <a:r>
              <a:rPr lang="zh-TW" altLang="en-US" dirty="0"/>
              <a:t>左下角是介紹雖然粉色的主編框不好 但有找到小血管所以他比較好</a:t>
            </a:r>
            <a:endParaRPr lang="en-US" altLang="zh-TW" dirty="0"/>
          </a:p>
          <a:p>
            <a:r>
              <a:rPr lang="zh-TW" altLang="en-US" dirty="0"/>
              <a:t>右下角是</a:t>
            </a:r>
            <a:r>
              <a:rPr lang="en-US" altLang="zh-TW" dirty="0"/>
              <a:t>skeleton</a:t>
            </a:r>
            <a:r>
              <a:rPr lang="zh-TW" altLang="en-US" dirty="0"/>
              <a:t>的順序 蝶帶</a:t>
            </a:r>
            <a:r>
              <a:rPr lang="en-US" altLang="zh-TW" dirty="0"/>
              <a:t>!</a:t>
            </a:r>
            <a:endParaRPr lang="zh-TW" altLang="en-US" dirty="0"/>
          </a:p>
        </p:txBody>
      </p:sp>
      <p:sp>
        <p:nvSpPr>
          <p:cNvPr id="4" name="投影片編號版面配置區 3"/>
          <p:cNvSpPr>
            <a:spLocks noGrp="1"/>
          </p:cNvSpPr>
          <p:nvPr>
            <p:ph type="sldNum" sz="quarter" idx="5"/>
          </p:nvPr>
        </p:nvSpPr>
        <p:spPr/>
        <p:txBody>
          <a:bodyPr/>
          <a:lstStyle/>
          <a:p>
            <a:fld id="{F70C650C-39F8-41A4-936A-22972DCFA6CA}" type="slidenum">
              <a:rPr lang="en-US" smtClean="0"/>
              <a:t>10</a:t>
            </a:fld>
            <a:endParaRPr lang="en-US"/>
          </a:p>
        </p:txBody>
      </p:sp>
    </p:spTree>
    <p:extLst>
      <p:ext uri="{BB962C8B-B14F-4D97-AF65-F5344CB8AC3E}">
        <p14:creationId xmlns:p14="http://schemas.microsoft.com/office/powerpoint/2010/main" val="37231039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p:txBody>
      </p:sp>
      <p:sp>
        <p:nvSpPr>
          <p:cNvPr id="4" name="投影片編號版面配置區 3"/>
          <p:cNvSpPr>
            <a:spLocks noGrp="1"/>
          </p:cNvSpPr>
          <p:nvPr>
            <p:ph type="sldNum" sz="quarter" idx="5"/>
          </p:nvPr>
        </p:nvSpPr>
        <p:spPr/>
        <p:txBody>
          <a:bodyPr/>
          <a:lstStyle/>
          <a:p>
            <a:fld id="{F70C650C-39F8-41A4-936A-22972DCFA6CA}" type="slidenum">
              <a:rPr lang="en-US" smtClean="0"/>
              <a:t>11</a:t>
            </a:fld>
            <a:endParaRPr lang="en-US"/>
          </a:p>
        </p:txBody>
      </p:sp>
    </p:spTree>
    <p:extLst>
      <p:ext uri="{BB962C8B-B14F-4D97-AF65-F5344CB8AC3E}">
        <p14:creationId xmlns:p14="http://schemas.microsoft.com/office/powerpoint/2010/main" val="23664525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Topology prediction</a:t>
            </a:r>
            <a:r>
              <a:rPr lang="zh-TW" altLang="en-US" dirty="0"/>
              <a:t>易受</a:t>
            </a:r>
            <a:r>
              <a:rPr lang="en-US" altLang="zh-TW" dirty="0"/>
              <a:t>False positive</a:t>
            </a:r>
            <a:r>
              <a:rPr lang="zh-TW" altLang="en-US" dirty="0"/>
              <a:t>影響 </a:t>
            </a:r>
            <a:r>
              <a:rPr lang="en-US" altLang="zh-TW" dirty="0"/>
              <a:t>(</a:t>
            </a:r>
            <a:r>
              <a:rPr lang="zh-TW" altLang="en-US" dirty="0"/>
              <a:t>該出現的血管沒出現</a:t>
            </a:r>
            <a:r>
              <a:rPr lang="en-US" altLang="zh-TW"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Topology sensitivity</a:t>
            </a:r>
            <a:r>
              <a:rPr lang="zh-TW" altLang="en-US" dirty="0"/>
              <a:t>易受</a:t>
            </a:r>
            <a:r>
              <a:rPr lang="en-US" altLang="zh-TW" dirty="0"/>
              <a:t>False negative</a:t>
            </a:r>
            <a:r>
              <a:rPr lang="zh-TW" altLang="en-US" dirty="0"/>
              <a:t>影響 </a:t>
            </a:r>
            <a:r>
              <a:rPr lang="en-US" altLang="zh-TW" dirty="0"/>
              <a:t>(</a:t>
            </a:r>
            <a:r>
              <a:rPr lang="zh-TW" altLang="en-US" dirty="0"/>
              <a:t>不該出現的 卻出現ㄌ</a:t>
            </a:r>
            <a:r>
              <a:rPr lang="en-US" altLang="zh-TW"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希望同時最佳化精確</a:t>
            </a:r>
            <a:r>
              <a:rPr lang="en-US" altLang="zh-TW" dirty="0"/>
              <a:t>/</a:t>
            </a:r>
            <a:r>
              <a:rPr lang="zh-TW" altLang="en-US" dirty="0"/>
              <a:t>靈敏，所以</a:t>
            </a:r>
            <a:r>
              <a:rPr lang="en-US" altLang="zh-TW" dirty="0"/>
              <a:t>cl</a:t>
            </a:r>
            <a:r>
              <a:rPr lang="zh-TW" altLang="en-US" dirty="0"/>
              <a:t>定義為兩指標的調和平均數</a:t>
            </a:r>
            <a:r>
              <a:rPr lang="en-US" altLang="zh-TW" dirty="0"/>
              <a:t>(harmonic mean)</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另外因為希望是整個的拓樸結構而不是關注中心線，因此控制參數在</a:t>
            </a:r>
            <a:r>
              <a:rPr lang="en-US" altLang="zh-TW" dirty="0"/>
              <a:t>0~0.5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p:txBody>
      </p:sp>
      <p:sp>
        <p:nvSpPr>
          <p:cNvPr id="4" name="投影片編號版面配置區 3"/>
          <p:cNvSpPr>
            <a:spLocks noGrp="1"/>
          </p:cNvSpPr>
          <p:nvPr>
            <p:ph type="sldNum" sz="quarter" idx="5"/>
          </p:nvPr>
        </p:nvSpPr>
        <p:spPr/>
        <p:txBody>
          <a:bodyPr/>
          <a:lstStyle/>
          <a:p>
            <a:fld id="{F70C650C-39F8-41A4-936A-22972DCFA6CA}" type="slidenum">
              <a:rPr lang="en-US" smtClean="0"/>
              <a:t>12</a:t>
            </a:fld>
            <a:endParaRPr lang="en-US"/>
          </a:p>
        </p:txBody>
      </p:sp>
    </p:spTree>
    <p:extLst>
      <p:ext uri="{BB962C8B-B14F-4D97-AF65-F5344CB8AC3E}">
        <p14:creationId xmlns:p14="http://schemas.microsoft.com/office/powerpoint/2010/main" val="12520289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F70C650C-39F8-41A4-936A-22972DCFA6CA}" type="slidenum">
              <a:rPr lang="en-US" smtClean="0"/>
              <a:t>13</a:t>
            </a:fld>
            <a:endParaRPr lang="en-US"/>
          </a:p>
        </p:txBody>
      </p:sp>
    </p:spTree>
    <p:extLst>
      <p:ext uri="{BB962C8B-B14F-4D97-AF65-F5344CB8AC3E}">
        <p14:creationId xmlns:p14="http://schemas.microsoft.com/office/powerpoint/2010/main" val="37870362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保持血管網絡的拓撲結構，以便進行準確的血流動力學分析；</a:t>
            </a:r>
            <a:endParaRPr lang="en-US" altLang="zh-TW" dirty="0"/>
          </a:p>
          <a:p>
            <a:r>
              <a:rPr lang="en-US" altLang="zh-TW" dirty="0"/>
              <a:t>2.</a:t>
            </a:r>
            <a:r>
              <a:rPr lang="zh-TW" altLang="en-US" dirty="0"/>
              <a:t>準確捕捉複雜的幾何形態，對於診斷狹窄等病變至關重要；</a:t>
            </a:r>
            <a:endParaRPr lang="en-US" altLang="zh-TW" dirty="0"/>
          </a:p>
          <a:p>
            <a:r>
              <a:rPr lang="en-US" altLang="zh-TW" dirty="0"/>
              <a:t>3.</a:t>
            </a:r>
            <a:r>
              <a:rPr lang="zh-TW" altLang="en-US" dirty="0"/>
              <a:t>確保血管直徑的平衡分割，維持各分支內部的寬度一致性，以減少直徑不平衡的影響。</a:t>
            </a:r>
          </a:p>
        </p:txBody>
      </p:sp>
      <p:sp>
        <p:nvSpPr>
          <p:cNvPr id="4" name="投影片編號版面配置區 3"/>
          <p:cNvSpPr>
            <a:spLocks noGrp="1"/>
          </p:cNvSpPr>
          <p:nvPr>
            <p:ph type="sldNum" sz="quarter" idx="5"/>
          </p:nvPr>
        </p:nvSpPr>
        <p:spPr/>
        <p:txBody>
          <a:bodyPr/>
          <a:lstStyle/>
          <a:p>
            <a:fld id="{F70C650C-39F8-41A4-936A-22972DCFA6CA}" type="slidenum">
              <a:rPr lang="en-US" smtClean="0"/>
              <a:t>14</a:t>
            </a:fld>
            <a:endParaRPr lang="en-US"/>
          </a:p>
        </p:txBody>
      </p:sp>
    </p:spTree>
    <p:extLst>
      <p:ext uri="{BB962C8B-B14F-4D97-AF65-F5344CB8AC3E}">
        <p14:creationId xmlns:p14="http://schemas.microsoft.com/office/powerpoint/2010/main" val="14258923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dirty="0"/>
          </a:p>
        </p:txBody>
      </p:sp>
      <p:sp>
        <p:nvSpPr>
          <p:cNvPr id="4" name="投影片編號版面配置區 3"/>
          <p:cNvSpPr>
            <a:spLocks noGrp="1"/>
          </p:cNvSpPr>
          <p:nvPr>
            <p:ph type="sldNum" sz="quarter" idx="5"/>
          </p:nvPr>
        </p:nvSpPr>
        <p:spPr/>
        <p:txBody>
          <a:bodyPr/>
          <a:lstStyle/>
          <a:p>
            <a:fld id="{F70C650C-39F8-41A4-936A-22972DCFA6CA}" type="slidenum">
              <a:rPr lang="en-US" smtClean="0"/>
              <a:t>15</a:t>
            </a:fld>
            <a:endParaRPr lang="en-US"/>
          </a:p>
        </p:txBody>
      </p:sp>
    </p:spTree>
    <p:extLst>
      <p:ext uri="{BB962C8B-B14F-4D97-AF65-F5344CB8AC3E}">
        <p14:creationId xmlns:p14="http://schemas.microsoft.com/office/powerpoint/2010/main" val="11290537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p:txBody>
      </p:sp>
      <p:sp>
        <p:nvSpPr>
          <p:cNvPr id="4" name="投影片編號版面配置區 3"/>
          <p:cNvSpPr>
            <a:spLocks noGrp="1"/>
          </p:cNvSpPr>
          <p:nvPr>
            <p:ph type="sldNum" sz="quarter" idx="5"/>
          </p:nvPr>
        </p:nvSpPr>
        <p:spPr/>
        <p:txBody>
          <a:bodyPr/>
          <a:lstStyle/>
          <a:p>
            <a:fld id="{F70C650C-39F8-41A4-936A-22972DCFA6CA}" type="slidenum">
              <a:rPr lang="en-US" smtClean="0"/>
              <a:t>16</a:t>
            </a:fld>
            <a:endParaRPr lang="en-US"/>
          </a:p>
        </p:txBody>
      </p:sp>
    </p:spTree>
    <p:extLst>
      <p:ext uri="{BB962C8B-B14F-4D97-AF65-F5344CB8AC3E}">
        <p14:creationId xmlns:p14="http://schemas.microsoft.com/office/powerpoint/2010/main" val="40946945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D</a:t>
            </a:r>
            <a:r>
              <a:rPr lang="zh-TW" altLang="en-US" dirty="0"/>
              <a:t>是距離映射</a:t>
            </a:r>
            <a:r>
              <a:rPr lang="en-US" altLang="zh-TW" dirty="0"/>
              <a:t>(</a:t>
            </a:r>
            <a:r>
              <a:rPr lang="zh-TW" altLang="en-US" dirty="0"/>
              <a:t>到邊界的最小距離</a:t>
            </a:r>
            <a:r>
              <a:rPr lang="en-US" altLang="zh-TW"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R</a:t>
            </a:r>
            <a:r>
              <a:rPr lang="zh-TW" altLang="en-US" dirty="0"/>
              <a:t>是骨架半徑</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I</a:t>
            </a:r>
            <a:r>
              <a:rPr lang="zh-TW" altLang="en-US" dirty="0"/>
              <a:t>是倒數骨架半徑</a:t>
            </a:r>
            <a:r>
              <a:rPr lang="en-US" altLang="zh-TW" dirty="0"/>
              <a:t>(</a:t>
            </a:r>
            <a:r>
              <a:rPr lang="zh-TW" altLang="en-US" dirty="0"/>
              <a:t>目的是減少大血管的影響</a:t>
            </a:r>
            <a:r>
              <a:rPr lang="en-US" altLang="zh-TW"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正規畫是為了可應用於不同</a:t>
            </a:r>
            <a:r>
              <a:rPr lang="en-US" altLang="zh-TW" dirty="0"/>
              <a:t>Dataset</a:t>
            </a:r>
            <a:endParaRPr lang="zh-TW" altLang="en-US" dirty="0"/>
          </a:p>
        </p:txBody>
      </p:sp>
      <p:sp>
        <p:nvSpPr>
          <p:cNvPr id="4" name="投影片編號版面配置區 3"/>
          <p:cNvSpPr>
            <a:spLocks noGrp="1"/>
          </p:cNvSpPr>
          <p:nvPr>
            <p:ph type="sldNum" sz="quarter" idx="5"/>
          </p:nvPr>
        </p:nvSpPr>
        <p:spPr/>
        <p:txBody>
          <a:bodyPr/>
          <a:lstStyle/>
          <a:p>
            <a:fld id="{F70C650C-39F8-41A4-936A-22972DCFA6CA}" type="slidenum">
              <a:rPr lang="en-US" smtClean="0"/>
              <a:t>17</a:t>
            </a:fld>
            <a:endParaRPr lang="en-US"/>
          </a:p>
        </p:txBody>
      </p:sp>
    </p:spTree>
    <p:extLst>
      <p:ext uri="{BB962C8B-B14F-4D97-AF65-F5344CB8AC3E}">
        <p14:creationId xmlns:p14="http://schemas.microsoft.com/office/powerpoint/2010/main" val="24845451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reference (L), prediction (P), centerline (cl), Dice (D), skeleton (S), mask (M), inverse skeleton radius (I), normalized (N), and centerline boundary (</a:t>
            </a:r>
            <a:r>
              <a:rPr lang="en-US" altLang="zh-TW" dirty="0" err="1"/>
              <a:t>cb</a:t>
            </a:r>
            <a:r>
              <a:rPr lang="en-US" altLang="zh-TW"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 cl-MIN-D is equivalent to </a:t>
            </a:r>
            <a:r>
              <a:rPr lang="en-US" altLang="zh-TW" dirty="0" err="1"/>
              <a:t>cb</a:t>
            </a:r>
            <a:r>
              <a:rPr lang="en-US" altLang="zh-TW" dirty="0"/>
              <a:t>-D in this study.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D</a:t>
            </a:r>
            <a:r>
              <a:rPr lang="zh-TW" altLang="en-US" dirty="0"/>
              <a:t>、</a:t>
            </a:r>
            <a:r>
              <a:rPr lang="en-US" altLang="zh-TW" dirty="0"/>
              <a:t>R</a:t>
            </a:r>
            <a:r>
              <a:rPr lang="zh-TW" altLang="en-US" dirty="0"/>
              <a:t>是最小距離</a:t>
            </a:r>
            <a:r>
              <a:rPr lang="en-US" altLang="zh-TW" dirty="0"/>
              <a:t>/</a:t>
            </a:r>
            <a:r>
              <a:rPr lang="zh-TW" altLang="en-US" dirty="0"/>
              <a:t>骨架半徑的集合</a:t>
            </a:r>
          </a:p>
        </p:txBody>
      </p:sp>
      <p:sp>
        <p:nvSpPr>
          <p:cNvPr id="4" name="投影片編號版面配置區 3"/>
          <p:cNvSpPr>
            <a:spLocks noGrp="1"/>
          </p:cNvSpPr>
          <p:nvPr>
            <p:ph type="sldNum" sz="quarter" idx="5"/>
          </p:nvPr>
        </p:nvSpPr>
        <p:spPr/>
        <p:txBody>
          <a:bodyPr/>
          <a:lstStyle/>
          <a:p>
            <a:fld id="{F70C650C-39F8-41A4-936A-22972DCFA6CA}" type="slidenum">
              <a:rPr lang="en-US" smtClean="0"/>
              <a:t>18</a:t>
            </a:fld>
            <a:endParaRPr lang="en-US"/>
          </a:p>
        </p:txBody>
      </p:sp>
    </p:spTree>
    <p:extLst>
      <p:ext uri="{BB962C8B-B14F-4D97-AF65-F5344CB8AC3E}">
        <p14:creationId xmlns:p14="http://schemas.microsoft.com/office/powerpoint/2010/main" val="14249654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描述了 </a:t>
            </a:r>
            <a:r>
              <a:rPr lang="en-US" altLang="zh-TW" b="1" dirty="0"/>
              <a:t>Tubed Skeletonization</a:t>
            </a:r>
            <a:r>
              <a:rPr lang="zh-TW" altLang="en-US" b="1" dirty="0"/>
              <a:t>（管狀骨架化）</a:t>
            </a:r>
            <a:r>
              <a:rPr lang="zh-TW" altLang="en-US" dirty="0"/>
              <a:t> 的過程，將多類別的分割標註圖轉換為骨架化版本，並保持類別資訊</a:t>
            </a:r>
            <a:endParaRPr lang="en-US" altLang="zh-TW" dirty="0"/>
          </a:p>
          <a:p>
            <a:r>
              <a:rPr lang="en-US" altLang="zh-TW" dirty="0"/>
              <a:t>1.</a:t>
            </a:r>
            <a:r>
              <a:rPr lang="zh-TW" altLang="en-US" dirty="0"/>
              <a:t>二質化</a:t>
            </a:r>
            <a:r>
              <a:rPr lang="en-US" altLang="zh-TW" dirty="0"/>
              <a:t>:</a:t>
            </a:r>
          </a:p>
          <a:p>
            <a:r>
              <a:rPr lang="zh-TW" altLang="en-US" dirty="0"/>
              <a:t>將多類別分割標註 </a:t>
            </a:r>
            <a:r>
              <a:rPr lang="en-US" altLang="zh-TW" b="1" dirty="0"/>
              <a:t>Y</a:t>
            </a:r>
            <a:r>
              <a:rPr lang="zh-TW" altLang="en-US" dirty="0"/>
              <a:t> 轉換為</a:t>
            </a:r>
            <a:r>
              <a:rPr lang="zh-TW" altLang="en-US" b="1" dirty="0"/>
              <a:t>二值化標註</a:t>
            </a:r>
            <a:r>
              <a:rPr lang="zh-TW" altLang="en-US" dirty="0"/>
              <a:t> </a:t>
            </a:r>
            <a:r>
              <a:rPr lang="en-US" altLang="zh-TW" dirty="0"/>
              <a:t>(</a:t>
            </a:r>
            <a:r>
              <a:rPr lang="en-US" altLang="zh-TW" dirty="0" err="1"/>
              <a:t>Ybin</a:t>
            </a:r>
            <a:r>
              <a:rPr lang="en-US" altLang="zh-TW" dirty="0"/>
              <a:t>)</a:t>
            </a:r>
            <a:r>
              <a:rPr lang="zh-TW" altLang="en-US" dirty="0"/>
              <a:t>，前景設為 </a:t>
            </a:r>
            <a:r>
              <a:rPr lang="en-US" altLang="zh-TW" dirty="0"/>
              <a:t>1</a:t>
            </a:r>
            <a:r>
              <a:rPr lang="zh-TW" altLang="en-US" dirty="0"/>
              <a:t>，背景為 </a:t>
            </a:r>
            <a:r>
              <a:rPr lang="en-US" altLang="zh-TW" dirty="0"/>
              <a:t>0</a:t>
            </a:r>
          </a:p>
          <a:p>
            <a:r>
              <a:rPr lang="en-US" altLang="zh-TW" dirty="0"/>
              <a:t>2.</a:t>
            </a:r>
            <a:r>
              <a:rPr lang="zh-TW" altLang="en-US" dirty="0"/>
              <a:t>骨架化 </a:t>
            </a:r>
            <a:r>
              <a:rPr lang="en-US" altLang="zh-TW" dirty="0"/>
              <a:t>:</a:t>
            </a:r>
          </a:p>
          <a:p>
            <a:r>
              <a:rPr lang="zh-TW" altLang="en-US" dirty="0"/>
              <a:t>對 </a:t>
            </a:r>
            <a:r>
              <a:rPr lang="en-US" altLang="zh-TW" dirty="0" err="1"/>
              <a:t>Ybin</a:t>
            </a:r>
            <a:r>
              <a:rPr lang="en-US" altLang="zh-TW" dirty="0"/>
              <a:t> </a:t>
            </a:r>
            <a:r>
              <a:rPr lang="zh-TW" altLang="en-US" dirty="0"/>
              <a:t>應用骨架化算法，提取前景區域的中心線，使結構變為細長的骨架</a:t>
            </a:r>
            <a:endParaRPr lang="en-US" altLang="zh-TW" dirty="0"/>
          </a:p>
          <a:p>
            <a:r>
              <a:rPr lang="en-US" altLang="zh-TW" dirty="0"/>
              <a:t>3.</a:t>
            </a:r>
            <a:r>
              <a:rPr lang="zh-TW" altLang="en-US" dirty="0"/>
              <a:t>膨脹（生成管狀骨架</a:t>
            </a:r>
            <a:r>
              <a:rPr lang="en-US" altLang="zh-TW" dirty="0"/>
              <a:t>):</a:t>
            </a:r>
          </a:p>
          <a:p>
            <a:r>
              <a:rPr lang="zh-TW" altLang="en-US" dirty="0"/>
              <a:t>對骨架進行膨脹處理，使其略微擴展，形成具有一定寬度的 </a:t>
            </a:r>
            <a:r>
              <a:rPr lang="en-US" altLang="zh-TW" dirty="0"/>
              <a:t>Tubed Skeleton</a:t>
            </a:r>
            <a:r>
              <a:rPr lang="zh-TW" altLang="en-US" dirty="0"/>
              <a:t>，而不是單像素的細線。</a:t>
            </a:r>
            <a:endParaRPr lang="en-US" altLang="zh-TW" dirty="0"/>
          </a:p>
          <a:p>
            <a:r>
              <a:rPr lang="en-US" altLang="zh-TW" dirty="0"/>
              <a:t>4.</a:t>
            </a:r>
            <a:r>
              <a:rPr lang="zh-TW" altLang="en-US" dirty="0"/>
              <a:t>多類別骨架映射 </a:t>
            </a:r>
            <a:r>
              <a:rPr lang="en-US" altLang="zh-TW" dirty="0"/>
              <a:t>:</a:t>
            </a:r>
          </a:p>
          <a:p>
            <a:r>
              <a:rPr lang="zh-TW" altLang="en-US" dirty="0"/>
              <a:t>將 </a:t>
            </a:r>
            <a:r>
              <a:rPr lang="en-US" altLang="zh-TW" dirty="0"/>
              <a:t>Tubed Skeleton </a:t>
            </a:r>
            <a:r>
              <a:rPr lang="zh-TW" altLang="en-US" dirty="0"/>
              <a:t>與原始多類別標註圖 </a:t>
            </a:r>
            <a:r>
              <a:rPr lang="en-US" altLang="zh-TW" dirty="0"/>
              <a:t>Y </a:t>
            </a:r>
            <a:r>
              <a:rPr lang="zh-TW" altLang="en-US" dirty="0"/>
              <a:t>相乘，使骨架保留正確的類別資訊。</a:t>
            </a:r>
            <a:endParaRPr lang="en-US" altLang="zh-TW" dirty="0"/>
          </a:p>
          <a:p>
            <a:r>
              <a:rPr lang="en-US" altLang="zh-TW" dirty="0"/>
              <a:t>5.</a:t>
            </a:r>
            <a:r>
              <a:rPr lang="zh-TW" altLang="en-US" dirty="0"/>
              <a:t>輸出管狀骨架 </a:t>
            </a:r>
            <a:r>
              <a:rPr lang="en-US" altLang="zh-TW" dirty="0"/>
              <a:t>:</a:t>
            </a:r>
          </a:p>
          <a:p>
            <a:r>
              <a:rPr lang="zh-TW" altLang="en-US" dirty="0"/>
              <a:t>最終輸出是一個 保持類別標籤的 </a:t>
            </a:r>
            <a:r>
              <a:rPr lang="en-US" altLang="zh-TW" dirty="0"/>
              <a:t>Tubed Skeleton</a:t>
            </a:r>
            <a:r>
              <a:rPr lang="zh-TW" altLang="en-US" dirty="0"/>
              <a:t>，可用於訓練分割模型，提高細長結構的連通性表現。</a:t>
            </a:r>
            <a:endParaRPr lang="en-US" altLang="zh-TW" dirty="0"/>
          </a:p>
          <a:p>
            <a:endParaRPr lang="en-US" altLang="zh-TW" dirty="0"/>
          </a:p>
        </p:txBody>
      </p:sp>
      <p:sp>
        <p:nvSpPr>
          <p:cNvPr id="4" name="投影片編號版面配置區 3"/>
          <p:cNvSpPr>
            <a:spLocks noGrp="1"/>
          </p:cNvSpPr>
          <p:nvPr>
            <p:ph type="sldNum" sz="quarter" idx="5"/>
          </p:nvPr>
        </p:nvSpPr>
        <p:spPr/>
        <p:txBody>
          <a:bodyPr/>
          <a:lstStyle/>
          <a:p>
            <a:fld id="{F70C650C-39F8-41A4-936A-22972DCFA6CA}" type="slidenum">
              <a:rPr lang="en-US" smtClean="0"/>
              <a:t>20</a:t>
            </a:fld>
            <a:endParaRPr lang="en-US"/>
          </a:p>
        </p:txBody>
      </p:sp>
    </p:spTree>
    <p:extLst>
      <p:ext uri="{BB962C8B-B14F-4D97-AF65-F5344CB8AC3E}">
        <p14:creationId xmlns:p14="http://schemas.microsoft.com/office/powerpoint/2010/main" val="682295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使用 </a:t>
            </a:r>
            <a:r>
              <a:rPr lang="en-US" altLang="zh-TW" dirty="0"/>
              <a:t>Skeleton Recall Loss </a:t>
            </a:r>
            <a:r>
              <a:rPr lang="zh-TW" altLang="en-US" dirty="0"/>
              <a:t>比較預測分割與 </a:t>
            </a:r>
            <a:r>
              <a:rPr lang="en-US" altLang="zh-TW" dirty="0"/>
              <a:t>Tubed Skeleton</a:t>
            </a:r>
            <a:r>
              <a:rPr lang="zh-TW" altLang="en-US" dirty="0"/>
              <a:t>，加強對於結構</a:t>
            </a:r>
            <a:r>
              <a:rPr lang="en-US" altLang="zh-TW" dirty="0"/>
              <a:t>connectivity</a:t>
            </a:r>
            <a:r>
              <a:rPr lang="zh-TW" altLang="en-US" dirty="0"/>
              <a:t>的學習。</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盡可能完整且包含骨架</a:t>
            </a:r>
            <a:endParaRPr lang="en-US" altLang="zh-TW" dirty="0"/>
          </a:p>
        </p:txBody>
      </p:sp>
      <p:sp>
        <p:nvSpPr>
          <p:cNvPr id="4" name="投影片編號版面配置區 3"/>
          <p:cNvSpPr>
            <a:spLocks noGrp="1"/>
          </p:cNvSpPr>
          <p:nvPr>
            <p:ph type="sldNum" sz="quarter" idx="5"/>
          </p:nvPr>
        </p:nvSpPr>
        <p:spPr/>
        <p:txBody>
          <a:bodyPr/>
          <a:lstStyle/>
          <a:p>
            <a:fld id="{F70C650C-39F8-41A4-936A-22972DCFA6CA}" type="slidenum">
              <a:rPr lang="en-US" smtClean="0"/>
              <a:t>21</a:t>
            </a:fld>
            <a:endParaRPr lang="en-US"/>
          </a:p>
        </p:txBody>
      </p:sp>
    </p:spTree>
    <p:extLst>
      <p:ext uri="{BB962C8B-B14F-4D97-AF65-F5344CB8AC3E}">
        <p14:creationId xmlns:p14="http://schemas.microsoft.com/office/powerpoint/2010/main" val="37456668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p>
        </p:txBody>
      </p:sp>
      <p:sp>
        <p:nvSpPr>
          <p:cNvPr id="4" name="投影片編號版面配置區 3"/>
          <p:cNvSpPr>
            <a:spLocks noGrp="1"/>
          </p:cNvSpPr>
          <p:nvPr>
            <p:ph type="sldNum" sz="quarter" idx="5"/>
          </p:nvPr>
        </p:nvSpPr>
        <p:spPr/>
        <p:txBody>
          <a:bodyPr/>
          <a:lstStyle/>
          <a:p>
            <a:fld id="{F70C650C-39F8-41A4-936A-22972DCFA6CA}" type="slidenum">
              <a:rPr lang="en-US" smtClean="0"/>
              <a:t>22</a:t>
            </a:fld>
            <a:endParaRPr lang="en-US"/>
          </a:p>
        </p:txBody>
      </p:sp>
    </p:spTree>
    <p:extLst>
      <p:ext uri="{BB962C8B-B14F-4D97-AF65-F5344CB8AC3E}">
        <p14:creationId xmlns:p14="http://schemas.microsoft.com/office/powerpoint/2010/main" val="2877574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a) </a:t>
            </a:r>
            <a:r>
              <a:rPr lang="zh-TW" altLang="en-US" dirty="0"/>
              <a:t>衛星影像中的道路</a:t>
            </a:r>
            <a:br>
              <a:rPr lang="zh-TW" altLang="en-US" dirty="0"/>
            </a:br>
            <a:r>
              <a:rPr lang="en-US" altLang="zh-TW" dirty="0"/>
              <a:t>b) </a:t>
            </a:r>
            <a:r>
              <a:rPr lang="zh-TW" altLang="en-US" dirty="0"/>
              <a:t>視網膜血管</a:t>
            </a:r>
            <a:br>
              <a:rPr lang="zh-TW" altLang="en-US" dirty="0"/>
            </a:br>
            <a:r>
              <a:rPr lang="en-US" altLang="zh-TW" dirty="0"/>
              <a:t>c) </a:t>
            </a:r>
            <a:r>
              <a:rPr lang="zh-TW" altLang="en-US" dirty="0"/>
              <a:t>混凝土結構中的裂縫</a:t>
            </a:r>
            <a:br>
              <a:rPr lang="zh-TW" altLang="en-US" dirty="0"/>
            </a:br>
            <a:r>
              <a:rPr lang="en-US" altLang="zh-TW" dirty="0"/>
              <a:t>d) </a:t>
            </a:r>
            <a:r>
              <a:rPr lang="zh-TW" altLang="en-US" dirty="0"/>
              <a:t>面部 </a:t>
            </a:r>
            <a:r>
              <a:rPr lang="en-US" altLang="zh-TW" dirty="0"/>
              <a:t>CT </a:t>
            </a:r>
            <a:r>
              <a:rPr lang="zh-TW" altLang="en-US" dirty="0"/>
              <a:t>中的下齒槽管</a:t>
            </a:r>
            <a:br>
              <a:rPr lang="zh-TW" altLang="en-US" dirty="0"/>
            </a:br>
            <a:r>
              <a:rPr lang="en-US" altLang="zh-TW" dirty="0"/>
              <a:t>e) </a:t>
            </a:r>
            <a:r>
              <a:rPr lang="zh-TW" altLang="en-US" dirty="0"/>
              <a:t>威利氏環（</a:t>
            </a:r>
            <a:r>
              <a:rPr lang="en-US" altLang="zh-TW" dirty="0"/>
              <a:t>Circle of Willis</a:t>
            </a:r>
            <a:r>
              <a:rPr lang="zh-TW" altLang="en-US" dirty="0"/>
              <a:t>）動脈血管組成部分</a:t>
            </a:r>
            <a:endParaRPr lang="en-US" altLang="zh-TW" dirty="0">
              <a:ea typeface="新細明體"/>
            </a:endParaRPr>
          </a:p>
          <a:p>
            <a:endParaRPr lang="en-US" altLang="zh-TW" dirty="0">
              <a:ea typeface="新細明體"/>
            </a:endParaRPr>
          </a:p>
          <a:p>
            <a:r>
              <a:rPr lang="en-US" altLang="zh-TW" dirty="0" err="1">
                <a:ea typeface="新細明體"/>
              </a:rPr>
              <a:t>clDice</a:t>
            </a:r>
            <a:r>
              <a:rPr lang="en-US" altLang="zh-TW" dirty="0">
                <a:ea typeface="新細明體"/>
              </a:rPr>
              <a:t>  </a:t>
            </a:r>
            <a:r>
              <a:rPr lang="zh-TW" altLang="en-US" dirty="0">
                <a:ea typeface="新細明體"/>
              </a:rPr>
              <a:t>雖然在深度學習訓練中是一個低效的損失函數，但它卻是一個優秀的連通性評估指標</a:t>
            </a:r>
            <a:endParaRPr lang="en-US" altLang="zh-TW" dirty="0">
              <a:ea typeface="新細明體"/>
            </a:endParaRPr>
          </a:p>
          <a:p>
            <a:r>
              <a:rPr lang="zh-TW" altLang="en-US" b="1" dirty="0"/>
              <a:t>將 </a:t>
            </a:r>
            <a:r>
              <a:rPr lang="en-US" altLang="zh-TW" b="1" dirty="0" err="1"/>
              <a:t>clDice</a:t>
            </a:r>
            <a:r>
              <a:rPr lang="en-US" altLang="zh-TW" b="1" dirty="0"/>
              <a:t> </a:t>
            </a:r>
            <a:r>
              <a:rPr lang="zh-TW" altLang="en-US" b="1" dirty="0"/>
              <a:t>作為評估指標</a:t>
            </a:r>
            <a:r>
              <a:rPr lang="zh-TW" altLang="en-US" dirty="0"/>
              <a:t>，並與 </a:t>
            </a:r>
            <a:r>
              <a:rPr lang="en-US" altLang="zh-TW" b="1" dirty="0"/>
              <a:t>Dice </a:t>
            </a:r>
            <a:r>
              <a:rPr lang="zh-TW" altLang="en-US" b="1" dirty="0"/>
              <a:t>相似係數（</a:t>
            </a:r>
            <a:r>
              <a:rPr lang="en-US" altLang="zh-TW" b="1" dirty="0"/>
              <a:t>Dice Similarity Coefficient</a:t>
            </a:r>
            <a:r>
              <a:rPr lang="zh-TW" altLang="en-US" b="1" dirty="0"/>
              <a:t>）</a:t>
            </a:r>
            <a:r>
              <a:rPr lang="en-US" altLang="zh-TW" dirty="0"/>
              <a:t> </a:t>
            </a:r>
            <a:r>
              <a:rPr lang="zh-TW" altLang="en-US" dirty="0"/>
              <a:t>一同用於評估</a:t>
            </a:r>
            <a:r>
              <a:rPr lang="zh-TW" altLang="en-US" b="1" dirty="0"/>
              <a:t>重疊性與連通性</a:t>
            </a:r>
            <a:r>
              <a:rPr lang="zh-TW" altLang="en-US" dirty="0"/>
              <a:t>。</a:t>
            </a:r>
            <a:endParaRPr lang="en-US" altLang="zh-TW" dirty="0">
              <a:ea typeface="新細明體"/>
            </a:endParaRPr>
          </a:p>
          <a:p>
            <a:r>
              <a:rPr lang="en-US" altLang="zh-TW" dirty="0" err="1">
                <a:ea typeface="新細明體"/>
              </a:rPr>
              <a:t>Betti</a:t>
            </a:r>
            <a:r>
              <a:rPr lang="en-US" altLang="zh-TW" dirty="0">
                <a:ea typeface="新細明體"/>
              </a:rPr>
              <a:t> </a:t>
            </a:r>
            <a:r>
              <a:rPr lang="zh-TW" altLang="en-US" dirty="0">
                <a:ea typeface="新細明體"/>
              </a:rPr>
              <a:t>數可以用來評估模型預測結果是否保留了目標結構的拓撲特性，例如血管的連通性或環狀結構的完整性。</a:t>
            </a:r>
            <a:endParaRPr lang="en-US" altLang="zh-TW" dirty="0">
              <a:ea typeface="新細明體"/>
            </a:endParaRPr>
          </a:p>
          <a:p>
            <a:r>
              <a:rPr lang="en-US" altLang="zh-TW" dirty="0">
                <a:ea typeface="新細明體"/>
              </a:rPr>
              <a:t>β₀ </a:t>
            </a:r>
            <a:r>
              <a:rPr lang="zh-TW" altLang="en-US" dirty="0">
                <a:ea typeface="新細明體"/>
              </a:rPr>
              <a:t>數量過多，表示它錯誤地將一個連續的結構分割成了多個部分（例如，應該相連的血管被斷開）。</a:t>
            </a:r>
            <a:endParaRPr lang="en-US" altLang="zh-TW" dirty="0">
              <a:ea typeface="新細明體"/>
            </a:endParaRPr>
          </a:p>
          <a:p>
            <a:r>
              <a:rPr lang="en-US" altLang="zh-TW" dirty="0">
                <a:ea typeface="新細明體"/>
              </a:rPr>
              <a:t>β₁ </a:t>
            </a:r>
            <a:r>
              <a:rPr lang="zh-TW" altLang="en-US" dirty="0">
                <a:ea typeface="新細明體"/>
              </a:rPr>
              <a:t>數量過多，表示它錯誤地產生了額外的環狀結構（例如，血管本來是直的，但模型預測出了一個額外的環）。</a:t>
            </a:r>
            <a:endParaRPr lang="en-US" dirty="0">
              <a:ea typeface="新細明體"/>
            </a:endParaRPr>
          </a:p>
        </p:txBody>
      </p:sp>
      <p:sp>
        <p:nvSpPr>
          <p:cNvPr id="4" name="投影片編號版面配置區 3"/>
          <p:cNvSpPr>
            <a:spLocks noGrp="1"/>
          </p:cNvSpPr>
          <p:nvPr>
            <p:ph type="sldNum" sz="quarter" idx="5"/>
          </p:nvPr>
        </p:nvSpPr>
        <p:spPr/>
        <p:txBody>
          <a:bodyPr/>
          <a:lstStyle/>
          <a:p>
            <a:fld id="{F70C650C-39F8-41A4-936A-22972DCFA6CA}" type="slidenum">
              <a:rPr lang="en-US" smtClean="0"/>
              <a:t>23</a:t>
            </a:fld>
            <a:endParaRPr lang="en-US"/>
          </a:p>
        </p:txBody>
      </p:sp>
    </p:spTree>
    <p:extLst>
      <p:ext uri="{BB962C8B-B14F-4D97-AF65-F5344CB8AC3E}">
        <p14:creationId xmlns:p14="http://schemas.microsoft.com/office/powerpoint/2010/main" val="19932628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Skeleton Recall Loss </a:t>
            </a:r>
            <a:r>
              <a:rPr lang="zh-TW" altLang="en-US" dirty="0"/>
              <a:t>在不同的細長結構數據集上（如 </a:t>
            </a:r>
            <a:r>
              <a:rPr lang="en-US" altLang="zh-TW" dirty="0" err="1"/>
              <a:t>TopCoW</a:t>
            </a:r>
            <a:r>
              <a:rPr lang="zh-TW" altLang="en-US" dirty="0"/>
              <a:t>、</a:t>
            </a:r>
            <a:r>
              <a:rPr lang="en-US" altLang="zh-TW" dirty="0"/>
              <a:t>DRIVE</a:t>
            </a:r>
            <a:r>
              <a:rPr lang="zh-TW" altLang="en-US" dirty="0"/>
              <a:t>、</a:t>
            </a:r>
            <a:r>
              <a:rPr lang="en-US" altLang="zh-TW" dirty="0"/>
              <a:t>Cracks </a:t>
            </a:r>
            <a:r>
              <a:rPr lang="zh-TW" altLang="en-US" dirty="0"/>
              <a:t>等）都能夠有效提升 </a:t>
            </a:r>
            <a:r>
              <a:rPr lang="en-US" altLang="zh-TW" b="1" dirty="0" err="1"/>
              <a:t>Betti</a:t>
            </a:r>
            <a:r>
              <a:rPr lang="en-US" altLang="zh-TW" b="1" dirty="0"/>
              <a:t> </a:t>
            </a:r>
            <a:r>
              <a:rPr lang="zh-TW" altLang="en-US" b="1" dirty="0"/>
              <a:t>數</a:t>
            </a:r>
            <a:r>
              <a:rPr lang="zh-TW" altLang="en-US" dirty="0"/>
              <a:t>的準確度，表示它能夠減少 </a:t>
            </a:r>
            <a:r>
              <a:rPr lang="zh-TW" altLang="en-US" b="1" dirty="0"/>
              <a:t>連通成分</a:t>
            </a:r>
            <a:r>
              <a:rPr lang="zh-TW" altLang="en-US" dirty="0"/>
              <a:t>和 </a:t>
            </a:r>
            <a:r>
              <a:rPr lang="zh-TW" altLang="en-US" b="1" dirty="0"/>
              <a:t>環狀結構</a:t>
            </a:r>
            <a:r>
              <a:rPr lang="zh-TW" altLang="en-US" dirty="0"/>
              <a:t>的錯誤。</a:t>
            </a:r>
            <a:endParaRPr lang="en-US" altLang="zh-TW" dirty="0"/>
          </a:p>
          <a:p>
            <a:endParaRPr lang="en-US" dirty="0"/>
          </a:p>
          <a:p>
            <a:r>
              <a:rPr lang="en-US" altLang="zh-TW" b="1" dirty="0" err="1"/>
              <a:t>clDice</a:t>
            </a:r>
            <a:r>
              <a:rPr lang="en-US" altLang="zh-TW" b="1" dirty="0"/>
              <a:t> Loss</a:t>
            </a:r>
            <a:r>
              <a:rPr lang="en-US" altLang="zh-TW" dirty="0"/>
              <a:t> [31]</a:t>
            </a:r>
            <a:r>
              <a:rPr lang="zh-TW" altLang="en-US" dirty="0"/>
              <a:t>：目前該領域的主流方法，使用近似可微骨架來保留結構連通性。</a:t>
            </a:r>
            <a:endParaRPr lang="en-US" altLang="zh-TW" dirty="0"/>
          </a:p>
          <a:p>
            <a:r>
              <a:rPr lang="en-US" altLang="zh-TW" b="1" dirty="0"/>
              <a:t>Topo-</a:t>
            </a:r>
            <a:r>
              <a:rPr lang="en-US" altLang="zh-TW" b="1" dirty="0" err="1"/>
              <a:t>clDice</a:t>
            </a:r>
            <a:r>
              <a:rPr lang="en-US" altLang="zh-TW" b="1" dirty="0"/>
              <a:t> Loss</a:t>
            </a:r>
            <a:r>
              <a:rPr lang="zh-TW" altLang="en-US" dirty="0"/>
              <a:t>：</a:t>
            </a:r>
            <a:r>
              <a:rPr lang="en-US" altLang="zh-TW" dirty="0" err="1"/>
              <a:t>clDice</a:t>
            </a:r>
            <a:r>
              <a:rPr lang="en-US" altLang="zh-TW" dirty="0"/>
              <a:t> Loss </a:t>
            </a:r>
            <a:r>
              <a:rPr lang="zh-TW" altLang="en-US" dirty="0"/>
              <a:t>的變</a:t>
            </a:r>
            <a:r>
              <a:rPr lang="zh-TW" altLang="en-US"/>
              <a:t>體，該</a:t>
            </a:r>
            <a:r>
              <a:rPr lang="zh-TW" altLang="en-US" dirty="0"/>
              <a:t>方法能生成</a:t>
            </a:r>
            <a:r>
              <a:rPr lang="zh-TW" altLang="en-US" b="1" dirty="0"/>
              <a:t>拓撲準確的可微骨架</a:t>
            </a:r>
            <a:r>
              <a:rPr lang="zh-TW" altLang="en-US" dirty="0"/>
              <a:t>，但</a:t>
            </a:r>
            <a:r>
              <a:rPr lang="zh-TW" altLang="en-US" b="1" dirty="0"/>
              <a:t>計算資源消耗更大</a:t>
            </a:r>
            <a:r>
              <a:rPr lang="zh-TW" altLang="en-US" dirty="0"/>
              <a:t>。</a:t>
            </a:r>
            <a:endParaRPr lang="en-US" dirty="0"/>
          </a:p>
        </p:txBody>
      </p:sp>
      <p:sp>
        <p:nvSpPr>
          <p:cNvPr id="4" name="投影片編號版面配置區 3"/>
          <p:cNvSpPr>
            <a:spLocks noGrp="1"/>
          </p:cNvSpPr>
          <p:nvPr>
            <p:ph type="sldNum" sz="quarter" idx="5"/>
          </p:nvPr>
        </p:nvSpPr>
        <p:spPr/>
        <p:txBody>
          <a:bodyPr/>
          <a:lstStyle/>
          <a:p>
            <a:fld id="{F70C650C-39F8-41A4-936A-22972DCFA6CA}" type="slidenum">
              <a:rPr lang="en-US" smtClean="0"/>
              <a:t>24</a:t>
            </a:fld>
            <a:endParaRPr lang="en-US"/>
          </a:p>
        </p:txBody>
      </p:sp>
    </p:spTree>
    <p:extLst>
      <p:ext uri="{BB962C8B-B14F-4D97-AF65-F5344CB8AC3E}">
        <p14:creationId xmlns:p14="http://schemas.microsoft.com/office/powerpoint/2010/main" val="24516452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傳統的 </a:t>
            </a:r>
            <a:r>
              <a:rPr lang="en-US" altLang="zh-TW" dirty="0"/>
              <a:t>Dice Loss </a:t>
            </a:r>
            <a:r>
              <a:rPr lang="zh-TW" altLang="en-US" dirty="0"/>
              <a:t>和交叉熵等標準損失函數雖然能夠分割出大部分結構，但在細長結構（如道路、血管、裂縫）上容易斷裂，導致連通性不佳。而 </a:t>
            </a:r>
            <a:r>
              <a:rPr lang="en-US" altLang="zh-TW" b="1" dirty="0"/>
              <a:t>Skeleton Recall Loss</a:t>
            </a:r>
            <a:r>
              <a:rPr lang="zh-TW" altLang="en-US" dirty="0"/>
              <a:t> 能更好地保持結構的完整性，使得分割結果的拓撲關係更貼近真實標註。</a:t>
            </a:r>
            <a:endParaRPr lang="en-US" dirty="0"/>
          </a:p>
        </p:txBody>
      </p:sp>
      <p:sp>
        <p:nvSpPr>
          <p:cNvPr id="4" name="投影片編號版面配置區 3"/>
          <p:cNvSpPr>
            <a:spLocks noGrp="1"/>
          </p:cNvSpPr>
          <p:nvPr>
            <p:ph type="sldNum" sz="quarter" idx="5"/>
          </p:nvPr>
        </p:nvSpPr>
        <p:spPr/>
        <p:txBody>
          <a:bodyPr/>
          <a:lstStyle/>
          <a:p>
            <a:fld id="{F70C650C-39F8-41A4-936A-22972DCFA6CA}" type="slidenum">
              <a:rPr lang="en-US" smtClean="0"/>
              <a:t>25</a:t>
            </a:fld>
            <a:endParaRPr lang="en-US"/>
          </a:p>
        </p:txBody>
      </p:sp>
    </p:spTree>
    <p:extLst>
      <p:ext uri="{BB962C8B-B14F-4D97-AF65-F5344CB8AC3E}">
        <p14:creationId xmlns:p14="http://schemas.microsoft.com/office/powerpoint/2010/main" val="16156187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Skeleton Recall Loss </a:t>
            </a:r>
            <a:r>
              <a:rPr lang="zh-TW" altLang="en-US" b="1" dirty="0"/>
              <a:t>不依賴特定的神經網絡架構</a:t>
            </a:r>
            <a:r>
              <a:rPr lang="zh-TW" altLang="en-US" dirty="0"/>
              <a:t>，在 </a:t>
            </a:r>
            <a:r>
              <a:rPr lang="en-US" altLang="zh-TW" dirty="0" err="1"/>
              <a:t>nnUNet</a:t>
            </a:r>
            <a:r>
              <a:rPr lang="en-US" altLang="zh-TW" dirty="0"/>
              <a:t> </a:t>
            </a:r>
            <a:r>
              <a:rPr lang="zh-TW" altLang="en-US" dirty="0"/>
              <a:t>和 </a:t>
            </a:r>
            <a:r>
              <a:rPr lang="en-US" altLang="zh-TW" dirty="0" err="1"/>
              <a:t>HRNet</a:t>
            </a:r>
            <a:r>
              <a:rPr lang="en-US" altLang="zh-TW" dirty="0"/>
              <a:t> </a:t>
            </a:r>
            <a:r>
              <a:rPr lang="zh-TW" altLang="en-US" dirty="0"/>
              <a:t>等不同的 </a:t>
            </a:r>
            <a:r>
              <a:rPr lang="en-US" altLang="zh-TW" dirty="0"/>
              <a:t>2D</a:t>
            </a:r>
            <a:r>
              <a:rPr lang="zh-TW" altLang="en-US" dirty="0"/>
              <a:t>、</a:t>
            </a:r>
            <a:r>
              <a:rPr lang="en-US" altLang="zh-TW" dirty="0"/>
              <a:t>3D </a:t>
            </a:r>
            <a:r>
              <a:rPr lang="zh-TW" altLang="en-US" dirty="0"/>
              <a:t>分割模型上均能帶來一致的提升，顯示出良好的可擴展性與泛化能力。</a:t>
            </a:r>
            <a:endParaRPr lang="en-US" altLang="zh-TW"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1" dirty="0" err="1"/>
              <a:t>nnUNet</a:t>
            </a:r>
            <a:r>
              <a:rPr lang="zh-TW" altLang="en-US" dirty="0"/>
              <a:t> </a:t>
            </a:r>
            <a:r>
              <a:rPr lang="en-US" altLang="zh-TW" dirty="0"/>
              <a:t>[12]</a:t>
            </a:r>
            <a:r>
              <a:rPr lang="zh-TW" altLang="en-US" dirty="0"/>
              <a:t>：針對醫學影像分割的強大網路。</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1" dirty="0" err="1"/>
              <a:t>HRNet</a:t>
            </a:r>
            <a:r>
              <a:rPr lang="zh-TW" altLang="en-US" dirty="0"/>
              <a:t> </a:t>
            </a:r>
            <a:r>
              <a:rPr lang="en-US" altLang="zh-TW" dirty="0"/>
              <a:t>[35]</a:t>
            </a:r>
            <a:r>
              <a:rPr lang="zh-TW" altLang="en-US" dirty="0"/>
              <a:t>：目前最先進的</a:t>
            </a:r>
            <a:r>
              <a:rPr lang="zh-TW" altLang="en-US" b="1" dirty="0"/>
              <a:t>自然影像分割</a:t>
            </a:r>
            <a:r>
              <a:rPr lang="zh-TW" altLang="en-US" dirty="0"/>
              <a:t>網路，預訓練於 </a:t>
            </a:r>
            <a:r>
              <a:rPr lang="en-US" altLang="zh-TW" b="1" dirty="0"/>
              <a:t>ImageNet</a:t>
            </a:r>
            <a:r>
              <a:rPr lang="zh-TW" altLang="en-US" dirty="0"/>
              <a:t> </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投影片編號版面配置區 3"/>
          <p:cNvSpPr>
            <a:spLocks noGrp="1"/>
          </p:cNvSpPr>
          <p:nvPr>
            <p:ph type="sldNum" sz="quarter" idx="5"/>
          </p:nvPr>
        </p:nvSpPr>
        <p:spPr/>
        <p:txBody>
          <a:bodyPr/>
          <a:lstStyle/>
          <a:p>
            <a:fld id="{F70C650C-39F8-41A4-936A-22972DCFA6CA}" type="slidenum">
              <a:rPr lang="en-US" smtClean="0"/>
              <a:t>26</a:t>
            </a:fld>
            <a:endParaRPr lang="en-US"/>
          </a:p>
        </p:txBody>
      </p:sp>
    </p:spTree>
    <p:extLst>
      <p:ext uri="{BB962C8B-B14F-4D97-AF65-F5344CB8AC3E}">
        <p14:creationId xmlns:p14="http://schemas.microsoft.com/office/powerpoint/2010/main" val="4813250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在 資源消耗分析中，</a:t>
            </a:r>
            <a:r>
              <a:rPr lang="en-US" altLang="zh-TW" dirty="0"/>
              <a:t>Skeleton Recall Loss </a:t>
            </a:r>
            <a:r>
              <a:rPr lang="zh-TW" altLang="en-US" dirty="0"/>
              <a:t>相較於 </a:t>
            </a:r>
            <a:r>
              <a:rPr lang="en-US" altLang="zh-TW" b="1" dirty="0" err="1"/>
              <a:t>clDice</a:t>
            </a:r>
            <a:r>
              <a:rPr lang="en-US" altLang="zh-TW" b="1" dirty="0"/>
              <a:t> Loss</a:t>
            </a:r>
            <a:r>
              <a:rPr lang="zh-TW" altLang="en-US" dirty="0"/>
              <a:t> 幾乎不會增加額外的計算成本。它透過 </a:t>
            </a:r>
            <a:r>
              <a:rPr lang="zh-TW" altLang="en-US" b="1" dirty="0"/>
              <a:t>預計算骨架（</a:t>
            </a:r>
            <a:r>
              <a:rPr lang="en-US" altLang="zh-TW" b="1" dirty="0"/>
              <a:t>Tubed Skeleton</a:t>
            </a:r>
            <a:r>
              <a:rPr lang="zh-TW" altLang="en-US" b="1" dirty="0"/>
              <a:t>）</a:t>
            </a:r>
            <a:r>
              <a:rPr lang="zh-TW" altLang="en-US" dirty="0"/>
              <a:t>，避免了在 </a:t>
            </a:r>
            <a:r>
              <a:rPr lang="en-US" altLang="zh-TW" dirty="0"/>
              <a:t>GPU </a:t>
            </a:r>
            <a:r>
              <a:rPr lang="zh-TW" altLang="en-US" dirty="0"/>
              <a:t>訓練時進行昂貴的骨架化計算，使得訓練時間和 </a:t>
            </a:r>
            <a:r>
              <a:rPr lang="en-US" altLang="zh-TW" dirty="0"/>
              <a:t>GPU </a:t>
            </a:r>
            <a:r>
              <a:rPr lang="zh-TW" altLang="en-US" dirty="0"/>
              <a:t>記憶體消耗都與標準的 </a:t>
            </a:r>
            <a:r>
              <a:rPr lang="en-US" altLang="zh-TW" dirty="0" err="1"/>
              <a:t>nnUNet</a:t>
            </a:r>
            <a:r>
              <a:rPr lang="en-US" altLang="zh-TW" dirty="0"/>
              <a:t> </a:t>
            </a:r>
            <a:r>
              <a:rPr lang="zh-TW" altLang="en-US" dirty="0"/>
              <a:t>接近。</a:t>
            </a:r>
            <a:endParaRPr lang="en-US" dirty="0"/>
          </a:p>
        </p:txBody>
      </p:sp>
      <p:sp>
        <p:nvSpPr>
          <p:cNvPr id="4" name="投影片編號版面配置區 3"/>
          <p:cNvSpPr>
            <a:spLocks noGrp="1"/>
          </p:cNvSpPr>
          <p:nvPr>
            <p:ph type="sldNum" sz="quarter" idx="5"/>
          </p:nvPr>
        </p:nvSpPr>
        <p:spPr/>
        <p:txBody>
          <a:bodyPr/>
          <a:lstStyle/>
          <a:p>
            <a:fld id="{F70C650C-39F8-41A4-936A-22972DCFA6CA}" type="slidenum">
              <a:rPr lang="en-US" smtClean="0"/>
              <a:t>27</a:t>
            </a:fld>
            <a:endParaRPr lang="en-US"/>
          </a:p>
        </p:txBody>
      </p:sp>
    </p:spTree>
    <p:extLst>
      <p:ext uri="{BB962C8B-B14F-4D97-AF65-F5344CB8AC3E}">
        <p14:creationId xmlns:p14="http://schemas.microsoft.com/office/powerpoint/2010/main" val="17631077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在 資源消耗分析中，</a:t>
            </a:r>
            <a:r>
              <a:rPr lang="en-US" altLang="zh-TW" dirty="0"/>
              <a:t>Skeleton Recall Loss </a:t>
            </a:r>
            <a:r>
              <a:rPr lang="zh-TW" altLang="en-US" dirty="0"/>
              <a:t>相較於 </a:t>
            </a:r>
            <a:r>
              <a:rPr lang="en-US" altLang="zh-TW" b="1" dirty="0" err="1"/>
              <a:t>clDice</a:t>
            </a:r>
            <a:r>
              <a:rPr lang="en-US" altLang="zh-TW" b="1" dirty="0"/>
              <a:t> Loss</a:t>
            </a:r>
            <a:r>
              <a:rPr lang="zh-TW" altLang="en-US" dirty="0"/>
              <a:t> 幾乎不會增加額外的計算成本。它透過 </a:t>
            </a:r>
            <a:r>
              <a:rPr lang="zh-TW" altLang="en-US" b="1" dirty="0"/>
              <a:t>預計算骨架（</a:t>
            </a:r>
            <a:r>
              <a:rPr lang="en-US" altLang="zh-TW" b="1" dirty="0"/>
              <a:t>Tubed Skeleton</a:t>
            </a:r>
            <a:r>
              <a:rPr lang="zh-TW" altLang="en-US" b="1" dirty="0"/>
              <a:t>）</a:t>
            </a:r>
            <a:r>
              <a:rPr lang="zh-TW" altLang="en-US" dirty="0"/>
              <a:t>，避免了在 </a:t>
            </a:r>
            <a:r>
              <a:rPr lang="en-US" altLang="zh-TW" dirty="0"/>
              <a:t>GPU </a:t>
            </a:r>
            <a:r>
              <a:rPr lang="zh-TW" altLang="en-US" dirty="0"/>
              <a:t>訓練時進行昂貴的骨架化計算，使得訓練時間和 </a:t>
            </a:r>
            <a:r>
              <a:rPr lang="en-US" altLang="zh-TW" dirty="0"/>
              <a:t>GPU </a:t>
            </a:r>
            <a:r>
              <a:rPr lang="zh-TW" altLang="en-US" dirty="0"/>
              <a:t>記憶體消耗都與標準的 </a:t>
            </a:r>
            <a:r>
              <a:rPr lang="en-US" altLang="zh-TW" dirty="0" err="1"/>
              <a:t>nnUNet</a:t>
            </a:r>
            <a:r>
              <a:rPr lang="en-US" altLang="zh-TW" dirty="0"/>
              <a:t> </a:t>
            </a:r>
            <a:r>
              <a:rPr lang="zh-TW" altLang="en-US" dirty="0"/>
              <a:t>接近。</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投影片編號版面配置區 3"/>
          <p:cNvSpPr>
            <a:spLocks noGrp="1"/>
          </p:cNvSpPr>
          <p:nvPr>
            <p:ph type="sldNum" sz="quarter" idx="5"/>
          </p:nvPr>
        </p:nvSpPr>
        <p:spPr/>
        <p:txBody>
          <a:bodyPr/>
          <a:lstStyle/>
          <a:p>
            <a:fld id="{F70C650C-39F8-41A4-936A-22972DCFA6CA}" type="slidenum">
              <a:rPr lang="en-US" smtClean="0"/>
              <a:t>28</a:t>
            </a:fld>
            <a:endParaRPr lang="en-US"/>
          </a:p>
        </p:txBody>
      </p:sp>
    </p:spTree>
    <p:extLst>
      <p:ext uri="{BB962C8B-B14F-4D97-AF65-F5344CB8AC3E}">
        <p14:creationId xmlns:p14="http://schemas.microsoft.com/office/powerpoint/2010/main" val="36509267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0C650C-39F8-41A4-936A-22972DCFA6CA}" type="slidenum">
              <a:rPr lang="en-US" smtClean="0"/>
              <a:t>29</a:t>
            </a:fld>
            <a:endParaRPr lang="en-US"/>
          </a:p>
        </p:txBody>
      </p:sp>
    </p:spTree>
    <p:extLst>
      <p:ext uri="{BB962C8B-B14F-4D97-AF65-F5344CB8AC3E}">
        <p14:creationId xmlns:p14="http://schemas.microsoft.com/office/powerpoint/2010/main" val="34477467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0" i="0" dirty="0">
                <a:solidFill>
                  <a:srgbClr val="FFFFFF"/>
                </a:solidFill>
                <a:effectLst/>
                <a:latin typeface="Segoe UI" panose="020B0502040204020203" pitchFamily="34" charset="0"/>
              </a:rPr>
              <a:t>1.</a:t>
            </a:r>
            <a:r>
              <a:rPr lang="zh-TW" altLang="en-US" b="0" i="0" dirty="0">
                <a:solidFill>
                  <a:srgbClr val="FFFFFF"/>
                </a:solidFill>
                <a:effectLst/>
                <a:latin typeface="Segoe UI" panose="020B0502040204020203" pitchFamily="34" charset="0"/>
              </a:rPr>
              <a:t>通過對五個公開可用的數據集的廣泛評估，我們證明 </a:t>
            </a:r>
            <a:r>
              <a:rPr lang="en-US" altLang="zh-TW" b="0" i="0" dirty="0">
                <a:solidFill>
                  <a:srgbClr val="FFFFFF"/>
                </a:solidFill>
                <a:effectLst/>
                <a:latin typeface="Segoe UI" panose="020B0502040204020203" pitchFamily="34" charset="0"/>
              </a:rPr>
              <a:t>Skeleton Recall Loss </a:t>
            </a:r>
            <a:r>
              <a:rPr lang="zh-TW" altLang="en-US" b="0" i="0" dirty="0">
                <a:solidFill>
                  <a:srgbClr val="FFFFFF"/>
                </a:solidFill>
                <a:effectLst/>
                <a:latin typeface="Segoe UI" panose="020B0502040204020203" pitchFamily="34" charset="0"/>
              </a:rPr>
              <a:t>在現有的最先進的拓撲感知損失函數上表現出整體優越的性能。</a:t>
            </a:r>
            <a:endParaRPr lang="en-US" altLang="zh-TW" b="0" i="0" dirty="0">
              <a:solidFill>
                <a:srgbClr val="FFFFFF"/>
              </a:solidFill>
              <a:effectLst/>
              <a:latin typeface="Segoe UI" panose="020B0502040204020203" pitchFamily="34" charset="0"/>
            </a:endParaRPr>
          </a:p>
          <a:p>
            <a:endParaRPr lang="en-US" altLang="zh-TW" b="0" i="0" dirty="0">
              <a:solidFill>
                <a:srgbClr val="FFFFFF"/>
              </a:solidFill>
              <a:effectLst/>
              <a:latin typeface="Segoe UI" panose="020B0502040204020203" pitchFamily="34" charset="0"/>
            </a:endParaRPr>
          </a:p>
          <a:p>
            <a:r>
              <a:rPr lang="en-US" altLang="zh-TW" b="0" i="0" dirty="0">
                <a:solidFill>
                  <a:srgbClr val="FFFFFF"/>
                </a:solidFill>
                <a:effectLst/>
                <a:latin typeface="Segoe UI" panose="020B0502040204020203" pitchFamily="34" charset="0"/>
              </a:rPr>
              <a:t>2.</a:t>
            </a:r>
            <a:r>
              <a:rPr lang="zh-TW" altLang="en-US" b="0" i="0" dirty="0">
                <a:solidFill>
                  <a:srgbClr val="FFFFFF"/>
                </a:solidFill>
                <a:effectLst/>
                <a:latin typeface="Segoe UI" panose="020B0502040204020203" pitchFamily="34" charset="0"/>
              </a:rPr>
              <a:t>骨架召回損失代表了薄結構分割領域的重要優勢，兼具效率和功效</a:t>
            </a:r>
            <a:endParaRPr lang="en-US" altLang="zh-TW" b="0" i="0" dirty="0">
              <a:solidFill>
                <a:srgbClr val="FFFFFF"/>
              </a:solidFill>
              <a:effectLst/>
              <a:latin typeface="Segoe UI" panose="020B0502040204020203" pitchFamily="34" charset="0"/>
            </a:endParaRPr>
          </a:p>
          <a:p>
            <a:endParaRPr lang="en-US" altLang="zh-TW" b="0" i="0" dirty="0">
              <a:solidFill>
                <a:srgbClr val="FFFFFF"/>
              </a:solidFill>
              <a:effectLst/>
              <a:latin typeface="Segoe UI" panose="020B0502040204020203" pitchFamily="34" charset="0"/>
            </a:endParaRPr>
          </a:p>
          <a:p>
            <a:r>
              <a:rPr lang="zh-TW" altLang="en-US" dirty="0"/>
              <a:t>實驗結果證明，</a:t>
            </a:r>
            <a:r>
              <a:rPr lang="en-US" altLang="zh-TW" dirty="0"/>
              <a:t>Skeleton Recall Loss </a:t>
            </a:r>
            <a:r>
              <a:rPr lang="zh-TW" altLang="en-US" dirty="0"/>
              <a:t>能夠 </a:t>
            </a:r>
            <a:r>
              <a:rPr lang="zh-TW" altLang="en-US" b="1" dirty="0"/>
              <a:t>有效提升細長結構的分割質量，保持拓撲結構的完整性，同時具備較低的計算成本，且適用於多類別與不同架構的分割任務</a:t>
            </a:r>
            <a:r>
              <a:rPr lang="zh-TW" altLang="en-US" dirty="0"/>
              <a:t>。這使得它成為一個高效、靈活且易於部署的損失函數，在工程與醫學影像的細長結構分割任務中具有重要價值。</a:t>
            </a:r>
          </a:p>
        </p:txBody>
      </p:sp>
      <p:sp>
        <p:nvSpPr>
          <p:cNvPr id="4" name="投影片編號版面配置區 3"/>
          <p:cNvSpPr>
            <a:spLocks noGrp="1"/>
          </p:cNvSpPr>
          <p:nvPr>
            <p:ph type="sldNum" sz="quarter" idx="5"/>
          </p:nvPr>
        </p:nvSpPr>
        <p:spPr/>
        <p:txBody>
          <a:bodyPr/>
          <a:lstStyle/>
          <a:p>
            <a:fld id="{F70C650C-39F8-41A4-936A-22972DCFA6CA}" type="slidenum">
              <a:rPr lang="en-US" smtClean="0"/>
              <a:t>30</a:t>
            </a:fld>
            <a:endParaRPr lang="en-US"/>
          </a:p>
        </p:txBody>
      </p:sp>
    </p:spTree>
    <p:extLst>
      <p:ext uri="{BB962C8B-B14F-4D97-AF65-F5344CB8AC3E}">
        <p14:creationId xmlns:p14="http://schemas.microsoft.com/office/powerpoint/2010/main" val="32354394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E1A8ABF2-5015-4736-A17C-12290E24CFA0}" type="datetime1">
              <a:rPr lang="zh-TW" altLang="en-US" smtClean="0"/>
              <a:t>2025/2/25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B0A2E34-17E6-46B6-A0CD-23734D57E7FF}" type="slidenum">
              <a:rPr lang="zh-TW" altLang="en-US" smtClean="0"/>
              <a:t>‹#›</a:t>
            </a:fld>
            <a:endParaRPr lang="zh-TW" altLang="en-US"/>
          </a:p>
        </p:txBody>
      </p:sp>
    </p:spTree>
    <p:extLst>
      <p:ext uri="{BB962C8B-B14F-4D97-AF65-F5344CB8AC3E}">
        <p14:creationId xmlns:p14="http://schemas.microsoft.com/office/powerpoint/2010/main" val="13344847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6AF09EDD-7575-468C-862E-07EA5A4733C3}" type="datetime1">
              <a:rPr lang="zh-TW" altLang="en-US" smtClean="0"/>
              <a:t>2025/2/25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lvl1pPr>
              <a:defRPr sz="1800"/>
            </a:lvl1pPr>
          </a:lstStyle>
          <a:p>
            <a:fld id="{5B0A2E34-17E6-46B6-A0CD-23734D57E7FF}" type="slidenum">
              <a:rPr lang="zh-TW" altLang="en-US" smtClean="0"/>
              <a:pPr/>
              <a:t>‹#›</a:t>
            </a:fld>
            <a:endParaRPr lang="zh-TW" altLang="en-US"/>
          </a:p>
        </p:txBody>
      </p:sp>
    </p:spTree>
    <p:extLst>
      <p:ext uri="{BB962C8B-B14F-4D97-AF65-F5344CB8AC3E}">
        <p14:creationId xmlns:p14="http://schemas.microsoft.com/office/powerpoint/2010/main" val="2392236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6BC9499A-1894-4F6A-AE2B-CB55AF860E96}" type="datetime1">
              <a:rPr lang="zh-TW" altLang="en-US" smtClean="0"/>
              <a:t>2025/2/25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B0A2E34-17E6-46B6-A0CD-23734D57E7FF}" type="slidenum">
              <a:rPr lang="zh-TW" altLang="en-US" smtClean="0"/>
              <a:t>‹#›</a:t>
            </a:fld>
            <a:endParaRPr lang="zh-TW" altLang="en-US"/>
          </a:p>
        </p:txBody>
      </p:sp>
    </p:spTree>
    <p:extLst>
      <p:ext uri="{BB962C8B-B14F-4D97-AF65-F5344CB8AC3E}">
        <p14:creationId xmlns:p14="http://schemas.microsoft.com/office/powerpoint/2010/main" val="2154042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2D6037C0-BB6D-4F8A-8339-340D06870FE5}" type="datetime1">
              <a:rPr lang="zh-TW" altLang="en-US" smtClean="0"/>
              <a:t>2025/2/25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5B0A2E34-17E6-46B6-A0CD-23734D57E7FF}" type="slidenum">
              <a:rPr lang="zh-TW" altLang="en-US" smtClean="0"/>
              <a:t>‹#›</a:t>
            </a:fld>
            <a:endParaRPr lang="zh-TW" altLang="en-US"/>
          </a:p>
        </p:txBody>
      </p:sp>
    </p:spTree>
    <p:extLst>
      <p:ext uri="{BB962C8B-B14F-4D97-AF65-F5344CB8AC3E}">
        <p14:creationId xmlns:p14="http://schemas.microsoft.com/office/powerpoint/2010/main" val="5976510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787F4F69-CB9D-4D14-91B4-AB7141696487}" type="datetime1">
              <a:rPr lang="zh-TW" altLang="en-US" smtClean="0"/>
              <a:t>2025/2/25</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5B0A2E34-17E6-46B6-A0CD-23734D57E7FF}" type="slidenum">
              <a:rPr lang="zh-TW" altLang="en-US" smtClean="0"/>
              <a:t>‹#›</a:t>
            </a:fld>
            <a:endParaRPr lang="zh-TW" altLang="en-US"/>
          </a:p>
        </p:txBody>
      </p:sp>
    </p:spTree>
    <p:extLst>
      <p:ext uri="{BB962C8B-B14F-4D97-AF65-F5344CB8AC3E}">
        <p14:creationId xmlns:p14="http://schemas.microsoft.com/office/powerpoint/2010/main" val="16440487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ADE2C7D3-B27A-4486-927C-80F2C24BD852}" type="datetime1">
              <a:rPr lang="zh-TW" altLang="en-US" smtClean="0"/>
              <a:t>2025/2/25</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5B0A2E34-17E6-46B6-A0CD-23734D57E7FF}" type="slidenum">
              <a:rPr lang="zh-TW" altLang="en-US" smtClean="0"/>
              <a:t>‹#›</a:t>
            </a:fld>
            <a:endParaRPr lang="zh-TW" altLang="en-US"/>
          </a:p>
        </p:txBody>
      </p:sp>
    </p:spTree>
    <p:extLst>
      <p:ext uri="{BB962C8B-B14F-4D97-AF65-F5344CB8AC3E}">
        <p14:creationId xmlns:p14="http://schemas.microsoft.com/office/powerpoint/2010/main" val="18646567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89AC0FB5-1194-4164-99A4-50BB5053109D}" type="datetime1">
              <a:rPr lang="zh-TW" altLang="en-US" smtClean="0"/>
              <a:t>2025/2/25</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5B0A2E34-17E6-46B6-A0CD-23734D57E7FF}" type="slidenum">
              <a:rPr lang="zh-TW" altLang="en-US" smtClean="0"/>
              <a:t>‹#›</a:t>
            </a:fld>
            <a:endParaRPr lang="zh-TW" altLang="en-US"/>
          </a:p>
        </p:txBody>
      </p:sp>
    </p:spTree>
    <p:extLst>
      <p:ext uri="{BB962C8B-B14F-4D97-AF65-F5344CB8AC3E}">
        <p14:creationId xmlns:p14="http://schemas.microsoft.com/office/powerpoint/2010/main" val="3410961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6912D0BD-D520-470C-84E3-1D6ADDA2502A}" type="datetime1">
              <a:rPr lang="zh-TW" altLang="en-US" smtClean="0"/>
              <a:t>2025/2/25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5B0A2E34-17E6-46B6-A0CD-23734D57E7FF}" type="slidenum">
              <a:rPr lang="zh-TW" altLang="en-US" smtClean="0"/>
              <a:t>‹#›</a:t>
            </a:fld>
            <a:endParaRPr lang="zh-TW" altLang="en-US"/>
          </a:p>
        </p:txBody>
      </p:sp>
    </p:spTree>
    <p:extLst>
      <p:ext uri="{BB962C8B-B14F-4D97-AF65-F5344CB8AC3E}">
        <p14:creationId xmlns:p14="http://schemas.microsoft.com/office/powerpoint/2010/main" val="361526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5A7BDDFE-3855-4FBD-9A99-C5F50E454A67}" type="datetime1">
              <a:rPr lang="zh-TW" altLang="en-US" smtClean="0"/>
              <a:t>2025/2/25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5B0A2E34-17E6-46B6-A0CD-23734D57E7FF}" type="slidenum">
              <a:rPr lang="zh-TW" altLang="en-US" smtClean="0"/>
              <a:t>‹#›</a:t>
            </a:fld>
            <a:endParaRPr lang="zh-TW" altLang="en-US"/>
          </a:p>
        </p:txBody>
      </p:sp>
    </p:spTree>
    <p:extLst>
      <p:ext uri="{BB962C8B-B14F-4D97-AF65-F5344CB8AC3E}">
        <p14:creationId xmlns:p14="http://schemas.microsoft.com/office/powerpoint/2010/main" val="30122632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09CF433-1F84-416C-B796-A3726DCB4827}" type="datetime1">
              <a:rPr lang="zh-TW" altLang="en-US" smtClean="0"/>
              <a:t>2025/2/25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B0A2E34-17E6-46B6-A0CD-23734D57E7FF}" type="slidenum">
              <a:rPr lang="zh-TW" altLang="en-US" smtClean="0"/>
              <a:t>‹#›</a:t>
            </a:fld>
            <a:endParaRPr lang="zh-TW" altLang="en-US"/>
          </a:p>
        </p:txBody>
      </p:sp>
    </p:spTree>
    <p:extLst>
      <p:ext uri="{BB962C8B-B14F-4D97-AF65-F5344CB8AC3E}">
        <p14:creationId xmlns:p14="http://schemas.microsoft.com/office/powerpoint/2010/main" val="1180456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AF67DA45-8D25-41BB-89A8-A5B623738A3C}" type="datetime1">
              <a:rPr lang="zh-TW" altLang="en-US" smtClean="0"/>
              <a:t>2025/2/25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B0A2E34-17E6-46B6-A0CD-23734D57E7FF}" type="slidenum">
              <a:rPr lang="zh-TW" altLang="en-US" smtClean="0"/>
              <a:t>‹#›</a:t>
            </a:fld>
            <a:endParaRPr lang="zh-TW" altLang="en-US"/>
          </a:p>
        </p:txBody>
      </p:sp>
    </p:spTree>
    <p:extLst>
      <p:ext uri="{BB962C8B-B14F-4D97-AF65-F5344CB8AC3E}">
        <p14:creationId xmlns:p14="http://schemas.microsoft.com/office/powerpoint/2010/main" val="40956514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27C2717-9D5A-4739-AFF8-82E275E722D5}" type="datetime1">
              <a:rPr lang="zh-TW" altLang="en-US" smtClean="0"/>
              <a:t>2025/2/25</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B0A2E34-17E6-46B6-A0CD-23734D57E7FF}" type="slidenum">
              <a:rPr lang="zh-TW" altLang="en-US" smtClean="0"/>
              <a:t>‹#›</a:t>
            </a:fld>
            <a:endParaRPr lang="zh-TW" altLang="en-US"/>
          </a:p>
        </p:txBody>
      </p:sp>
    </p:spTree>
    <p:extLst>
      <p:ext uri="{BB962C8B-B14F-4D97-AF65-F5344CB8AC3E}">
        <p14:creationId xmlns:p14="http://schemas.microsoft.com/office/powerpoint/2010/main" val="32211346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2.png"/><Relationship Id="rId7"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14.png"/><Relationship Id="rId10" Type="http://schemas.openxmlformats.org/officeDocument/2006/relationships/image" Target="../media/image10.png"/><Relationship Id="rId4" Type="http://schemas.openxmlformats.org/officeDocument/2006/relationships/image" Target="../media/image13.png"/><Relationship Id="rId9"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07763" y="1665214"/>
            <a:ext cx="12407527" cy="2387600"/>
          </a:xfrm>
        </p:spPr>
        <p:txBody>
          <a:bodyPr>
            <a:normAutofit/>
          </a:bodyPr>
          <a:lstStyle/>
          <a:p>
            <a:r>
              <a:rPr lang="en-US" altLang="zh-TW" sz="4000" dirty="0">
                <a:ea typeface="+mj-lt"/>
                <a:cs typeface="+mj-lt"/>
              </a:rPr>
              <a:t>Skeleton Recall Loss for Connectivity Conserving and Resource Efficient Segmentation of Thin Tubular Structures</a:t>
            </a:r>
            <a:endParaRPr lang="zh-TW" dirty="0">
              <a:ea typeface="+mj-lt"/>
              <a:cs typeface="+mj-lt"/>
            </a:endParaRPr>
          </a:p>
        </p:txBody>
      </p:sp>
      <p:sp>
        <p:nvSpPr>
          <p:cNvPr id="3" name="副標題 2"/>
          <p:cNvSpPr>
            <a:spLocks noGrp="1"/>
          </p:cNvSpPr>
          <p:nvPr>
            <p:ph type="subTitle" idx="1"/>
          </p:nvPr>
        </p:nvSpPr>
        <p:spPr>
          <a:xfrm>
            <a:off x="852235" y="4265396"/>
            <a:ext cx="10487525" cy="1655762"/>
          </a:xfrm>
        </p:spPr>
        <p:txBody>
          <a:bodyPr vert="horz" lIns="91440" tIns="45720" rIns="91440" bIns="45720" rtlCol="0" anchor="t">
            <a:normAutofit/>
          </a:bodyPr>
          <a:lstStyle/>
          <a:p>
            <a:r>
              <a:rPr lang="en-US" altLang="zh-TW" sz="2000" i="1" dirty="0">
                <a:latin typeface="Calibri"/>
                <a:ea typeface="新細明體"/>
                <a:cs typeface="Calibri"/>
              </a:rPr>
              <a:t>ECCV</a:t>
            </a:r>
            <a:r>
              <a:rPr lang="zh-TW" altLang="en-US" sz="2000" i="1" dirty="0">
                <a:latin typeface="Calibri"/>
                <a:ea typeface="新細明體"/>
                <a:cs typeface="Calibri"/>
              </a:rPr>
              <a:t>, 202</a:t>
            </a:r>
            <a:r>
              <a:rPr lang="en-US" altLang="zh-TW" sz="2000" i="1" dirty="0">
                <a:latin typeface="Calibri"/>
                <a:ea typeface="新細明體"/>
                <a:cs typeface="Calibri"/>
              </a:rPr>
              <a:t>4</a:t>
            </a:r>
            <a:endParaRPr lang="zh-TW" altLang="en-US" sz="2000" i="1" dirty="0">
              <a:latin typeface="Calibri"/>
              <a:ea typeface="新細明體"/>
              <a:cs typeface="Calibri"/>
            </a:endParaRPr>
          </a:p>
          <a:p>
            <a:r>
              <a:rPr lang="en-US" sz="2000" dirty="0"/>
              <a:t>Yannick </a:t>
            </a:r>
            <a:r>
              <a:rPr lang="en-US" sz="2000" dirty="0" err="1"/>
              <a:t>Kirchhof</a:t>
            </a:r>
            <a:r>
              <a:rPr lang="en-US" sz="2000" dirty="0"/>
              <a:t>, Maximilian R. </a:t>
            </a:r>
            <a:r>
              <a:rPr lang="en-US" sz="2000" dirty="0" err="1"/>
              <a:t>Rokuss</a:t>
            </a:r>
            <a:r>
              <a:rPr lang="en-US" sz="2000" dirty="0"/>
              <a:t>, </a:t>
            </a:r>
            <a:r>
              <a:rPr lang="en-US" sz="2000" dirty="0" err="1"/>
              <a:t>Saikat</a:t>
            </a:r>
            <a:r>
              <a:rPr lang="en-US" sz="2000" dirty="0"/>
              <a:t> Roy, Balint Kovacs</a:t>
            </a:r>
          </a:p>
          <a:p>
            <a:r>
              <a:rPr lang="en-US" sz="2000" dirty="0"/>
              <a:t>German Cancer Research Center (DKFZ) Heidelberg, Division of Medical Image</a:t>
            </a:r>
          </a:p>
          <a:p>
            <a:r>
              <a:rPr lang="en-US" sz="2000" dirty="0"/>
              <a:t> Computing, Germany</a:t>
            </a:r>
            <a:endParaRPr lang="zh-TW" i="1" dirty="0">
              <a:latin typeface="Calibri"/>
              <a:ea typeface="新細明體"/>
              <a:cs typeface="Calibri"/>
            </a:endParaRPr>
          </a:p>
        </p:txBody>
      </p:sp>
    </p:spTree>
    <p:extLst>
      <p:ext uri="{BB962C8B-B14F-4D97-AF65-F5344CB8AC3E}">
        <p14:creationId xmlns:p14="http://schemas.microsoft.com/office/powerpoint/2010/main" val="2592129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AEB5E9-BA7F-B271-86C3-1B652C8D0117}"/>
              </a:ext>
            </a:extLst>
          </p:cNvPr>
          <p:cNvSpPr>
            <a:spLocks noGrp="1"/>
          </p:cNvSpPr>
          <p:nvPr>
            <p:ph type="title"/>
          </p:nvPr>
        </p:nvSpPr>
        <p:spPr/>
        <p:txBody>
          <a:bodyPr/>
          <a:lstStyle/>
          <a:p>
            <a:r>
              <a:rPr lang="zh-TW">
                <a:latin typeface="Calibri" panose="020F0502020204030204" pitchFamily="34" charset="0"/>
                <a:ea typeface="+mj-lt"/>
                <a:cs typeface="Calibri" panose="020F0502020204030204" pitchFamily="34" charset="0"/>
              </a:rPr>
              <a:t>Outline</a:t>
            </a:r>
          </a:p>
        </p:txBody>
      </p:sp>
      <p:sp>
        <p:nvSpPr>
          <p:cNvPr id="3" name="內容版面配置區 2">
            <a:extLst>
              <a:ext uri="{FF2B5EF4-FFF2-40B4-BE49-F238E27FC236}">
                <a16:creationId xmlns:a16="http://schemas.microsoft.com/office/drawing/2014/main" id="{343E7DF7-6C79-110F-62D2-5D9AE15A6ECD}"/>
              </a:ext>
            </a:extLst>
          </p:cNvPr>
          <p:cNvSpPr>
            <a:spLocks noGrp="1"/>
          </p:cNvSpPr>
          <p:nvPr>
            <p:ph idx="1"/>
          </p:nvPr>
        </p:nvSpPr>
        <p:spPr/>
        <p:txBody>
          <a:bodyPr vert="horz" lIns="91440" tIns="45720" rIns="91440" bIns="45720" rtlCol="0" anchor="t">
            <a:normAutofit/>
          </a:bodyPr>
          <a:lstStyle/>
          <a:p>
            <a:r>
              <a:rPr lang="zh-TW">
                <a:latin typeface="Calibri" panose="020F0502020204030204" pitchFamily="34" charset="0"/>
                <a:ea typeface="+mn-lt"/>
                <a:cs typeface="Calibri" panose="020F0502020204030204" pitchFamily="34" charset="0"/>
              </a:rPr>
              <a:t>Introduction</a:t>
            </a:r>
            <a:endParaRPr lang="zh-TW" altLang="en-US">
              <a:latin typeface="Calibri" panose="020F0502020204030204" pitchFamily="34" charset="0"/>
              <a:cs typeface="Calibri" panose="020F0502020204030204" pitchFamily="34" charset="0"/>
            </a:endParaRPr>
          </a:p>
          <a:p>
            <a:r>
              <a:rPr lang="zh-TW">
                <a:latin typeface="Calibri" panose="020F0502020204030204" pitchFamily="34" charset="0"/>
                <a:ea typeface="+mn-lt"/>
                <a:cs typeface="Calibri" panose="020F0502020204030204" pitchFamily="34" charset="0"/>
              </a:rPr>
              <a:t>Related work</a:t>
            </a:r>
            <a:endParaRPr lang="zh-TW">
              <a:latin typeface="Calibri" panose="020F0502020204030204" pitchFamily="34" charset="0"/>
              <a:cs typeface="Calibri" panose="020F0502020204030204" pitchFamily="34" charset="0"/>
            </a:endParaRPr>
          </a:p>
          <a:p>
            <a:r>
              <a:rPr lang="zh-TW">
                <a:latin typeface="Calibri" panose="020F0502020204030204" pitchFamily="34" charset="0"/>
                <a:ea typeface="+mn-lt"/>
                <a:cs typeface="Calibri" panose="020F0502020204030204" pitchFamily="34" charset="0"/>
              </a:rPr>
              <a:t>Method</a:t>
            </a:r>
            <a:endParaRPr lang="zh-TW">
              <a:latin typeface="Calibri" panose="020F0502020204030204" pitchFamily="34" charset="0"/>
              <a:cs typeface="Calibri" panose="020F0502020204030204" pitchFamily="34" charset="0"/>
            </a:endParaRPr>
          </a:p>
          <a:p>
            <a:r>
              <a:rPr lang="zh-TW">
                <a:latin typeface="Calibri" panose="020F0502020204030204" pitchFamily="34" charset="0"/>
                <a:ea typeface="+mn-lt"/>
                <a:cs typeface="Calibri" panose="020F0502020204030204" pitchFamily="34" charset="0"/>
              </a:rPr>
              <a:t>Experiments</a:t>
            </a:r>
            <a:endParaRPr lang="zh-TW">
              <a:latin typeface="Calibri" panose="020F0502020204030204" pitchFamily="34" charset="0"/>
              <a:cs typeface="Calibri" panose="020F0502020204030204" pitchFamily="34" charset="0"/>
            </a:endParaRPr>
          </a:p>
          <a:p>
            <a:r>
              <a:rPr lang="zh-TW">
                <a:latin typeface="Calibri" panose="020F0502020204030204" pitchFamily="34" charset="0"/>
                <a:ea typeface="+mn-lt"/>
                <a:cs typeface="Calibri" panose="020F0502020204030204" pitchFamily="34" charset="0"/>
              </a:rPr>
              <a:t>Conclusion</a:t>
            </a:r>
            <a:endParaRPr lang="en-US" altLang="zh-TW">
              <a:latin typeface="Calibri" panose="020F0502020204030204" pitchFamily="34" charset="0"/>
              <a:ea typeface="+mn-lt"/>
              <a:cs typeface="Calibri" panose="020F0502020204030204" pitchFamily="34" charset="0"/>
            </a:endParaRPr>
          </a:p>
        </p:txBody>
      </p:sp>
      <p:sp>
        <p:nvSpPr>
          <p:cNvPr id="4" name="投影片編號版面配置區 3">
            <a:extLst>
              <a:ext uri="{FF2B5EF4-FFF2-40B4-BE49-F238E27FC236}">
                <a16:creationId xmlns:a16="http://schemas.microsoft.com/office/drawing/2014/main" id="{8DC7B544-1842-4A34-9386-49C06DFDC9DD}"/>
              </a:ext>
            </a:extLst>
          </p:cNvPr>
          <p:cNvSpPr>
            <a:spLocks noGrp="1"/>
          </p:cNvSpPr>
          <p:nvPr>
            <p:ph type="sldNum" sz="quarter" idx="12"/>
          </p:nvPr>
        </p:nvSpPr>
        <p:spPr/>
        <p:txBody>
          <a:bodyPr/>
          <a:lstStyle/>
          <a:p>
            <a:fld id="{5B0A2E34-17E6-46B6-A0CD-23734D57E7FF}" type="slidenum">
              <a:rPr lang="zh-TW" altLang="en-US" smtClean="0"/>
              <a:t>2</a:t>
            </a:fld>
            <a:endParaRPr lang="zh-TW" altLang="en-US"/>
          </a:p>
        </p:txBody>
      </p:sp>
    </p:spTree>
    <p:extLst>
      <p:ext uri="{BB962C8B-B14F-4D97-AF65-F5344CB8AC3E}">
        <p14:creationId xmlns:p14="http://schemas.microsoft.com/office/powerpoint/2010/main" val="13555387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AEB5E9-BA7F-B271-86C3-1B652C8D0117}"/>
              </a:ext>
            </a:extLst>
          </p:cNvPr>
          <p:cNvSpPr>
            <a:spLocks noGrp="1"/>
          </p:cNvSpPr>
          <p:nvPr>
            <p:ph type="title"/>
          </p:nvPr>
        </p:nvSpPr>
        <p:spPr/>
        <p:txBody>
          <a:bodyPr/>
          <a:lstStyle/>
          <a:p>
            <a:r>
              <a:rPr lang="zh-TW">
                <a:latin typeface="Calibri" panose="020F0502020204030204" pitchFamily="34" charset="0"/>
                <a:ea typeface="+mj-lt"/>
                <a:cs typeface="Calibri" panose="020F0502020204030204" pitchFamily="34" charset="0"/>
              </a:rPr>
              <a:t>Outline</a:t>
            </a:r>
          </a:p>
        </p:txBody>
      </p:sp>
      <p:sp>
        <p:nvSpPr>
          <p:cNvPr id="3" name="內容版面配置區 2">
            <a:extLst>
              <a:ext uri="{FF2B5EF4-FFF2-40B4-BE49-F238E27FC236}">
                <a16:creationId xmlns:a16="http://schemas.microsoft.com/office/drawing/2014/main" id="{343E7DF7-6C79-110F-62D2-5D9AE15A6ECD}"/>
              </a:ext>
            </a:extLst>
          </p:cNvPr>
          <p:cNvSpPr>
            <a:spLocks noGrp="1"/>
          </p:cNvSpPr>
          <p:nvPr>
            <p:ph idx="1"/>
          </p:nvPr>
        </p:nvSpPr>
        <p:spPr/>
        <p:txBody>
          <a:bodyPr vert="horz" lIns="91440" tIns="45720" rIns="91440" bIns="45720" rtlCol="0" anchor="t">
            <a:normAutofit/>
          </a:bodyPr>
          <a:lstStyle/>
          <a:p>
            <a:r>
              <a:rPr lang="zh-TW">
                <a:latin typeface="Calibri" panose="020F0502020204030204" pitchFamily="34" charset="0"/>
                <a:ea typeface="+mn-lt"/>
                <a:cs typeface="Calibri" panose="020F0502020204030204" pitchFamily="34" charset="0"/>
              </a:rPr>
              <a:t>Introduction</a:t>
            </a:r>
            <a:endParaRPr lang="zh-TW" altLang="en-US">
              <a:latin typeface="Calibri" panose="020F0502020204030204" pitchFamily="34" charset="0"/>
              <a:cs typeface="Calibri" panose="020F0502020204030204" pitchFamily="34" charset="0"/>
            </a:endParaRPr>
          </a:p>
          <a:p>
            <a:r>
              <a:rPr lang="zh-TW">
                <a:solidFill>
                  <a:schemeClr val="bg1">
                    <a:lumMod val="75000"/>
                  </a:schemeClr>
                </a:solidFill>
                <a:latin typeface="Calibri" panose="020F0502020204030204" pitchFamily="34" charset="0"/>
                <a:ea typeface="+mn-lt"/>
                <a:cs typeface="Calibri" panose="020F0502020204030204" pitchFamily="34" charset="0"/>
              </a:rPr>
              <a:t>Related work</a:t>
            </a:r>
            <a:endParaRPr lang="zh-TW">
              <a:solidFill>
                <a:schemeClr val="bg1">
                  <a:lumMod val="75000"/>
                </a:schemeClr>
              </a:solidFill>
              <a:latin typeface="Calibri" panose="020F0502020204030204" pitchFamily="34" charset="0"/>
              <a:cs typeface="Calibri" panose="020F0502020204030204" pitchFamily="34" charset="0"/>
            </a:endParaRPr>
          </a:p>
          <a:p>
            <a:r>
              <a:rPr lang="zh-TW">
                <a:solidFill>
                  <a:schemeClr val="bg1">
                    <a:lumMod val="75000"/>
                  </a:schemeClr>
                </a:solidFill>
                <a:latin typeface="Calibri" panose="020F0502020204030204" pitchFamily="34" charset="0"/>
                <a:ea typeface="+mn-lt"/>
                <a:cs typeface="Calibri" panose="020F0502020204030204" pitchFamily="34" charset="0"/>
              </a:rPr>
              <a:t>Method</a:t>
            </a:r>
            <a:endParaRPr lang="zh-TW">
              <a:solidFill>
                <a:schemeClr val="bg1">
                  <a:lumMod val="75000"/>
                </a:schemeClr>
              </a:solidFill>
              <a:latin typeface="Calibri" panose="020F0502020204030204" pitchFamily="34" charset="0"/>
              <a:cs typeface="Calibri" panose="020F0502020204030204" pitchFamily="34" charset="0"/>
            </a:endParaRPr>
          </a:p>
          <a:p>
            <a:r>
              <a:rPr lang="zh-TW">
                <a:solidFill>
                  <a:schemeClr val="bg1">
                    <a:lumMod val="75000"/>
                  </a:schemeClr>
                </a:solidFill>
                <a:latin typeface="Calibri" panose="020F0502020204030204" pitchFamily="34" charset="0"/>
                <a:ea typeface="+mn-lt"/>
                <a:cs typeface="Calibri" panose="020F0502020204030204" pitchFamily="34" charset="0"/>
              </a:rPr>
              <a:t>Experiments</a:t>
            </a:r>
            <a:endParaRPr lang="zh-TW">
              <a:solidFill>
                <a:schemeClr val="bg1">
                  <a:lumMod val="75000"/>
                </a:schemeClr>
              </a:solidFill>
              <a:latin typeface="Calibri" panose="020F0502020204030204" pitchFamily="34" charset="0"/>
              <a:cs typeface="Calibri" panose="020F0502020204030204" pitchFamily="34" charset="0"/>
            </a:endParaRPr>
          </a:p>
          <a:p>
            <a:r>
              <a:rPr lang="zh-TW">
                <a:solidFill>
                  <a:schemeClr val="bg1">
                    <a:lumMod val="75000"/>
                  </a:schemeClr>
                </a:solidFill>
                <a:latin typeface="Calibri" panose="020F0502020204030204" pitchFamily="34" charset="0"/>
                <a:ea typeface="+mn-lt"/>
                <a:cs typeface="Calibri" panose="020F0502020204030204" pitchFamily="34" charset="0"/>
              </a:rPr>
              <a:t>Conclusion</a:t>
            </a:r>
            <a:endParaRPr lang="en-US" altLang="zh-TW">
              <a:solidFill>
                <a:schemeClr val="bg1">
                  <a:lumMod val="75000"/>
                </a:schemeClr>
              </a:solidFill>
              <a:latin typeface="Calibri" panose="020F0502020204030204" pitchFamily="34" charset="0"/>
              <a:ea typeface="+mn-lt"/>
              <a:cs typeface="Calibri" panose="020F0502020204030204" pitchFamily="34" charset="0"/>
            </a:endParaRPr>
          </a:p>
          <a:p>
            <a:pPr marL="0" indent="0">
              <a:buNone/>
            </a:pPr>
            <a:endParaRPr lang="zh-TW">
              <a:solidFill>
                <a:schemeClr val="bg1">
                  <a:lumMod val="75000"/>
                </a:schemeClr>
              </a:solidFill>
              <a:latin typeface="Calibri" panose="020F0502020204030204" pitchFamily="34" charset="0"/>
              <a:cs typeface="Calibri" panose="020F0502020204030204" pitchFamily="34" charset="0"/>
            </a:endParaRPr>
          </a:p>
        </p:txBody>
      </p:sp>
      <p:sp>
        <p:nvSpPr>
          <p:cNvPr id="4" name="投影片編號版面配置區 3">
            <a:extLst>
              <a:ext uri="{FF2B5EF4-FFF2-40B4-BE49-F238E27FC236}">
                <a16:creationId xmlns:a16="http://schemas.microsoft.com/office/drawing/2014/main" id="{AC8A381D-5501-46A6-9D61-DAE69D2486FB}"/>
              </a:ext>
            </a:extLst>
          </p:cNvPr>
          <p:cNvSpPr>
            <a:spLocks noGrp="1"/>
          </p:cNvSpPr>
          <p:nvPr>
            <p:ph type="sldNum" sz="quarter" idx="12"/>
          </p:nvPr>
        </p:nvSpPr>
        <p:spPr/>
        <p:txBody>
          <a:bodyPr/>
          <a:lstStyle/>
          <a:p>
            <a:fld id="{5B0A2E34-17E6-46B6-A0CD-23734D57E7FF}" type="slidenum">
              <a:rPr lang="zh-TW" altLang="en-US" smtClean="0"/>
              <a:t>3</a:t>
            </a:fld>
            <a:endParaRPr lang="zh-TW" altLang="en-US"/>
          </a:p>
        </p:txBody>
      </p:sp>
    </p:spTree>
    <p:extLst>
      <p:ext uri="{BB962C8B-B14F-4D97-AF65-F5344CB8AC3E}">
        <p14:creationId xmlns:p14="http://schemas.microsoft.com/office/powerpoint/2010/main" val="37298323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AEB5E9-BA7F-B271-86C3-1B652C8D0117}"/>
              </a:ext>
            </a:extLst>
          </p:cNvPr>
          <p:cNvSpPr>
            <a:spLocks noGrp="1"/>
          </p:cNvSpPr>
          <p:nvPr>
            <p:ph type="title"/>
          </p:nvPr>
        </p:nvSpPr>
        <p:spPr/>
        <p:txBody>
          <a:bodyPr/>
          <a:lstStyle/>
          <a:p>
            <a:r>
              <a:rPr lang="zh-TW" altLang="zh-TW" dirty="0">
                <a:latin typeface="Calibri" panose="020F0502020204030204" pitchFamily="34" charset="0"/>
                <a:ea typeface="+mn-lt"/>
                <a:cs typeface="Calibri" panose="020F0502020204030204" pitchFamily="34" charset="0"/>
              </a:rPr>
              <a:t>Introduction</a:t>
            </a:r>
            <a:endParaRPr lang="zh-TW" altLang="en-US" dirty="0">
              <a:latin typeface="Calibri" panose="020F0502020204030204" pitchFamily="34" charset="0"/>
              <a:cs typeface="Calibri" panose="020F0502020204030204" pitchFamily="34" charset="0"/>
            </a:endParaRPr>
          </a:p>
        </p:txBody>
      </p:sp>
      <p:sp>
        <p:nvSpPr>
          <p:cNvPr id="3" name="內容版面配置區 2">
            <a:extLst>
              <a:ext uri="{FF2B5EF4-FFF2-40B4-BE49-F238E27FC236}">
                <a16:creationId xmlns:a16="http://schemas.microsoft.com/office/drawing/2014/main" id="{343E7DF7-6C79-110F-62D2-5D9AE15A6ECD}"/>
              </a:ext>
            </a:extLst>
          </p:cNvPr>
          <p:cNvSpPr>
            <a:spLocks noGrp="1"/>
          </p:cNvSpPr>
          <p:nvPr>
            <p:ph idx="1"/>
          </p:nvPr>
        </p:nvSpPr>
        <p:spPr>
          <a:xfrm>
            <a:off x="838200" y="1825625"/>
            <a:ext cx="10902244" cy="4351338"/>
          </a:xfrm>
        </p:spPr>
        <p:txBody>
          <a:bodyPr vert="horz" lIns="91440" tIns="45720" rIns="91440" bIns="45720" rtlCol="0" anchor="t">
            <a:normAutofit/>
          </a:bodyPr>
          <a:lstStyle/>
          <a:p>
            <a:r>
              <a:rPr lang="en-US" altLang="zh-TW" dirty="0"/>
              <a:t>Challenge</a:t>
            </a:r>
          </a:p>
          <a:p>
            <a:pPr lvl="1"/>
            <a:r>
              <a:rPr lang="en-US" altLang="zh-TW" b="1" dirty="0"/>
              <a:t>High Computational Cost : </a:t>
            </a:r>
            <a:r>
              <a:rPr lang="en-US" altLang="zh-TW" dirty="0"/>
              <a:t>Many topology-aware segmentation methods, such as </a:t>
            </a:r>
            <a:r>
              <a:rPr lang="en-US" altLang="zh-TW" dirty="0" err="1"/>
              <a:t>clDice</a:t>
            </a:r>
            <a:r>
              <a:rPr lang="en-US" altLang="zh-TW" dirty="0"/>
              <a:t> Loss, require GPU-intensive skeletonization, increasing training time and memory usage.</a:t>
            </a:r>
          </a:p>
          <a:p>
            <a:pPr lvl="1"/>
            <a:endParaRPr lang="en-US" altLang="zh-TW" dirty="0"/>
          </a:p>
          <a:p>
            <a:pPr lvl="1"/>
            <a:r>
              <a:rPr lang="en-US" altLang="zh-TW" b="1" dirty="0"/>
              <a:t>Architecture Dependency : </a:t>
            </a:r>
            <a:r>
              <a:rPr lang="en-US" altLang="zh-TW" dirty="0"/>
              <a:t>Some methods require modifications to the network architecture, limiting their flexibility.</a:t>
            </a:r>
          </a:p>
          <a:p>
            <a:pPr lvl="1"/>
            <a:endParaRPr lang="en-US" altLang="zh-TW" dirty="0"/>
          </a:p>
          <a:p>
            <a:pPr lvl="1"/>
            <a:r>
              <a:rPr lang="en-US" altLang="zh-TW" b="1" dirty="0"/>
              <a:t>Limited Multi-Class Support : </a:t>
            </a:r>
            <a:r>
              <a:rPr lang="en-US" altLang="zh-TW" dirty="0"/>
              <a:t>Existing topology-aware losses struggle with multi-class segmentation due to excessive computational requirements.</a:t>
            </a:r>
          </a:p>
        </p:txBody>
      </p:sp>
      <p:sp>
        <p:nvSpPr>
          <p:cNvPr id="5" name="投影片編號版面配置區 4">
            <a:extLst>
              <a:ext uri="{FF2B5EF4-FFF2-40B4-BE49-F238E27FC236}">
                <a16:creationId xmlns:a16="http://schemas.microsoft.com/office/drawing/2014/main" id="{BA97E8EE-5C22-4D9B-83BF-18C0E5DED6B0}"/>
              </a:ext>
            </a:extLst>
          </p:cNvPr>
          <p:cNvSpPr>
            <a:spLocks noGrp="1"/>
          </p:cNvSpPr>
          <p:nvPr>
            <p:ph type="sldNum" sz="quarter" idx="12"/>
          </p:nvPr>
        </p:nvSpPr>
        <p:spPr>
          <a:xfrm>
            <a:off x="8610600" y="6356350"/>
            <a:ext cx="2743200" cy="365125"/>
          </a:xfrm>
        </p:spPr>
        <p:txBody>
          <a:bodyPr/>
          <a:lstStyle/>
          <a:p>
            <a:fld id="{5B0A2E34-17E6-46B6-A0CD-23734D57E7FF}" type="slidenum">
              <a:rPr lang="zh-TW" altLang="en-US" smtClean="0"/>
              <a:t>4</a:t>
            </a:fld>
            <a:endParaRPr lang="zh-TW" altLang="en-US"/>
          </a:p>
        </p:txBody>
      </p:sp>
      <p:pic>
        <p:nvPicPr>
          <p:cNvPr id="6" name="圖片 5">
            <a:extLst>
              <a:ext uri="{FF2B5EF4-FFF2-40B4-BE49-F238E27FC236}">
                <a16:creationId xmlns:a16="http://schemas.microsoft.com/office/drawing/2014/main" id="{CFC7BD81-C49A-4507-9EB7-CDEFAD2ED1D7}"/>
              </a:ext>
            </a:extLst>
          </p:cNvPr>
          <p:cNvPicPr>
            <a:picLocks noChangeAspect="1"/>
          </p:cNvPicPr>
          <p:nvPr/>
        </p:nvPicPr>
        <p:blipFill>
          <a:blip r:embed="rId3"/>
          <a:stretch>
            <a:fillRect/>
          </a:stretch>
        </p:blipFill>
        <p:spPr>
          <a:xfrm>
            <a:off x="5493597" y="268606"/>
            <a:ext cx="6583651" cy="1689100"/>
          </a:xfrm>
          <a:prstGeom prst="rect">
            <a:avLst/>
          </a:prstGeom>
        </p:spPr>
      </p:pic>
    </p:spTree>
    <p:extLst>
      <p:ext uri="{BB962C8B-B14F-4D97-AF65-F5344CB8AC3E}">
        <p14:creationId xmlns:p14="http://schemas.microsoft.com/office/powerpoint/2010/main" val="11867175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AEB5E9-BA7F-B271-86C3-1B652C8D0117}"/>
              </a:ext>
            </a:extLst>
          </p:cNvPr>
          <p:cNvSpPr>
            <a:spLocks noGrp="1"/>
          </p:cNvSpPr>
          <p:nvPr>
            <p:ph type="title"/>
          </p:nvPr>
        </p:nvSpPr>
        <p:spPr/>
        <p:txBody>
          <a:bodyPr/>
          <a:lstStyle/>
          <a:p>
            <a:r>
              <a:rPr lang="zh-TW" altLang="zh-TW" dirty="0">
                <a:latin typeface="Calibri" panose="020F0502020204030204" pitchFamily="34" charset="0"/>
                <a:ea typeface="+mn-lt"/>
                <a:cs typeface="Calibri" panose="020F0502020204030204" pitchFamily="34" charset="0"/>
              </a:rPr>
              <a:t>Introduction</a:t>
            </a:r>
            <a:endParaRPr lang="zh-TW" altLang="en-US" dirty="0">
              <a:latin typeface="Calibri" panose="020F0502020204030204" pitchFamily="34" charset="0"/>
              <a:cs typeface="Calibri" panose="020F0502020204030204" pitchFamily="34" charset="0"/>
            </a:endParaRPr>
          </a:p>
        </p:txBody>
      </p:sp>
      <p:sp>
        <p:nvSpPr>
          <p:cNvPr id="3" name="內容版面配置區 2">
            <a:extLst>
              <a:ext uri="{FF2B5EF4-FFF2-40B4-BE49-F238E27FC236}">
                <a16:creationId xmlns:a16="http://schemas.microsoft.com/office/drawing/2014/main" id="{343E7DF7-6C79-110F-62D2-5D9AE15A6ECD}"/>
              </a:ext>
            </a:extLst>
          </p:cNvPr>
          <p:cNvSpPr>
            <a:spLocks noGrp="1"/>
          </p:cNvSpPr>
          <p:nvPr>
            <p:ph idx="1"/>
          </p:nvPr>
        </p:nvSpPr>
        <p:spPr>
          <a:xfrm>
            <a:off x="751645" y="1690688"/>
            <a:ext cx="10412392" cy="4997482"/>
          </a:xfrm>
        </p:spPr>
        <p:txBody>
          <a:bodyPr vert="horz" lIns="91440" tIns="45720" rIns="91440" bIns="45720" rtlCol="0" anchor="t">
            <a:normAutofit/>
          </a:bodyPr>
          <a:lstStyle/>
          <a:p>
            <a:r>
              <a:rPr lang="en-US" altLang="zh-TW" dirty="0"/>
              <a:t>Contributions</a:t>
            </a:r>
          </a:p>
          <a:p>
            <a:endParaRPr lang="en-US" altLang="zh-TW" dirty="0"/>
          </a:p>
          <a:p>
            <a:pPr lvl="1"/>
            <a:r>
              <a:rPr lang="en-US" altLang="zh-TW" dirty="0"/>
              <a:t>Efficient and Lightweight – Skeleton Recall Loss computes topology-aware segmentation with minimal training time and memory by leveraging CPU-based operations instead of GPU-intensive skeletonization.</a:t>
            </a:r>
          </a:p>
          <a:p>
            <a:pPr lvl="1"/>
            <a:endParaRPr lang="en-US" altLang="zh-TW" dirty="0"/>
          </a:p>
          <a:p>
            <a:pPr lvl="1"/>
            <a:r>
              <a:rPr lang="en-US" altLang="zh-TW" dirty="0"/>
              <a:t>Architecture-Agnostic – It seamlessly integrates with various 2D and 3D segmentation models without requiring architectural modifications.</a:t>
            </a:r>
          </a:p>
          <a:p>
            <a:pPr lvl="1"/>
            <a:endParaRPr lang="en-US" altLang="zh-TW" dirty="0"/>
          </a:p>
          <a:p>
            <a:pPr lvl="1"/>
            <a:r>
              <a:rPr lang="en-US" altLang="zh-TW" dirty="0"/>
              <a:t>Multi-Class Support – Unlike </a:t>
            </a:r>
            <a:r>
              <a:rPr lang="en-US" altLang="zh-TW" dirty="0" err="1"/>
              <a:t>clDice</a:t>
            </a:r>
            <a:r>
              <a:rPr lang="en-US" altLang="zh-TW" dirty="0"/>
              <a:t> Loss, it efficiently handles multi-class segmentation while maintaining connectivity with minimal computational cost.</a:t>
            </a:r>
          </a:p>
        </p:txBody>
      </p:sp>
      <p:sp>
        <p:nvSpPr>
          <p:cNvPr id="5" name="投影片編號版面配置區 4">
            <a:extLst>
              <a:ext uri="{FF2B5EF4-FFF2-40B4-BE49-F238E27FC236}">
                <a16:creationId xmlns:a16="http://schemas.microsoft.com/office/drawing/2014/main" id="{BA97E8EE-5C22-4D9B-83BF-18C0E5DED6B0}"/>
              </a:ext>
            </a:extLst>
          </p:cNvPr>
          <p:cNvSpPr>
            <a:spLocks noGrp="1"/>
          </p:cNvSpPr>
          <p:nvPr>
            <p:ph type="sldNum" sz="quarter" idx="12"/>
          </p:nvPr>
        </p:nvSpPr>
        <p:spPr/>
        <p:txBody>
          <a:bodyPr/>
          <a:lstStyle/>
          <a:p>
            <a:fld id="{5B0A2E34-17E6-46B6-A0CD-23734D57E7FF}" type="slidenum">
              <a:rPr lang="zh-TW" altLang="en-US" smtClean="0"/>
              <a:t>5</a:t>
            </a:fld>
            <a:endParaRPr lang="zh-TW" altLang="en-US"/>
          </a:p>
        </p:txBody>
      </p:sp>
      <p:pic>
        <p:nvPicPr>
          <p:cNvPr id="6" name="圖片 5">
            <a:extLst>
              <a:ext uri="{FF2B5EF4-FFF2-40B4-BE49-F238E27FC236}">
                <a16:creationId xmlns:a16="http://schemas.microsoft.com/office/drawing/2014/main" id="{9D451918-5766-417D-A27F-047E7C3849BE}"/>
              </a:ext>
            </a:extLst>
          </p:cNvPr>
          <p:cNvPicPr>
            <a:picLocks noChangeAspect="1"/>
          </p:cNvPicPr>
          <p:nvPr/>
        </p:nvPicPr>
        <p:blipFill>
          <a:blip r:embed="rId3"/>
          <a:stretch>
            <a:fillRect/>
          </a:stretch>
        </p:blipFill>
        <p:spPr>
          <a:xfrm>
            <a:off x="7853680" y="42862"/>
            <a:ext cx="4140857" cy="1936722"/>
          </a:xfrm>
          <a:prstGeom prst="rect">
            <a:avLst/>
          </a:prstGeom>
        </p:spPr>
      </p:pic>
      <p:sp>
        <p:nvSpPr>
          <p:cNvPr id="8" name="文字方塊 7">
            <a:extLst>
              <a:ext uri="{FF2B5EF4-FFF2-40B4-BE49-F238E27FC236}">
                <a16:creationId xmlns:a16="http://schemas.microsoft.com/office/drawing/2014/main" id="{464A5C07-828D-4BE5-B038-E31842029522}"/>
              </a:ext>
            </a:extLst>
          </p:cNvPr>
          <p:cNvSpPr txBox="1"/>
          <p:nvPr/>
        </p:nvSpPr>
        <p:spPr>
          <a:xfrm>
            <a:off x="7853680" y="1979584"/>
            <a:ext cx="4054302" cy="523220"/>
          </a:xfrm>
          <a:prstGeom prst="rect">
            <a:avLst/>
          </a:prstGeom>
          <a:noFill/>
        </p:spPr>
        <p:txBody>
          <a:bodyPr wrap="square">
            <a:spAutoFit/>
          </a:bodyPr>
          <a:lstStyle/>
          <a:p>
            <a:r>
              <a:rPr lang="en-US" altLang="zh-TW" sz="1400" dirty="0"/>
              <a:t>Comparison of state-of-the-art loss functions on the task of thin structure segmentation.</a:t>
            </a:r>
            <a:endParaRPr lang="zh-TW" altLang="en-US" sz="1400" dirty="0"/>
          </a:p>
        </p:txBody>
      </p:sp>
    </p:spTree>
    <p:extLst>
      <p:ext uri="{BB962C8B-B14F-4D97-AF65-F5344CB8AC3E}">
        <p14:creationId xmlns:p14="http://schemas.microsoft.com/office/powerpoint/2010/main" val="28516368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AEB5E9-BA7F-B271-86C3-1B652C8D0117}"/>
              </a:ext>
            </a:extLst>
          </p:cNvPr>
          <p:cNvSpPr>
            <a:spLocks noGrp="1"/>
          </p:cNvSpPr>
          <p:nvPr>
            <p:ph type="title"/>
          </p:nvPr>
        </p:nvSpPr>
        <p:spPr/>
        <p:txBody>
          <a:bodyPr/>
          <a:lstStyle/>
          <a:p>
            <a:r>
              <a:rPr lang="zh-TW" altLang="zh-TW">
                <a:latin typeface="Calibri" panose="020F0502020204030204" pitchFamily="34" charset="0"/>
                <a:ea typeface="+mn-lt"/>
                <a:cs typeface="Calibri" panose="020F0502020204030204" pitchFamily="34" charset="0"/>
              </a:rPr>
              <a:t>Introduction</a:t>
            </a:r>
            <a:endParaRPr lang="zh-TW" altLang="en-US">
              <a:latin typeface="Calibri" panose="020F0502020204030204" pitchFamily="34" charset="0"/>
              <a:cs typeface="Calibri" panose="020F0502020204030204" pitchFamily="34" charset="0"/>
            </a:endParaRPr>
          </a:p>
        </p:txBody>
      </p:sp>
      <p:sp>
        <p:nvSpPr>
          <p:cNvPr id="3" name="內容版面配置區 2">
            <a:extLst>
              <a:ext uri="{FF2B5EF4-FFF2-40B4-BE49-F238E27FC236}">
                <a16:creationId xmlns:a16="http://schemas.microsoft.com/office/drawing/2014/main" id="{343E7DF7-6C79-110F-62D2-5D9AE15A6ECD}"/>
              </a:ext>
            </a:extLst>
          </p:cNvPr>
          <p:cNvSpPr>
            <a:spLocks noGrp="1"/>
          </p:cNvSpPr>
          <p:nvPr>
            <p:ph idx="1"/>
          </p:nvPr>
        </p:nvSpPr>
        <p:spPr/>
        <p:txBody>
          <a:bodyPr vert="horz" lIns="91440" tIns="45720" rIns="91440" bIns="45720" rtlCol="0" anchor="t">
            <a:normAutofit/>
          </a:bodyPr>
          <a:lstStyle/>
          <a:p>
            <a:endParaRPr lang="en-US" altLang="zh-TW" dirty="0"/>
          </a:p>
          <a:p>
            <a:pPr lvl="1"/>
            <a:endParaRPr lang="en-US" altLang="zh-TW" dirty="0">
              <a:solidFill>
                <a:schemeClr val="bg1">
                  <a:lumMod val="75000"/>
                </a:schemeClr>
              </a:solidFill>
              <a:latin typeface="Calibri" panose="020F0502020204030204" pitchFamily="34" charset="0"/>
              <a:cs typeface="Calibri" panose="020F0502020204030204" pitchFamily="34" charset="0"/>
            </a:endParaRPr>
          </a:p>
          <a:p>
            <a:pPr lvl="1"/>
            <a:endParaRPr lang="en-US" altLang="zh-TW" dirty="0"/>
          </a:p>
        </p:txBody>
      </p:sp>
      <p:sp>
        <p:nvSpPr>
          <p:cNvPr id="5" name="投影片編號版面配置區 4">
            <a:extLst>
              <a:ext uri="{FF2B5EF4-FFF2-40B4-BE49-F238E27FC236}">
                <a16:creationId xmlns:a16="http://schemas.microsoft.com/office/drawing/2014/main" id="{BA97E8EE-5C22-4D9B-83BF-18C0E5DED6B0}"/>
              </a:ext>
            </a:extLst>
          </p:cNvPr>
          <p:cNvSpPr>
            <a:spLocks noGrp="1"/>
          </p:cNvSpPr>
          <p:nvPr>
            <p:ph type="sldNum" sz="quarter" idx="12"/>
          </p:nvPr>
        </p:nvSpPr>
        <p:spPr/>
        <p:txBody>
          <a:bodyPr/>
          <a:lstStyle/>
          <a:p>
            <a:fld id="{5B0A2E34-17E6-46B6-A0CD-23734D57E7FF}" type="slidenum">
              <a:rPr lang="zh-TW" altLang="en-US" smtClean="0"/>
              <a:t>6</a:t>
            </a:fld>
            <a:endParaRPr lang="zh-TW" altLang="en-US"/>
          </a:p>
        </p:txBody>
      </p:sp>
      <p:sp>
        <p:nvSpPr>
          <p:cNvPr id="7" name="內容版面配置區 2">
            <a:extLst>
              <a:ext uri="{FF2B5EF4-FFF2-40B4-BE49-F238E27FC236}">
                <a16:creationId xmlns:a16="http://schemas.microsoft.com/office/drawing/2014/main" id="{960CAE52-6843-4820-B5D1-94F73A9DADFB}"/>
              </a:ext>
            </a:extLst>
          </p:cNvPr>
          <p:cNvSpPr txBox="1">
            <a:spLocks/>
          </p:cNvSpPr>
          <p:nvPr/>
        </p:nvSpPr>
        <p:spPr>
          <a:xfrm>
            <a:off x="838200" y="1825625"/>
            <a:ext cx="10886440" cy="43513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latin typeface="Calibri" panose="020F0502020204030204" pitchFamily="34" charset="0"/>
                <a:cs typeface="Calibri" panose="020F0502020204030204" pitchFamily="34" charset="0"/>
              </a:rPr>
              <a:t>Framework</a:t>
            </a:r>
            <a:endParaRPr lang="en-US" altLang="zh-TW" dirty="0"/>
          </a:p>
          <a:p>
            <a:pPr lvl="1"/>
            <a:endParaRPr lang="en-US" altLang="zh-TW" dirty="0">
              <a:solidFill>
                <a:schemeClr val="bg1">
                  <a:lumMod val="75000"/>
                </a:schemeClr>
              </a:solidFill>
              <a:latin typeface="Calibri" panose="020F0502020204030204" pitchFamily="34" charset="0"/>
              <a:cs typeface="Calibri" panose="020F0502020204030204" pitchFamily="34" charset="0"/>
            </a:endParaRPr>
          </a:p>
          <a:p>
            <a:pPr lvl="1"/>
            <a:endParaRPr lang="en-US" altLang="zh-TW" dirty="0"/>
          </a:p>
        </p:txBody>
      </p:sp>
      <p:pic>
        <p:nvPicPr>
          <p:cNvPr id="8" name="圖片 7">
            <a:extLst>
              <a:ext uri="{FF2B5EF4-FFF2-40B4-BE49-F238E27FC236}">
                <a16:creationId xmlns:a16="http://schemas.microsoft.com/office/drawing/2014/main" id="{F2EFDAAF-FA16-4C89-BEBD-411441DEA932}"/>
              </a:ext>
            </a:extLst>
          </p:cNvPr>
          <p:cNvPicPr>
            <a:picLocks noChangeAspect="1"/>
          </p:cNvPicPr>
          <p:nvPr/>
        </p:nvPicPr>
        <p:blipFill>
          <a:blip r:embed="rId3"/>
          <a:stretch>
            <a:fillRect/>
          </a:stretch>
        </p:blipFill>
        <p:spPr>
          <a:xfrm>
            <a:off x="3017209" y="1347889"/>
            <a:ext cx="7102151" cy="5373586"/>
          </a:xfrm>
          <a:prstGeom prst="rect">
            <a:avLst/>
          </a:prstGeom>
        </p:spPr>
      </p:pic>
    </p:spTree>
    <p:extLst>
      <p:ext uri="{BB962C8B-B14F-4D97-AF65-F5344CB8AC3E}">
        <p14:creationId xmlns:p14="http://schemas.microsoft.com/office/powerpoint/2010/main" val="6065391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AEB5E9-BA7F-B271-86C3-1B652C8D0117}"/>
              </a:ext>
            </a:extLst>
          </p:cNvPr>
          <p:cNvSpPr>
            <a:spLocks noGrp="1"/>
          </p:cNvSpPr>
          <p:nvPr>
            <p:ph type="title"/>
          </p:nvPr>
        </p:nvSpPr>
        <p:spPr/>
        <p:txBody>
          <a:bodyPr/>
          <a:lstStyle/>
          <a:p>
            <a:r>
              <a:rPr lang="zh-TW">
                <a:latin typeface="Calibri" panose="020F0502020204030204" pitchFamily="34" charset="0"/>
                <a:ea typeface="+mj-lt"/>
                <a:cs typeface="Calibri" panose="020F0502020204030204" pitchFamily="34" charset="0"/>
              </a:rPr>
              <a:t>Outline</a:t>
            </a:r>
          </a:p>
        </p:txBody>
      </p:sp>
      <p:sp>
        <p:nvSpPr>
          <p:cNvPr id="3" name="內容版面配置區 2">
            <a:extLst>
              <a:ext uri="{FF2B5EF4-FFF2-40B4-BE49-F238E27FC236}">
                <a16:creationId xmlns:a16="http://schemas.microsoft.com/office/drawing/2014/main" id="{343E7DF7-6C79-110F-62D2-5D9AE15A6ECD}"/>
              </a:ext>
            </a:extLst>
          </p:cNvPr>
          <p:cNvSpPr>
            <a:spLocks noGrp="1"/>
          </p:cNvSpPr>
          <p:nvPr>
            <p:ph idx="1"/>
          </p:nvPr>
        </p:nvSpPr>
        <p:spPr/>
        <p:txBody>
          <a:bodyPr vert="horz" lIns="91440" tIns="45720" rIns="91440" bIns="45720" rtlCol="0" anchor="t">
            <a:normAutofit/>
          </a:bodyPr>
          <a:lstStyle/>
          <a:p>
            <a:r>
              <a:rPr lang="zh-TW">
                <a:solidFill>
                  <a:schemeClr val="bg1">
                    <a:lumMod val="75000"/>
                  </a:schemeClr>
                </a:solidFill>
                <a:latin typeface="Calibri" panose="020F0502020204030204" pitchFamily="34" charset="0"/>
                <a:ea typeface="+mn-lt"/>
                <a:cs typeface="Calibri" panose="020F0502020204030204" pitchFamily="34" charset="0"/>
              </a:rPr>
              <a:t>Introduction</a:t>
            </a:r>
            <a:endParaRPr lang="zh-TW" altLang="en-US">
              <a:solidFill>
                <a:schemeClr val="bg1">
                  <a:lumMod val="75000"/>
                </a:schemeClr>
              </a:solidFill>
              <a:latin typeface="Calibri" panose="020F0502020204030204" pitchFamily="34" charset="0"/>
              <a:cs typeface="Calibri" panose="020F0502020204030204" pitchFamily="34" charset="0"/>
            </a:endParaRPr>
          </a:p>
          <a:p>
            <a:r>
              <a:rPr lang="zh-TW">
                <a:latin typeface="Calibri" panose="020F0502020204030204" pitchFamily="34" charset="0"/>
                <a:ea typeface="+mn-lt"/>
                <a:cs typeface="Calibri" panose="020F0502020204030204" pitchFamily="34" charset="0"/>
              </a:rPr>
              <a:t>Related work</a:t>
            </a:r>
            <a:endParaRPr lang="zh-TW">
              <a:latin typeface="Calibri" panose="020F0502020204030204" pitchFamily="34" charset="0"/>
              <a:cs typeface="Calibri" panose="020F0502020204030204" pitchFamily="34" charset="0"/>
            </a:endParaRPr>
          </a:p>
          <a:p>
            <a:r>
              <a:rPr lang="zh-TW">
                <a:solidFill>
                  <a:schemeClr val="bg1">
                    <a:lumMod val="75000"/>
                  </a:schemeClr>
                </a:solidFill>
                <a:latin typeface="Calibri" panose="020F0502020204030204" pitchFamily="34" charset="0"/>
                <a:ea typeface="+mn-lt"/>
                <a:cs typeface="Calibri" panose="020F0502020204030204" pitchFamily="34" charset="0"/>
              </a:rPr>
              <a:t>Method</a:t>
            </a:r>
            <a:endParaRPr lang="zh-TW">
              <a:solidFill>
                <a:schemeClr val="bg1">
                  <a:lumMod val="75000"/>
                </a:schemeClr>
              </a:solidFill>
              <a:latin typeface="Calibri" panose="020F0502020204030204" pitchFamily="34" charset="0"/>
              <a:cs typeface="Calibri" panose="020F0502020204030204" pitchFamily="34" charset="0"/>
            </a:endParaRPr>
          </a:p>
          <a:p>
            <a:r>
              <a:rPr lang="zh-TW">
                <a:solidFill>
                  <a:schemeClr val="bg1">
                    <a:lumMod val="75000"/>
                  </a:schemeClr>
                </a:solidFill>
                <a:latin typeface="Calibri" panose="020F0502020204030204" pitchFamily="34" charset="0"/>
                <a:ea typeface="+mn-lt"/>
                <a:cs typeface="Calibri" panose="020F0502020204030204" pitchFamily="34" charset="0"/>
              </a:rPr>
              <a:t>Experiments</a:t>
            </a:r>
            <a:endParaRPr lang="zh-TW">
              <a:solidFill>
                <a:schemeClr val="bg1">
                  <a:lumMod val="75000"/>
                </a:schemeClr>
              </a:solidFill>
              <a:latin typeface="Calibri" panose="020F0502020204030204" pitchFamily="34" charset="0"/>
              <a:cs typeface="Calibri" panose="020F0502020204030204" pitchFamily="34" charset="0"/>
            </a:endParaRPr>
          </a:p>
          <a:p>
            <a:r>
              <a:rPr lang="zh-TW">
                <a:solidFill>
                  <a:schemeClr val="bg1">
                    <a:lumMod val="75000"/>
                  </a:schemeClr>
                </a:solidFill>
                <a:latin typeface="Calibri" panose="020F0502020204030204" pitchFamily="34" charset="0"/>
                <a:ea typeface="+mn-lt"/>
                <a:cs typeface="Calibri" panose="020F0502020204030204" pitchFamily="34" charset="0"/>
              </a:rPr>
              <a:t>Conclusion</a:t>
            </a:r>
            <a:endParaRPr lang="en-US" altLang="zh-TW">
              <a:solidFill>
                <a:schemeClr val="bg1">
                  <a:lumMod val="75000"/>
                </a:schemeClr>
              </a:solidFill>
              <a:latin typeface="Calibri" panose="020F0502020204030204" pitchFamily="34" charset="0"/>
              <a:ea typeface="+mn-lt"/>
              <a:cs typeface="Calibri" panose="020F0502020204030204" pitchFamily="34" charset="0"/>
            </a:endParaRPr>
          </a:p>
        </p:txBody>
      </p:sp>
      <p:sp>
        <p:nvSpPr>
          <p:cNvPr id="4" name="投影片編號版面配置區 3">
            <a:extLst>
              <a:ext uri="{FF2B5EF4-FFF2-40B4-BE49-F238E27FC236}">
                <a16:creationId xmlns:a16="http://schemas.microsoft.com/office/drawing/2014/main" id="{DBB329A0-9B8C-42C5-A378-0A9EFC539225}"/>
              </a:ext>
            </a:extLst>
          </p:cNvPr>
          <p:cNvSpPr>
            <a:spLocks noGrp="1"/>
          </p:cNvSpPr>
          <p:nvPr>
            <p:ph type="sldNum" sz="quarter" idx="12"/>
          </p:nvPr>
        </p:nvSpPr>
        <p:spPr/>
        <p:txBody>
          <a:bodyPr/>
          <a:lstStyle/>
          <a:p>
            <a:fld id="{5B0A2E34-17E6-46B6-A0CD-23734D57E7FF}" type="slidenum">
              <a:rPr lang="zh-TW" altLang="en-US" smtClean="0"/>
              <a:t>7</a:t>
            </a:fld>
            <a:endParaRPr lang="zh-TW" altLang="en-US"/>
          </a:p>
        </p:txBody>
      </p:sp>
    </p:spTree>
    <p:extLst>
      <p:ext uri="{BB962C8B-B14F-4D97-AF65-F5344CB8AC3E}">
        <p14:creationId xmlns:p14="http://schemas.microsoft.com/office/powerpoint/2010/main" val="28288680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AEB5E9-BA7F-B271-86C3-1B652C8D0117}"/>
              </a:ext>
            </a:extLst>
          </p:cNvPr>
          <p:cNvSpPr>
            <a:spLocks noGrp="1"/>
          </p:cNvSpPr>
          <p:nvPr>
            <p:ph type="title"/>
          </p:nvPr>
        </p:nvSpPr>
        <p:spPr/>
        <p:txBody>
          <a:bodyPr/>
          <a:lstStyle/>
          <a:p>
            <a:r>
              <a:rPr lang="en-US" altLang="zh-TW">
                <a:latin typeface="Calibri" panose="020F0502020204030204" pitchFamily="34" charset="0"/>
                <a:ea typeface="+mn-lt"/>
                <a:cs typeface="Calibri" panose="020F0502020204030204" pitchFamily="34" charset="0"/>
              </a:rPr>
              <a:t>Related work</a:t>
            </a:r>
          </a:p>
        </p:txBody>
      </p:sp>
      <p:sp>
        <p:nvSpPr>
          <p:cNvPr id="3" name="內容版面配置區 2">
            <a:extLst>
              <a:ext uri="{FF2B5EF4-FFF2-40B4-BE49-F238E27FC236}">
                <a16:creationId xmlns:a16="http://schemas.microsoft.com/office/drawing/2014/main" id="{343E7DF7-6C79-110F-62D2-5D9AE15A6ECD}"/>
              </a:ext>
            </a:extLst>
          </p:cNvPr>
          <p:cNvSpPr>
            <a:spLocks noGrp="1"/>
          </p:cNvSpPr>
          <p:nvPr>
            <p:ph idx="1"/>
          </p:nvPr>
        </p:nvSpPr>
        <p:spPr>
          <a:xfrm>
            <a:off x="838200" y="1825625"/>
            <a:ext cx="10814824" cy="4351338"/>
          </a:xfrm>
        </p:spPr>
        <p:txBody>
          <a:bodyPr vert="horz" lIns="91440" tIns="45720" rIns="91440" bIns="45720" rtlCol="0" anchor="t">
            <a:normAutofit/>
          </a:bodyPr>
          <a:lstStyle/>
          <a:p>
            <a:r>
              <a:rPr lang="en-US" dirty="0" err="1"/>
              <a:t>clDice</a:t>
            </a:r>
            <a:r>
              <a:rPr lang="en-US" dirty="0"/>
              <a:t>- a Novel Topology-Preserving Loss Function for Tubular Structure Segmentation, IEEE, 2021</a:t>
            </a:r>
          </a:p>
          <a:p>
            <a:endParaRPr lang="en-US" dirty="0">
              <a:ea typeface="+mn-lt"/>
              <a:cs typeface="+mn-lt"/>
            </a:endParaRPr>
          </a:p>
          <a:p>
            <a:r>
              <a:rPr lang="en-US" dirty="0"/>
              <a:t>Centerline Boundary Dice Loss for Vascular Segmentation</a:t>
            </a:r>
            <a:r>
              <a:rPr lang="en-US" altLang="zh-TW" dirty="0"/>
              <a:t>, </a:t>
            </a:r>
            <a:r>
              <a:rPr lang="en-US" altLang="zh-TW" dirty="0" err="1"/>
              <a:t>miccai</a:t>
            </a:r>
            <a:r>
              <a:rPr lang="en-US" altLang="zh-TW" dirty="0">
                <a:ea typeface="+mn-lt"/>
                <a:cs typeface="+mn-lt"/>
              </a:rPr>
              <a:t>, 2024</a:t>
            </a:r>
            <a:endParaRPr lang="en-US" dirty="0">
              <a:ea typeface="+mn-lt"/>
              <a:cs typeface="+mn-lt"/>
            </a:endParaRPr>
          </a:p>
          <a:p>
            <a:endParaRPr lang="en-US" dirty="0">
              <a:ea typeface="+mn-lt"/>
              <a:cs typeface="+mn-lt"/>
            </a:endParaRPr>
          </a:p>
          <a:p>
            <a:pPr marL="0" indent="0">
              <a:buNone/>
            </a:pPr>
            <a:endParaRPr lang="en-US" dirty="0">
              <a:solidFill>
                <a:srgbClr val="000000"/>
              </a:solidFill>
              <a:latin typeface="Aptos" panose="020B0004020202020204"/>
              <a:ea typeface="新細明體"/>
              <a:cs typeface="Calibri" panose="020F0502020204030204" pitchFamily="34" charset="0"/>
            </a:endParaRPr>
          </a:p>
          <a:p>
            <a:endParaRPr lang="en-US" dirty="0">
              <a:solidFill>
                <a:srgbClr val="000000"/>
              </a:solidFill>
              <a:latin typeface="Aptos" panose="020B0004020202020204"/>
              <a:ea typeface="新細明體"/>
              <a:cs typeface="Calibri" panose="020F0502020204030204" pitchFamily="34" charset="0"/>
            </a:endParaRPr>
          </a:p>
          <a:p>
            <a:endParaRPr lang="en-US" altLang="zh-TW" dirty="0">
              <a:solidFill>
                <a:srgbClr val="000000"/>
              </a:solidFill>
              <a:latin typeface="Calibri" panose="020F0502020204030204" pitchFamily="34" charset="0"/>
              <a:ea typeface="新細明體"/>
              <a:cs typeface="Calibri" panose="020F0502020204030204" pitchFamily="34" charset="0"/>
            </a:endParaRPr>
          </a:p>
        </p:txBody>
      </p:sp>
      <p:sp>
        <p:nvSpPr>
          <p:cNvPr id="4" name="投影片編號版面配置區 3">
            <a:extLst>
              <a:ext uri="{FF2B5EF4-FFF2-40B4-BE49-F238E27FC236}">
                <a16:creationId xmlns:a16="http://schemas.microsoft.com/office/drawing/2014/main" id="{485C99D5-5A9D-4C64-8DDA-B95B02626C4A}"/>
              </a:ext>
            </a:extLst>
          </p:cNvPr>
          <p:cNvSpPr>
            <a:spLocks noGrp="1"/>
          </p:cNvSpPr>
          <p:nvPr>
            <p:ph type="sldNum" sz="quarter" idx="12"/>
          </p:nvPr>
        </p:nvSpPr>
        <p:spPr/>
        <p:txBody>
          <a:bodyPr/>
          <a:lstStyle/>
          <a:p>
            <a:fld id="{5B0A2E34-17E6-46B6-A0CD-23734D57E7FF}" type="slidenum">
              <a:rPr lang="zh-TW" altLang="en-US" smtClean="0"/>
              <a:t>8</a:t>
            </a:fld>
            <a:endParaRPr lang="zh-TW" altLang="en-US"/>
          </a:p>
        </p:txBody>
      </p:sp>
    </p:spTree>
    <p:extLst>
      <p:ext uri="{BB962C8B-B14F-4D97-AF65-F5344CB8AC3E}">
        <p14:creationId xmlns:p14="http://schemas.microsoft.com/office/powerpoint/2010/main" val="35139339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AEB5E9-BA7F-B271-86C3-1B652C8D0117}"/>
              </a:ext>
            </a:extLst>
          </p:cNvPr>
          <p:cNvSpPr>
            <a:spLocks noGrp="1"/>
          </p:cNvSpPr>
          <p:nvPr>
            <p:ph type="title"/>
          </p:nvPr>
        </p:nvSpPr>
        <p:spPr/>
        <p:txBody>
          <a:bodyPr/>
          <a:lstStyle/>
          <a:p>
            <a:r>
              <a:rPr lang="en-US" altLang="zh-TW">
                <a:latin typeface="Calibri" panose="020F0502020204030204" pitchFamily="34" charset="0"/>
                <a:ea typeface="+mn-lt"/>
                <a:cs typeface="Calibri" panose="020F0502020204030204" pitchFamily="34" charset="0"/>
              </a:rPr>
              <a:t>Related work</a:t>
            </a:r>
          </a:p>
        </p:txBody>
      </p:sp>
      <p:sp>
        <p:nvSpPr>
          <p:cNvPr id="3" name="內容版面配置區 2">
            <a:extLst>
              <a:ext uri="{FF2B5EF4-FFF2-40B4-BE49-F238E27FC236}">
                <a16:creationId xmlns:a16="http://schemas.microsoft.com/office/drawing/2014/main" id="{343E7DF7-6C79-110F-62D2-5D9AE15A6ECD}"/>
              </a:ext>
            </a:extLst>
          </p:cNvPr>
          <p:cNvSpPr>
            <a:spLocks noGrp="1"/>
          </p:cNvSpPr>
          <p:nvPr>
            <p:ph idx="1"/>
          </p:nvPr>
        </p:nvSpPr>
        <p:spPr>
          <a:xfrm>
            <a:off x="838200" y="1825625"/>
            <a:ext cx="10814824" cy="4351338"/>
          </a:xfrm>
        </p:spPr>
        <p:txBody>
          <a:bodyPr vert="horz" lIns="91440" tIns="45720" rIns="91440" bIns="45720" rtlCol="0" anchor="t">
            <a:normAutofit/>
          </a:bodyPr>
          <a:lstStyle/>
          <a:p>
            <a:r>
              <a:rPr lang="en-US" dirty="0" err="1"/>
              <a:t>clDice</a:t>
            </a:r>
            <a:r>
              <a:rPr lang="en-US" dirty="0"/>
              <a:t>- a Novel Topology-Preserving Loss Function for Tubular Structure Segmentation, IEEE, 2021</a:t>
            </a:r>
          </a:p>
          <a:p>
            <a:endParaRPr lang="en-US" dirty="0">
              <a:ea typeface="+mn-lt"/>
              <a:cs typeface="+mn-lt"/>
            </a:endParaRPr>
          </a:p>
          <a:p>
            <a:r>
              <a:rPr lang="en-US" dirty="0">
                <a:solidFill>
                  <a:schemeClr val="bg1">
                    <a:lumMod val="75000"/>
                  </a:schemeClr>
                </a:solidFill>
              </a:rPr>
              <a:t>Centerline Boundary Dice Loss for Vascular Segmentation</a:t>
            </a:r>
            <a:r>
              <a:rPr lang="en-US" altLang="zh-TW" dirty="0">
                <a:solidFill>
                  <a:schemeClr val="bg1">
                    <a:lumMod val="75000"/>
                  </a:schemeClr>
                </a:solidFill>
              </a:rPr>
              <a:t>, </a:t>
            </a:r>
            <a:r>
              <a:rPr lang="en-US" altLang="zh-TW" dirty="0" err="1">
                <a:solidFill>
                  <a:schemeClr val="bg1">
                    <a:lumMod val="75000"/>
                  </a:schemeClr>
                </a:solidFill>
              </a:rPr>
              <a:t>miccai</a:t>
            </a:r>
            <a:r>
              <a:rPr lang="en-US" altLang="zh-TW" dirty="0">
                <a:solidFill>
                  <a:schemeClr val="bg1">
                    <a:lumMod val="75000"/>
                  </a:schemeClr>
                </a:solidFill>
              </a:rPr>
              <a:t>, 2024</a:t>
            </a:r>
            <a:endParaRPr lang="en-US" dirty="0">
              <a:solidFill>
                <a:schemeClr val="bg1">
                  <a:lumMod val="75000"/>
                </a:schemeClr>
              </a:solidFill>
            </a:endParaRPr>
          </a:p>
          <a:p>
            <a:endParaRPr lang="en-US" dirty="0">
              <a:ea typeface="+mn-lt"/>
              <a:cs typeface="+mn-lt"/>
            </a:endParaRPr>
          </a:p>
          <a:p>
            <a:pPr marL="0" indent="0">
              <a:buNone/>
            </a:pPr>
            <a:endParaRPr lang="en-US" dirty="0">
              <a:solidFill>
                <a:srgbClr val="000000"/>
              </a:solidFill>
              <a:latin typeface="Aptos" panose="020B0004020202020204"/>
              <a:ea typeface="新細明體"/>
              <a:cs typeface="Calibri" panose="020F0502020204030204" pitchFamily="34" charset="0"/>
            </a:endParaRPr>
          </a:p>
          <a:p>
            <a:endParaRPr lang="en-US" dirty="0">
              <a:solidFill>
                <a:srgbClr val="000000"/>
              </a:solidFill>
              <a:latin typeface="Aptos" panose="020B0004020202020204"/>
              <a:ea typeface="新細明體"/>
              <a:cs typeface="Calibri" panose="020F0502020204030204" pitchFamily="34" charset="0"/>
            </a:endParaRPr>
          </a:p>
          <a:p>
            <a:endParaRPr lang="en-US" altLang="zh-TW" dirty="0">
              <a:solidFill>
                <a:srgbClr val="000000"/>
              </a:solidFill>
              <a:latin typeface="Calibri" panose="020F0502020204030204" pitchFamily="34" charset="0"/>
              <a:ea typeface="新細明體"/>
              <a:cs typeface="Calibri" panose="020F0502020204030204" pitchFamily="34" charset="0"/>
            </a:endParaRPr>
          </a:p>
        </p:txBody>
      </p:sp>
      <p:sp>
        <p:nvSpPr>
          <p:cNvPr id="4" name="投影片編號版面配置區 3">
            <a:extLst>
              <a:ext uri="{FF2B5EF4-FFF2-40B4-BE49-F238E27FC236}">
                <a16:creationId xmlns:a16="http://schemas.microsoft.com/office/drawing/2014/main" id="{485C99D5-5A9D-4C64-8DDA-B95B02626C4A}"/>
              </a:ext>
            </a:extLst>
          </p:cNvPr>
          <p:cNvSpPr>
            <a:spLocks noGrp="1"/>
          </p:cNvSpPr>
          <p:nvPr>
            <p:ph type="sldNum" sz="quarter" idx="12"/>
          </p:nvPr>
        </p:nvSpPr>
        <p:spPr/>
        <p:txBody>
          <a:bodyPr/>
          <a:lstStyle/>
          <a:p>
            <a:fld id="{5B0A2E34-17E6-46B6-A0CD-23734D57E7FF}" type="slidenum">
              <a:rPr lang="zh-TW" altLang="en-US" smtClean="0"/>
              <a:t>9</a:t>
            </a:fld>
            <a:endParaRPr lang="zh-TW" altLang="en-US"/>
          </a:p>
        </p:txBody>
      </p:sp>
    </p:spTree>
    <p:extLst>
      <p:ext uri="{BB962C8B-B14F-4D97-AF65-F5344CB8AC3E}">
        <p14:creationId xmlns:p14="http://schemas.microsoft.com/office/powerpoint/2010/main" val="10105578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AEB5E9-BA7F-B271-86C3-1B652C8D0117}"/>
              </a:ext>
            </a:extLst>
          </p:cNvPr>
          <p:cNvSpPr>
            <a:spLocks noGrp="1"/>
          </p:cNvSpPr>
          <p:nvPr>
            <p:ph type="title"/>
          </p:nvPr>
        </p:nvSpPr>
        <p:spPr/>
        <p:txBody>
          <a:bodyPr/>
          <a:lstStyle/>
          <a:p>
            <a:r>
              <a:rPr lang="en-US" altLang="zh-TW" dirty="0">
                <a:latin typeface="Calibri" panose="020F0502020204030204" pitchFamily="34" charset="0"/>
                <a:ea typeface="+mn-lt"/>
                <a:cs typeface="Calibri" panose="020F0502020204030204" pitchFamily="34" charset="0"/>
              </a:rPr>
              <a:t>Related work</a:t>
            </a:r>
          </a:p>
        </p:txBody>
      </p:sp>
      <p:sp>
        <p:nvSpPr>
          <p:cNvPr id="3" name="內容版面配置區 2">
            <a:extLst>
              <a:ext uri="{FF2B5EF4-FFF2-40B4-BE49-F238E27FC236}">
                <a16:creationId xmlns:a16="http://schemas.microsoft.com/office/drawing/2014/main" id="{343E7DF7-6C79-110F-62D2-5D9AE15A6ECD}"/>
              </a:ext>
            </a:extLst>
          </p:cNvPr>
          <p:cNvSpPr>
            <a:spLocks noGrp="1"/>
          </p:cNvSpPr>
          <p:nvPr>
            <p:ph idx="1"/>
          </p:nvPr>
        </p:nvSpPr>
        <p:spPr>
          <a:xfrm>
            <a:off x="838200" y="1690688"/>
            <a:ext cx="11099800" cy="4351338"/>
          </a:xfrm>
        </p:spPr>
        <p:txBody>
          <a:bodyPr vert="horz" lIns="91440" tIns="45720" rIns="91440" bIns="45720" rtlCol="0" anchor="t">
            <a:normAutofit/>
          </a:bodyPr>
          <a:lstStyle/>
          <a:p>
            <a:r>
              <a:rPr lang="en-US" dirty="0" err="1"/>
              <a:t>clDice</a:t>
            </a:r>
            <a:r>
              <a:rPr lang="en-US" dirty="0"/>
              <a:t> </a:t>
            </a:r>
          </a:p>
          <a:p>
            <a:pPr lvl="1"/>
            <a:r>
              <a:rPr lang="en-US" altLang="zh-TW" dirty="0"/>
              <a:t>Problems</a:t>
            </a:r>
          </a:p>
          <a:p>
            <a:pPr lvl="2"/>
            <a:r>
              <a:rPr lang="en-US" altLang="zh-TW" dirty="0"/>
              <a:t>What is a good pixelwise measure to benchmark segmentation algorithms for tubular, and related linear and curvilinear structure segmentation while guaranteeing the preservation of the network-topology?</a:t>
            </a:r>
          </a:p>
          <a:p>
            <a:pPr lvl="2"/>
            <a:r>
              <a:rPr lang="en-US" altLang="zh-TW" dirty="0"/>
              <a:t>Can we use this improved measure as a loss function for neural networks, which is a void in existing literature?</a:t>
            </a:r>
          </a:p>
        </p:txBody>
      </p:sp>
      <p:sp>
        <p:nvSpPr>
          <p:cNvPr id="5" name="投影片編號版面配置區 4">
            <a:extLst>
              <a:ext uri="{FF2B5EF4-FFF2-40B4-BE49-F238E27FC236}">
                <a16:creationId xmlns:a16="http://schemas.microsoft.com/office/drawing/2014/main" id="{43D2A3B9-0FE1-455C-B58E-2E6AF4D70D1E}"/>
              </a:ext>
            </a:extLst>
          </p:cNvPr>
          <p:cNvSpPr>
            <a:spLocks noGrp="1"/>
          </p:cNvSpPr>
          <p:nvPr>
            <p:ph type="sldNum" sz="quarter" idx="12"/>
          </p:nvPr>
        </p:nvSpPr>
        <p:spPr/>
        <p:txBody>
          <a:bodyPr/>
          <a:lstStyle/>
          <a:p>
            <a:fld id="{5B0A2E34-17E6-46B6-A0CD-23734D57E7FF}" type="slidenum">
              <a:rPr lang="zh-TW" altLang="en-US" smtClean="0"/>
              <a:t>10</a:t>
            </a:fld>
            <a:endParaRPr lang="zh-TW" altLang="en-US"/>
          </a:p>
        </p:txBody>
      </p:sp>
      <p:pic>
        <p:nvPicPr>
          <p:cNvPr id="6" name="圖片 5">
            <a:extLst>
              <a:ext uri="{FF2B5EF4-FFF2-40B4-BE49-F238E27FC236}">
                <a16:creationId xmlns:a16="http://schemas.microsoft.com/office/drawing/2014/main" id="{1FF02C8D-20F3-46C3-9762-532139B7BD35}"/>
              </a:ext>
            </a:extLst>
          </p:cNvPr>
          <p:cNvPicPr>
            <a:picLocks noChangeAspect="1"/>
          </p:cNvPicPr>
          <p:nvPr/>
        </p:nvPicPr>
        <p:blipFill>
          <a:blip r:embed="rId3"/>
          <a:stretch>
            <a:fillRect/>
          </a:stretch>
        </p:blipFill>
        <p:spPr>
          <a:xfrm>
            <a:off x="1371600" y="4063393"/>
            <a:ext cx="3149600" cy="2658082"/>
          </a:xfrm>
          <a:prstGeom prst="rect">
            <a:avLst/>
          </a:prstGeom>
        </p:spPr>
      </p:pic>
      <p:pic>
        <p:nvPicPr>
          <p:cNvPr id="8" name="圖片 7">
            <a:extLst>
              <a:ext uri="{FF2B5EF4-FFF2-40B4-BE49-F238E27FC236}">
                <a16:creationId xmlns:a16="http://schemas.microsoft.com/office/drawing/2014/main" id="{0E37B7CC-FF09-4B4B-9898-382596FEB49E}"/>
              </a:ext>
            </a:extLst>
          </p:cNvPr>
          <p:cNvPicPr>
            <a:picLocks noChangeAspect="1"/>
          </p:cNvPicPr>
          <p:nvPr/>
        </p:nvPicPr>
        <p:blipFill>
          <a:blip r:embed="rId4"/>
          <a:stretch>
            <a:fillRect/>
          </a:stretch>
        </p:blipFill>
        <p:spPr>
          <a:xfrm>
            <a:off x="5080325" y="4129082"/>
            <a:ext cx="5934917" cy="2076460"/>
          </a:xfrm>
          <a:prstGeom prst="rect">
            <a:avLst/>
          </a:prstGeom>
        </p:spPr>
      </p:pic>
    </p:spTree>
    <p:extLst>
      <p:ext uri="{BB962C8B-B14F-4D97-AF65-F5344CB8AC3E}">
        <p14:creationId xmlns:p14="http://schemas.microsoft.com/office/powerpoint/2010/main" val="19527495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AEB5E9-BA7F-B271-86C3-1B652C8D0117}"/>
              </a:ext>
            </a:extLst>
          </p:cNvPr>
          <p:cNvSpPr>
            <a:spLocks noGrp="1"/>
          </p:cNvSpPr>
          <p:nvPr>
            <p:ph type="title"/>
          </p:nvPr>
        </p:nvSpPr>
        <p:spPr/>
        <p:txBody>
          <a:bodyPr/>
          <a:lstStyle/>
          <a:p>
            <a:r>
              <a:rPr lang="en-US" altLang="zh-TW">
                <a:latin typeface="Calibri" panose="020F0502020204030204" pitchFamily="34" charset="0"/>
                <a:ea typeface="+mn-lt"/>
                <a:cs typeface="Calibri" panose="020F0502020204030204" pitchFamily="34" charset="0"/>
              </a:rPr>
              <a:t>Related work</a:t>
            </a:r>
          </a:p>
        </p:txBody>
      </p:sp>
      <p:sp>
        <p:nvSpPr>
          <p:cNvPr id="3" name="內容版面配置區 2">
            <a:extLst>
              <a:ext uri="{FF2B5EF4-FFF2-40B4-BE49-F238E27FC236}">
                <a16:creationId xmlns:a16="http://schemas.microsoft.com/office/drawing/2014/main" id="{343E7DF7-6C79-110F-62D2-5D9AE15A6ECD}"/>
              </a:ext>
            </a:extLst>
          </p:cNvPr>
          <p:cNvSpPr>
            <a:spLocks noGrp="1"/>
          </p:cNvSpPr>
          <p:nvPr>
            <p:ph idx="1"/>
          </p:nvPr>
        </p:nvSpPr>
        <p:spPr>
          <a:xfrm>
            <a:off x="838200" y="1690688"/>
            <a:ext cx="10515600" cy="4351338"/>
          </a:xfrm>
        </p:spPr>
        <p:txBody>
          <a:bodyPr vert="horz" lIns="91440" tIns="45720" rIns="91440" bIns="45720" rtlCol="0" anchor="t">
            <a:normAutofit/>
          </a:bodyPr>
          <a:lstStyle/>
          <a:p>
            <a:r>
              <a:rPr lang="en-US" dirty="0" err="1"/>
              <a:t>clDice</a:t>
            </a:r>
            <a:r>
              <a:rPr lang="en-US" dirty="0"/>
              <a:t> </a:t>
            </a:r>
          </a:p>
          <a:p>
            <a:pPr lvl="1"/>
            <a:r>
              <a:rPr lang="en-US" altLang="zh-TW" dirty="0"/>
              <a:t>Overall framework</a:t>
            </a:r>
          </a:p>
          <a:p>
            <a:pPr lvl="1"/>
            <a:endParaRPr lang="en-US" altLang="zh-TW" dirty="0"/>
          </a:p>
        </p:txBody>
      </p:sp>
      <p:sp>
        <p:nvSpPr>
          <p:cNvPr id="5" name="投影片編號版面配置區 4">
            <a:extLst>
              <a:ext uri="{FF2B5EF4-FFF2-40B4-BE49-F238E27FC236}">
                <a16:creationId xmlns:a16="http://schemas.microsoft.com/office/drawing/2014/main" id="{43D2A3B9-0FE1-455C-B58E-2E6AF4D70D1E}"/>
              </a:ext>
            </a:extLst>
          </p:cNvPr>
          <p:cNvSpPr>
            <a:spLocks noGrp="1"/>
          </p:cNvSpPr>
          <p:nvPr>
            <p:ph type="sldNum" sz="quarter" idx="12"/>
          </p:nvPr>
        </p:nvSpPr>
        <p:spPr/>
        <p:txBody>
          <a:bodyPr/>
          <a:lstStyle/>
          <a:p>
            <a:fld id="{5B0A2E34-17E6-46B6-A0CD-23734D57E7FF}" type="slidenum">
              <a:rPr lang="zh-TW" altLang="en-US" smtClean="0"/>
              <a:t>11</a:t>
            </a:fld>
            <a:endParaRPr lang="zh-TW" altLang="en-US"/>
          </a:p>
        </p:txBody>
      </p:sp>
      <p:pic>
        <p:nvPicPr>
          <p:cNvPr id="7" name="圖片 6">
            <a:extLst>
              <a:ext uri="{FF2B5EF4-FFF2-40B4-BE49-F238E27FC236}">
                <a16:creationId xmlns:a16="http://schemas.microsoft.com/office/drawing/2014/main" id="{363723A5-5898-43EE-B507-C1667FC2FFD7}"/>
              </a:ext>
            </a:extLst>
          </p:cNvPr>
          <p:cNvPicPr>
            <a:picLocks noChangeAspect="1"/>
          </p:cNvPicPr>
          <p:nvPr/>
        </p:nvPicPr>
        <p:blipFill>
          <a:blip r:embed="rId3"/>
          <a:stretch>
            <a:fillRect/>
          </a:stretch>
        </p:blipFill>
        <p:spPr>
          <a:xfrm>
            <a:off x="1925719" y="2499527"/>
            <a:ext cx="8340562" cy="4221948"/>
          </a:xfrm>
          <a:prstGeom prst="rect">
            <a:avLst/>
          </a:prstGeom>
        </p:spPr>
      </p:pic>
      <p:pic>
        <p:nvPicPr>
          <p:cNvPr id="8" name="圖片 7">
            <a:extLst>
              <a:ext uri="{FF2B5EF4-FFF2-40B4-BE49-F238E27FC236}">
                <a16:creationId xmlns:a16="http://schemas.microsoft.com/office/drawing/2014/main" id="{3961C783-BE75-4F10-8C52-3DBA17DE99CA}"/>
              </a:ext>
            </a:extLst>
          </p:cNvPr>
          <p:cNvPicPr>
            <a:picLocks noChangeAspect="1"/>
          </p:cNvPicPr>
          <p:nvPr/>
        </p:nvPicPr>
        <p:blipFill rotWithShape="1">
          <a:blip r:embed="rId4"/>
          <a:srcRect b="50055"/>
          <a:stretch/>
        </p:blipFill>
        <p:spPr>
          <a:xfrm>
            <a:off x="4754881" y="148847"/>
            <a:ext cx="3520440" cy="2001115"/>
          </a:xfrm>
          <a:prstGeom prst="rect">
            <a:avLst/>
          </a:prstGeom>
        </p:spPr>
      </p:pic>
      <p:pic>
        <p:nvPicPr>
          <p:cNvPr id="9" name="圖片 8">
            <a:extLst>
              <a:ext uri="{FF2B5EF4-FFF2-40B4-BE49-F238E27FC236}">
                <a16:creationId xmlns:a16="http://schemas.microsoft.com/office/drawing/2014/main" id="{7B010FD9-BE2E-4D79-B7E2-C57545FC17B8}"/>
              </a:ext>
            </a:extLst>
          </p:cNvPr>
          <p:cNvPicPr>
            <a:picLocks noChangeAspect="1"/>
          </p:cNvPicPr>
          <p:nvPr/>
        </p:nvPicPr>
        <p:blipFill rotWithShape="1">
          <a:blip r:embed="rId4"/>
          <a:srcRect t="50055"/>
          <a:stretch/>
        </p:blipFill>
        <p:spPr>
          <a:xfrm>
            <a:off x="8476792" y="136524"/>
            <a:ext cx="3520440" cy="2001115"/>
          </a:xfrm>
          <a:prstGeom prst="rect">
            <a:avLst/>
          </a:prstGeom>
        </p:spPr>
      </p:pic>
      <p:pic>
        <p:nvPicPr>
          <p:cNvPr id="10" name="圖片 9">
            <a:extLst>
              <a:ext uri="{FF2B5EF4-FFF2-40B4-BE49-F238E27FC236}">
                <a16:creationId xmlns:a16="http://schemas.microsoft.com/office/drawing/2014/main" id="{808F6153-E2F8-4C19-BD7B-0FE2BDBD6E54}"/>
              </a:ext>
            </a:extLst>
          </p:cNvPr>
          <p:cNvPicPr>
            <a:picLocks noChangeAspect="1"/>
          </p:cNvPicPr>
          <p:nvPr/>
        </p:nvPicPr>
        <p:blipFill>
          <a:blip r:embed="rId5"/>
          <a:stretch>
            <a:fillRect/>
          </a:stretch>
        </p:blipFill>
        <p:spPr>
          <a:xfrm>
            <a:off x="5264273" y="5770503"/>
            <a:ext cx="314369" cy="285790"/>
          </a:xfrm>
          <a:prstGeom prst="rect">
            <a:avLst/>
          </a:prstGeom>
        </p:spPr>
      </p:pic>
      <p:pic>
        <p:nvPicPr>
          <p:cNvPr id="12" name="圖片 11">
            <a:extLst>
              <a:ext uri="{FF2B5EF4-FFF2-40B4-BE49-F238E27FC236}">
                <a16:creationId xmlns:a16="http://schemas.microsoft.com/office/drawing/2014/main" id="{61092F71-BBFE-4BC0-97C9-2C660696A1B3}"/>
              </a:ext>
            </a:extLst>
          </p:cNvPr>
          <p:cNvPicPr>
            <a:picLocks noChangeAspect="1"/>
          </p:cNvPicPr>
          <p:nvPr/>
        </p:nvPicPr>
        <p:blipFill>
          <a:blip r:embed="rId6"/>
          <a:stretch>
            <a:fillRect/>
          </a:stretch>
        </p:blipFill>
        <p:spPr>
          <a:xfrm>
            <a:off x="5393383" y="3327867"/>
            <a:ext cx="295316" cy="295316"/>
          </a:xfrm>
          <a:prstGeom prst="rect">
            <a:avLst/>
          </a:prstGeom>
        </p:spPr>
      </p:pic>
      <p:pic>
        <p:nvPicPr>
          <p:cNvPr id="14" name="圖片 13">
            <a:extLst>
              <a:ext uri="{FF2B5EF4-FFF2-40B4-BE49-F238E27FC236}">
                <a16:creationId xmlns:a16="http://schemas.microsoft.com/office/drawing/2014/main" id="{743C8EC6-C01E-43D2-B3C9-818557B846B3}"/>
              </a:ext>
            </a:extLst>
          </p:cNvPr>
          <p:cNvPicPr>
            <a:picLocks noChangeAspect="1"/>
          </p:cNvPicPr>
          <p:nvPr/>
        </p:nvPicPr>
        <p:blipFill>
          <a:blip r:embed="rId7"/>
          <a:stretch>
            <a:fillRect/>
          </a:stretch>
        </p:blipFill>
        <p:spPr>
          <a:xfrm>
            <a:off x="8917196" y="5735291"/>
            <a:ext cx="333422" cy="266737"/>
          </a:xfrm>
          <a:prstGeom prst="rect">
            <a:avLst/>
          </a:prstGeom>
        </p:spPr>
      </p:pic>
      <p:pic>
        <p:nvPicPr>
          <p:cNvPr id="16" name="圖片 15">
            <a:extLst>
              <a:ext uri="{FF2B5EF4-FFF2-40B4-BE49-F238E27FC236}">
                <a16:creationId xmlns:a16="http://schemas.microsoft.com/office/drawing/2014/main" id="{D7E1CFED-1016-4D5C-85E3-CDD00F246DEE}"/>
              </a:ext>
            </a:extLst>
          </p:cNvPr>
          <p:cNvPicPr>
            <a:picLocks noChangeAspect="1"/>
          </p:cNvPicPr>
          <p:nvPr/>
        </p:nvPicPr>
        <p:blipFill>
          <a:blip r:embed="rId8"/>
          <a:stretch>
            <a:fillRect/>
          </a:stretch>
        </p:blipFill>
        <p:spPr>
          <a:xfrm>
            <a:off x="9008705" y="3429000"/>
            <a:ext cx="295316" cy="257211"/>
          </a:xfrm>
          <a:prstGeom prst="rect">
            <a:avLst/>
          </a:prstGeom>
        </p:spPr>
      </p:pic>
    </p:spTree>
    <p:extLst>
      <p:ext uri="{BB962C8B-B14F-4D97-AF65-F5344CB8AC3E}">
        <p14:creationId xmlns:p14="http://schemas.microsoft.com/office/powerpoint/2010/main" val="3532449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AEB5E9-BA7F-B271-86C3-1B652C8D0117}"/>
              </a:ext>
            </a:extLst>
          </p:cNvPr>
          <p:cNvSpPr>
            <a:spLocks noGrp="1"/>
          </p:cNvSpPr>
          <p:nvPr>
            <p:ph type="title"/>
          </p:nvPr>
        </p:nvSpPr>
        <p:spPr/>
        <p:txBody>
          <a:bodyPr/>
          <a:lstStyle/>
          <a:p>
            <a:r>
              <a:rPr lang="en-US" altLang="zh-TW" dirty="0">
                <a:latin typeface="Calibri" panose="020F0502020204030204" pitchFamily="34" charset="0"/>
                <a:ea typeface="+mn-lt"/>
                <a:cs typeface="Calibri" panose="020F0502020204030204" pitchFamily="34" charset="0"/>
              </a:rPr>
              <a:t>Related work</a:t>
            </a:r>
          </a:p>
        </p:txBody>
      </p:sp>
      <p:sp>
        <p:nvSpPr>
          <p:cNvPr id="3" name="內容版面配置區 2">
            <a:extLst>
              <a:ext uri="{FF2B5EF4-FFF2-40B4-BE49-F238E27FC236}">
                <a16:creationId xmlns:a16="http://schemas.microsoft.com/office/drawing/2014/main" id="{343E7DF7-6C79-110F-62D2-5D9AE15A6ECD}"/>
              </a:ext>
            </a:extLst>
          </p:cNvPr>
          <p:cNvSpPr>
            <a:spLocks noGrp="1"/>
          </p:cNvSpPr>
          <p:nvPr>
            <p:ph idx="1"/>
          </p:nvPr>
        </p:nvSpPr>
        <p:spPr/>
        <p:txBody>
          <a:bodyPr vert="horz" lIns="91440" tIns="45720" rIns="91440" bIns="45720" rtlCol="0" anchor="t">
            <a:normAutofit/>
          </a:bodyPr>
          <a:lstStyle/>
          <a:p>
            <a:r>
              <a:rPr lang="en-US" dirty="0" err="1"/>
              <a:t>clDice</a:t>
            </a:r>
            <a:r>
              <a:rPr lang="en-US" dirty="0"/>
              <a:t> </a:t>
            </a:r>
          </a:p>
        </p:txBody>
      </p:sp>
      <p:sp>
        <p:nvSpPr>
          <p:cNvPr id="5" name="投影片編號版面配置區 4">
            <a:extLst>
              <a:ext uri="{FF2B5EF4-FFF2-40B4-BE49-F238E27FC236}">
                <a16:creationId xmlns:a16="http://schemas.microsoft.com/office/drawing/2014/main" id="{43FE86CF-577D-4071-8BC2-44B68B003E19}"/>
              </a:ext>
            </a:extLst>
          </p:cNvPr>
          <p:cNvSpPr>
            <a:spLocks noGrp="1"/>
          </p:cNvSpPr>
          <p:nvPr>
            <p:ph type="sldNum" sz="quarter" idx="12"/>
          </p:nvPr>
        </p:nvSpPr>
        <p:spPr/>
        <p:txBody>
          <a:bodyPr/>
          <a:lstStyle/>
          <a:p>
            <a:fld id="{5B0A2E34-17E6-46B6-A0CD-23734D57E7FF}" type="slidenum">
              <a:rPr lang="zh-TW" altLang="en-US" smtClean="0"/>
              <a:t>12</a:t>
            </a:fld>
            <a:endParaRPr lang="zh-TW" altLang="en-US"/>
          </a:p>
        </p:txBody>
      </p:sp>
      <p:pic>
        <p:nvPicPr>
          <p:cNvPr id="6" name="圖片 5">
            <a:extLst>
              <a:ext uri="{FF2B5EF4-FFF2-40B4-BE49-F238E27FC236}">
                <a16:creationId xmlns:a16="http://schemas.microsoft.com/office/drawing/2014/main" id="{BCC9A9EC-1ECC-42F4-B319-D034FF6BA67A}"/>
              </a:ext>
            </a:extLst>
          </p:cNvPr>
          <p:cNvPicPr>
            <a:picLocks noChangeAspect="1"/>
          </p:cNvPicPr>
          <p:nvPr/>
        </p:nvPicPr>
        <p:blipFill>
          <a:blip r:embed="rId3"/>
          <a:stretch>
            <a:fillRect/>
          </a:stretch>
        </p:blipFill>
        <p:spPr>
          <a:xfrm>
            <a:off x="2398738" y="2541846"/>
            <a:ext cx="6335009" cy="990738"/>
          </a:xfrm>
          <a:prstGeom prst="rect">
            <a:avLst/>
          </a:prstGeom>
        </p:spPr>
      </p:pic>
      <p:pic>
        <p:nvPicPr>
          <p:cNvPr id="11" name="圖片 10">
            <a:extLst>
              <a:ext uri="{FF2B5EF4-FFF2-40B4-BE49-F238E27FC236}">
                <a16:creationId xmlns:a16="http://schemas.microsoft.com/office/drawing/2014/main" id="{D79270AF-B404-41DA-9074-D7F7700FC4D6}"/>
              </a:ext>
            </a:extLst>
          </p:cNvPr>
          <p:cNvPicPr>
            <a:picLocks noChangeAspect="1"/>
          </p:cNvPicPr>
          <p:nvPr/>
        </p:nvPicPr>
        <p:blipFill>
          <a:blip r:embed="rId4"/>
          <a:stretch>
            <a:fillRect/>
          </a:stretch>
        </p:blipFill>
        <p:spPr>
          <a:xfrm>
            <a:off x="2398738" y="4001294"/>
            <a:ext cx="5887272" cy="885949"/>
          </a:xfrm>
          <a:prstGeom prst="rect">
            <a:avLst/>
          </a:prstGeom>
        </p:spPr>
      </p:pic>
      <p:pic>
        <p:nvPicPr>
          <p:cNvPr id="14" name="圖片 13">
            <a:extLst>
              <a:ext uri="{FF2B5EF4-FFF2-40B4-BE49-F238E27FC236}">
                <a16:creationId xmlns:a16="http://schemas.microsoft.com/office/drawing/2014/main" id="{1D3E8897-7AB5-481F-8606-550B1341F9EF}"/>
              </a:ext>
            </a:extLst>
          </p:cNvPr>
          <p:cNvPicPr>
            <a:picLocks noChangeAspect="1"/>
          </p:cNvPicPr>
          <p:nvPr/>
        </p:nvPicPr>
        <p:blipFill>
          <a:blip r:embed="rId5"/>
          <a:stretch>
            <a:fillRect/>
          </a:stretch>
        </p:blipFill>
        <p:spPr>
          <a:xfrm>
            <a:off x="2398738" y="5495290"/>
            <a:ext cx="5706271" cy="352474"/>
          </a:xfrm>
          <a:prstGeom prst="rect">
            <a:avLst/>
          </a:prstGeom>
        </p:spPr>
      </p:pic>
      <p:pic>
        <p:nvPicPr>
          <p:cNvPr id="15" name="圖片 14">
            <a:extLst>
              <a:ext uri="{FF2B5EF4-FFF2-40B4-BE49-F238E27FC236}">
                <a16:creationId xmlns:a16="http://schemas.microsoft.com/office/drawing/2014/main" id="{A91E8BD2-4C7B-40B1-B590-9B181D7DAD82}"/>
              </a:ext>
            </a:extLst>
          </p:cNvPr>
          <p:cNvPicPr>
            <a:picLocks noChangeAspect="1"/>
          </p:cNvPicPr>
          <p:nvPr/>
        </p:nvPicPr>
        <p:blipFill>
          <a:blip r:embed="rId6"/>
          <a:stretch>
            <a:fillRect/>
          </a:stretch>
        </p:blipFill>
        <p:spPr>
          <a:xfrm>
            <a:off x="7132025" y="40331"/>
            <a:ext cx="4816135" cy="2437902"/>
          </a:xfrm>
          <a:prstGeom prst="rect">
            <a:avLst/>
          </a:prstGeom>
        </p:spPr>
      </p:pic>
      <p:pic>
        <p:nvPicPr>
          <p:cNvPr id="17" name="圖片 16">
            <a:extLst>
              <a:ext uri="{FF2B5EF4-FFF2-40B4-BE49-F238E27FC236}">
                <a16:creationId xmlns:a16="http://schemas.microsoft.com/office/drawing/2014/main" id="{F29AFEB6-C5E9-4981-A080-0E7B5C5CC9B8}"/>
              </a:ext>
            </a:extLst>
          </p:cNvPr>
          <p:cNvPicPr>
            <a:picLocks noChangeAspect="1"/>
          </p:cNvPicPr>
          <p:nvPr/>
        </p:nvPicPr>
        <p:blipFill>
          <a:blip r:embed="rId7"/>
          <a:stretch>
            <a:fillRect/>
          </a:stretch>
        </p:blipFill>
        <p:spPr>
          <a:xfrm>
            <a:off x="2481489" y="6051507"/>
            <a:ext cx="1295581" cy="304843"/>
          </a:xfrm>
          <a:prstGeom prst="rect">
            <a:avLst/>
          </a:prstGeom>
        </p:spPr>
      </p:pic>
      <p:pic>
        <p:nvPicPr>
          <p:cNvPr id="10" name="圖片 9">
            <a:extLst>
              <a:ext uri="{FF2B5EF4-FFF2-40B4-BE49-F238E27FC236}">
                <a16:creationId xmlns:a16="http://schemas.microsoft.com/office/drawing/2014/main" id="{406673C7-91C9-4E38-B6B2-8B788B60E04D}"/>
              </a:ext>
            </a:extLst>
          </p:cNvPr>
          <p:cNvPicPr>
            <a:picLocks noChangeAspect="1"/>
          </p:cNvPicPr>
          <p:nvPr/>
        </p:nvPicPr>
        <p:blipFill>
          <a:blip r:embed="rId8"/>
          <a:stretch>
            <a:fillRect/>
          </a:stretch>
        </p:blipFill>
        <p:spPr>
          <a:xfrm>
            <a:off x="9103504" y="1854498"/>
            <a:ext cx="243333" cy="221212"/>
          </a:xfrm>
          <a:prstGeom prst="rect">
            <a:avLst/>
          </a:prstGeom>
        </p:spPr>
      </p:pic>
      <p:pic>
        <p:nvPicPr>
          <p:cNvPr id="12" name="圖片 11">
            <a:extLst>
              <a:ext uri="{FF2B5EF4-FFF2-40B4-BE49-F238E27FC236}">
                <a16:creationId xmlns:a16="http://schemas.microsoft.com/office/drawing/2014/main" id="{6A7BB95D-BE37-4CE4-98E8-119801234AAB}"/>
              </a:ext>
            </a:extLst>
          </p:cNvPr>
          <p:cNvPicPr>
            <a:picLocks noChangeAspect="1"/>
          </p:cNvPicPr>
          <p:nvPr/>
        </p:nvPicPr>
        <p:blipFill>
          <a:blip r:embed="rId9"/>
          <a:stretch>
            <a:fillRect/>
          </a:stretch>
        </p:blipFill>
        <p:spPr>
          <a:xfrm>
            <a:off x="9116887" y="511292"/>
            <a:ext cx="228585" cy="228585"/>
          </a:xfrm>
          <a:prstGeom prst="rect">
            <a:avLst/>
          </a:prstGeom>
        </p:spPr>
      </p:pic>
      <p:pic>
        <p:nvPicPr>
          <p:cNvPr id="13" name="圖片 12">
            <a:extLst>
              <a:ext uri="{FF2B5EF4-FFF2-40B4-BE49-F238E27FC236}">
                <a16:creationId xmlns:a16="http://schemas.microsoft.com/office/drawing/2014/main" id="{0846BEE1-93D8-4D5A-8A14-69D55566F6FD}"/>
              </a:ext>
            </a:extLst>
          </p:cNvPr>
          <p:cNvPicPr>
            <a:picLocks noChangeAspect="1"/>
          </p:cNvPicPr>
          <p:nvPr/>
        </p:nvPicPr>
        <p:blipFill>
          <a:blip r:embed="rId10"/>
          <a:stretch>
            <a:fillRect/>
          </a:stretch>
        </p:blipFill>
        <p:spPr>
          <a:xfrm>
            <a:off x="11105042" y="1825625"/>
            <a:ext cx="258081" cy="206464"/>
          </a:xfrm>
          <a:prstGeom prst="rect">
            <a:avLst/>
          </a:prstGeom>
        </p:spPr>
      </p:pic>
      <p:pic>
        <p:nvPicPr>
          <p:cNvPr id="16" name="圖片 15">
            <a:extLst>
              <a:ext uri="{FF2B5EF4-FFF2-40B4-BE49-F238E27FC236}">
                <a16:creationId xmlns:a16="http://schemas.microsoft.com/office/drawing/2014/main" id="{2938AEF9-613F-4C55-A238-DF395745A459}"/>
              </a:ext>
            </a:extLst>
          </p:cNvPr>
          <p:cNvPicPr>
            <a:picLocks noChangeAspect="1"/>
          </p:cNvPicPr>
          <p:nvPr/>
        </p:nvPicPr>
        <p:blipFill>
          <a:blip r:embed="rId11"/>
          <a:stretch>
            <a:fillRect/>
          </a:stretch>
        </p:blipFill>
        <p:spPr>
          <a:xfrm>
            <a:off x="11134538" y="540787"/>
            <a:ext cx="228585" cy="199090"/>
          </a:xfrm>
          <a:prstGeom prst="rect">
            <a:avLst/>
          </a:prstGeom>
        </p:spPr>
      </p:pic>
    </p:spTree>
    <p:extLst>
      <p:ext uri="{BB962C8B-B14F-4D97-AF65-F5344CB8AC3E}">
        <p14:creationId xmlns:p14="http://schemas.microsoft.com/office/powerpoint/2010/main" val="19153385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AEB5E9-BA7F-B271-86C3-1B652C8D0117}"/>
              </a:ext>
            </a:extLst>
          </p:cNvPr>
          <p:cNvSpPr>
            <a:spLocks noGrp="1"/>
          </p:cNvSpPr>
          <p:nvPr>
            <p:ph type="title"/>
          </p:nvPr>
        </p:nvSpPr>
        <p:spPr/>
        <p:txBody>
          <a:bodyPr/>
          <a:lstStyle/>
          <a:p>
            <a:r>
              <a:rPr lang="en-US" altLang="zh-TW">
                <a:latin typeface="Calibri" panose="020F0502020204030204" pitchFamily="34" charset="0"/>
                <a:ea typeface="+mn-lt"/>
                <a:cs typeface="Calibri" panose="020F0502020204030204" pitchFamily="34" charset="0"/>
              </a:rPr>
              <a:t>Related work</a:t>
            </a:r>
          </a:p>
        </p:txBody>
      </p:sp>
      <p:sp>
        <p:nvSpPr>
          <p:cNvPr id="3" name="內容版面配置區 2">
            <a:extLst>
              <a:ext uri="{FF2B5EF4-FFF2-40B4-BE49-F238E27FC236}">
                <a16:creationId xmlns:a16="http://schemas.microsoft.com/office/drawing/2014/main" id="{343E7DF7-6C79-110F-62D2-5D9AE15A6ECD}"/>
              </a:ext>
            </a:extLst>
          </p:cNvPr>
          <p:cNvSpPr>
            <a:spLocks noGrp="1"/>
          </p:cNvSpPr>
          <p:nvPr>
            <p:ph idx="1"/>
          </p:nvPr>
        </p:nvSpPr>
        <p:spPr>
          <a:xfrm>
            <a:off x="838200" y="1825625"/>
            <a:ext cx="10814824" cy="4351338"/>
          </a:xfrm>
        </p:spPr>
        <p:txBody>
          <a:bodyPr vert="horz" lIns="91440" tIns="45720" rIns="91440" bIns="45720" rtlCol="0" anchor="t">
            <a:normAutofit/>
          </a:bodyPr>
          <a:lstStyle/>
          <a:p>
            <a:r>
              <a:rPr lang="en-US" dirty="0" err="1">
                <a:solidFill>
                  <a:schemeClr val="bg1">
                    <a:lumMod val="75000"/>
                  </a:schemeClr>
                </a:solidFill>
              </a:rPr>
              <a:t>clDice</a:t>
            </a:r>
            <a:r>
              <a:rPr lang="en-US" dirty="0">
                <a:solidFill>
                  <a:schemeClr val="bg1">
                    <a:lumMod val="75000"/>
                  </a:schemeClr>
                </a:solidFill>
              </a:rPr>
              <a:t>- a Novel Topology-Preserving Loss Function for Tubular Structure Segmentation, IEEE, 2021</a:t>
            </a:r>
          </a:p>
          <a:p>
            <a:endParaRPr lang="en-US" dirty="0">
              <a:ea typeface="+mn-lt"/>
              <a:cs typeface="+mn-lt"/>
            </a:endParaRPr>
          </a:p>
          <a:p>
            <a:r>
              <a:rPr lang="en-US" dirty="0"/>
              <a:t>Centerline Boundary Dice Loss for Vascular Segmentation</a:t>
            </a:r>
            <a:r>
              <a:rPr lang="en-US" altLang="zh-TW" dirty="0"/>
              <a:t>, </a:t>
            </a:r>
            <a:r>
              <a:rPr lang="en-US" altLang="zh-TW" dirty="0" err="1"/>
              <a:t>miccai</a:t>
            </a:r>
            <a:r>
              <a:rPr lang="en-US" altLang="zh-TW" dirty="0">
                <a:ea typeface="+mn-lt"/>
                <a:cs typeface="+mn-lt"/>
              </a:rPr>
              <a:t>, 2024</a:t>
            </a:r>
            <a:endParaRPr lang="en-US" dirty="0">
              <a:ea typeface="+mn-lt"/>
              <a:cs typeface="+mn-lt"/>
            </a:endParaRPr>
          </a:p>
          <a:p>
            <a:endParaRPr lang="en-US" dirty="0">
              <a:ea typeface="+mn-lt"/>
              <a:cs typeface="+mn-lt"/>
            </a:endParaRPr>
          </a:p>
          <a:p>
            <a:pPr marL="0" indent="0">
              <a:buNone/>
            </a:pPr>
            <a:endParaRPr lang="en-US" dirty="0">
              <a:solidFill>
                <a:srgbClr val="000000"/>
              </a:solidFill>
              <a:latin typeface="Aptos" panose="020B0004020202020204"/>
              <a:ea typeface="新細明體"/>
              <a:cs typeface="Calibri" panose="020F0502020204030204" pitchFamily="34" charset="0"/>
            </a:endParaRPr>
          </a:p>
          <a:p>
            <a:endParaRPr lang="en-US" dirty="0">
              <a:solidFill>
                <a:srgbClr val="000000"/>
              </a:solidFill>
              <a:latin typeface="Aptos" panose="020B0004020202020204"/>
              <a:ea typeface="新細明體"/>
              <a:cs typeface="Calibri" panose="020F0502020204030204" pitchFamily="34" charset="0"/>
            </a:endParaRPr>
          </a:p>
          <a:p>
            <a:endParaRPr lang="en-US" altLang="zh-TW" dirty="0">
              <a:solidFill>
                <a:srgbClr val="000000"/>
              </a:solidFill>
              <a:latin typeface="Calibri" panose="020F0502020204030204" pitchFamily="34" charset="0"/>
              <a:ea typeface="新細明體"/>
              <a:cs typeface="Calibri" panose="020F0502020204030204" pitchFamily="34" charset="0"/>
            </a:endParaRPr>
          </a:p>
        </p:txBody>
      </p:sp>
      <p:sp>
        <p:nvSpPr>
          <p:cNvPr id="4" name="投影片編號版面配置區 3">
            <a:extLst>
              <a:ext uri="{FF2B5EF4-FFF2-40B4-BE49-F238E27FC236}">
                <a16:creationId xmlns:a16="http://schemas.microsoft.com/office/drawing/2014/main" id="{485C99D5-5A9D-4C64-8DDA-B95B02626C4A}"/>
              </a:ext>
            </a:extLst>
          </p:cNvPr>
          <p:cNvSpPr>
            <a:spLocks noGrp="1"/>
          </p:cNvSpPr>
          <p:nvPr>
            <p:ph type="sldNum" sz="quarter" idx="12"/>
          </p:nvPr>
        </p:nvSpPr>
        <p:spPr/>
        <p:txBody>
          <a:bodyPr/>
          <a:lstStyle/>
          <a:p>
            <a:fld id="{5B0A2E34-17E6-46B6-A0CD-23734D57E7FF}" type="slidenum">
              <a:rPr lang="zh-TW" altLang="en-US" smtClean="0"/>
              <a:t>13</a:t>
            </a:fld>
            <a:endParaRPr lang="zh-TW" altLang="en-US"/>
          </a:p>
        </p:txBody>
      </p:sp>
    </p:spTree>
    <p:extLst>
      <p:ext uri="{BB962C8B-B14F-4D97-AF65-F5344CB8AC3E}">
        <p14:creationId xmlns:p14="http://schemas.microsoft.com/office/powerpoint/2010/main" val="8137889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AEB5E9-BA7F-B271-86C3-1B652C8D0117}"/>
              </a:ext>
            </a:extLst>
          </p:cNvPr>
          <p:cNvSpPr>
            <a:spLocks noGrp="1"/>
          </p:cNvSpPr>
          <p:nvPr>
            <p:ph type="title"/>
          </p:nvPr>
        </p:nvSpPr>
        <p:spPr/>
        <p:txBody>
          <a:bodyPr/>
          <a:lstStyle/>
          <a:p>
            <a:r>
              <a:rPr lang="en-US" altLang="zh-TW" dirty="0">
                <a:latin typeface="Calibri" panose="020F0502020204030204" pitchFamily="34" charset="0"/>
                <a:ea typeface="+mn-lt"/>
                <a:cs typeface="Calibri" panose="020F0502020204030204" pitchFamily="34" charset="0"/>
              </a:rPr>
              <a:t>Related work</a:t>
            </a:r>
          </a:p>
        </p:txBody>
      </p:sp>
      <p:sp>
        <p:nvSpPr>
          <p:cNvPr id="3" name="內容版面配置區 2">
            <a:extLst>
              <a:ext uri="{FF2B5EF4-FFF2-40B4-BE49-F238E27FC236}">
                <a16:creationId xmlns:a16="http://schemas.microsoft.com/office/drawing/2014/main" id="{343E7DF7-6C79-110F-62D2-5D9AE15A6ECD}"/>
              </a:ext>
            </a:extLst>
          </p:cNvPr>
          <p:cNvSpPr>
            <a:spLocks noGrp="1"/>
          </p:cNvSpPr>
          <p:nvPr>
            <p:ph idx="1"/>
          </p:nvPr>
        </p:nvSpPr>
        <p:spPr>
          <a:xfrm>
            <a:off x="838200" y="1690688"/>
            <a:ext cx="10515600" cy="4351338"/>
          </a:xfrm>
        </p:spPr>
        <p:txBody>
          <a:bodyPr vert="horz" lIns="91440" tIns="45720" rIns="91440" bIns="45720" rtlCol="0" anchor="t">
            <a:normAutofit/>
          </a:bodyPr>
          <a:lstStyle/>
          <a:p>
            <a:r>
              <a:rPr lang="en-US" dirty="0" err="1">
                <a:latin typeface="Calibri" panose="020F0502020204030204" pitchFamily="34" charset="0"/>
                <a:ea typeface="Calibri" panose="020F0502020204030204" pitchFamily="34" charset="0"/>
                <a:cs typeface="Calibri" panose="020F0502020204030204" pitchFamily="34" charset="0"/>
              </a:rPr>
              <a:t>cbDice</a:t>
            </a:r>
            <a:r>
              <a:rPr lang="en-US" dirty="0">
                <a:latin typeface="Calibri" panose="020F0502020204030204" pitchFamily="34" charset="0"/>
                <a:ea typeface="Calibri" panose="020F0502020204030204" pitchFamily="34" charset="0"/>
                <a:cs typeface="Calibri" panose="020F0502020204030204" pitchFamily="34" charset="0"/>
              </a:rPr>
              <a:t>  </a:t>
            </a:r>
          </a:p>
          <a:p>
            <a:pPr lvl="1"/>
            <a:r>
              <a:rPr lang="en-US" altLang="zh-TW" dirty="0">
                <a:latin typeface="Calibri" panose="020F0502020204030204" pitchFamily="34" charset="0"/>
                <a:ea typeface="Calibri" panose="020F0502020204030204" pitchFamily="34" charset="0"/>
                <a:cs typeface="Calibri" panose="020F0502020204030204" pitchFamily="34" charset="0"/>
              </a:rPr>
              <a:t>Challenge</a:t>
            </a:r>
          </a:p>
          <a:p>
            <a:pPr lvl="2"/>
            <a:r>
              <a:rPr lang="en-US" altLang="zh-TW" dirty="0">
                <a:latin typeface="Calibri" panose="020F0502020204030204" pitchFamily="34" charset="0"/>
                <a:ea typeface="Calibri" panose="020F0502020204030204" pitchFamily="34" charset="0"/>
                <a:cs typeface="Calibri" panose="020F0502020204030204" pitchFamily="34" charset="0"/>
              </a:rPr>
              <a:t>preserving the topology of the vascular network to enable accurate hemodynamic analysis</a:t>
            </a:r>
          </a:p>
          <a:p>
            <a:pPr lvl="2"/>
            <a:r>
              <a:rPr lang="en-US" altLang="zh-TW" dirty="0">
                <a:latin typeface="Calibri" panose="020F0502020204030204" pitchFamily="34" charset="0"/>
                <a:ea typeface="Calibri" panose="020F0502020204030204" pitchFamily="34" charset="0"/>
                <a:cs typeface="Calibri" panose="020F0502020204030204" pitchFamily="34" charset="0"/>
              </a:rPr>
              <a:t>capturing the intricate geometric morphologies vital for the diagnosis of conditions like stenosis</a:t>
            </a:r>
          </a:p>
          <a:p>
            <a:pPr lvl="2"/>
            <a:r>
              <a:rPr lang="en-US" altLang="zh-TW" dirty="0">
                <a:latin typeface="Calibri" panose="020F0502020204030204" pitchFamily="34" charset="0"/>
                <a:ea typeface="Calibri" panose="020F0502020204030204" pitchFamily="34" charset="0"/>
                <a:cs typeface="Calibri" panose="020F0502020204030204" pitchFamily="34" charset="0"/>
              </a:rPr>
              <a:t>attaining balanced segmentation across vessel diameters and consistent width adjustments within each branch to mitigate diameter imbalance</a:t>
            </a:r>
          </a:p>
        </p:txBody>
      </p:sp>
      <p:sp>
        <p:nvSpPr>
          <p:cNvPr id="5" name="投影片編號版面配置區 4">
            <a:extLst>
              <a:ext uri="{FF2B5EF4-FFF2-40B4-BE49-F238E27FC236}">
                <a16:creationId xmlns:a16="http://schemas.microsoft.com/office/drawing/2014/main" id="{43D2A3B9-0FE1-455C-B58E-2E6AF4D70D1E}"/>
              </a:ext>
            </a:extLst>
          </p:cNvPr>
          <p:cNvSpPr>
            <a:spLocks noGrp="1"/>
          </p:cNvSpPr>
          <p:nvPr>
            <p:ph type="sldNum" sz="quarter" idx="12"/>
          </p:nvPr>
        </p:nvSpPr>
        <p:spPr/>
        <p:txBody>
          <a:bodyPr/>
          <a:lstStyle/>
          <a:p>
            <a:fld id="{5B0A2E34-17E6-46B6-A0CD-23734D57E7FF}" type="slidenum">
              <a:rPr lang="zh-TW" altLang="en-US" smtClean="0"/>
              <a:t>14</a:t>
            </a:fld>
            <a:endParaRPr lang="zh-TW" altLang="en-US"/>
          </a:p>
        </p:txBody>
      </p:sp>
      <p:pic>
        <p:nvPicPr>
          <p:cNvPr id="9" name="圖片 8">
            <a:extLst>
              <a:ext uri="{FF2B5EF4-FFF2-40B4-BE49-F238E27FC236}">
                <a16:creationId xmlns:a16="http://schemas.microsoft.com/office/drawing/2014/main" id="{5E078B58-EDEF-4874-985F-D75AFD8152B7}"/>
              </a:ext>
            </a:extLst>
          </p:cNvPr>
          <p:cNvPicPr>
            <a:picLocks noChangeAspect="1"/>
          </p:cNvPicPr>
          <p:nvPr/>
        </p:nvPicPr>
        <p:blipFill rotWithShape="1">
          <a:blip r:embed="rId3"/>
          <a:srcRect b="39607"/>
          <a:stretch/>
        </p:blipFill>
        <p:spPr>
          <a:xfrm>
            <a:off x="1644393" y="4614659"/>
            <a:ext cx="8495287" cy="2009661"/>
          </a:xfrm>
          <a:prstGeom prst="rect">
            <a:avLst/>
          </a:prstGeom>
        </p:spPr>
      </p:pic>
    </p:spTree>
    <p:extLst>
      <p:ext uri="{BB962C8B-B14F-4D97-AF65-F5344CB8AC3E}">
        <p14:creationId xmlns:p14="http://schemas.microsoft.com/office/powerpoint/2010/main" val="32771908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AEB5E9-BA7F-B271-86C3-1B652C8D0117}"/>
              </a:ext>
            </a:extLst>
          </p:cNvPr>
          <p:cNvSpPr>
            <a:spLocks noGrp="1"/>
          </p:cNvSpPr>
          <p:nvPr>
            <p:ph type="title"/>
          </p:nvPr>
        </p:nvSpPr>
        <p:spPr/>
        <p:txBody>
          <a:bodyPr/>
          <a:lstStyle/>
          <a:p>
            <a:r>
              <a:rPr lang="en-US" altLang="zh-TW">
                <a:latin typeface="Calibri" panose="020F0502020204030204" pitchFamily="34" charset="0"/>
                <a:ea typeface="+mn-lt"/>
                <a:cs typeface="Calibri" panose="020F0502020204030204" pitchFamily="34" charset="0"/>
              </a:rPr>
              <a:t>Related work</a:t>
            </a:r>
          </a:p>
        </p:txBody>
      </p:sp>
      <p:sp>
        <p:nvSpPr>
          <p:cNvPr id="3" name="內容版面配置區 2">
            <a:extLst>
              <a:ext uri="{FF2B5EF4-FFF2-40B4-BE49-F238E27FC236}">
                <a16:creationId xmlns:a16="http://schemas.microsoft.com/office/drawing/2014/main" id="{343E7DF7-6C79-110F-62D2-5D9AE15A6ECD}"/>
              </a:ext>
            </a:extLst>
          </p:cNvPr>
          <p:cNvSpPr>
            <a:spLocks noGrp="1"/>
          </p:cNvSpPr>
          <p:nvPr>
            <p:ph idx="1"/>
          </p:nvPr>
        </p:nvSpPr>
        <p:spPr>
          <a:xfrm>
            <a:off x="838200" y="1690688"/>
            <a:ext cx="10515600" cy="4351338"/>
          </a:xfrm>
        </p:spPr>
        <p:txBody>
          <a:bodyPr vert="horz" lIns="91440" tIns="45720" rIns="91440" bIns="45720" rtlCol="0" anchor="t">
            <a:normAutofit/>
          </a:bodyPr>
          <a:lstStyle/>
          <a:p>
            <a:r>
              <a:rPr lang="en-US" altLang="zh-TW" dirty="0" err="1">
                <a:latin typeface="Calibri" panose="020F0502020204030204" pitchFamily="34" charset="0"/>
                <a:ea typeface="Calibri" panose="020F0502020204030204" pitchFamily="34" charset="0"/>
                <a:cs typeface="Calibri" panose="020F0502020204030204" pitchFamily="34" charset="0"/>
              </a:rPr>
              <a:t>cbDice</a:t>
            </a:r>
            <a:r>
              <a:rPr lang="en-US" altLang="zh-TW" dirty="0">
                <a:latin typeface="Calibri" panose="020F0502020204030204" pitchFamily="34" charset="0"/>
                <a:ea typeface="Calibri" panose="020F0502020204030204" pitchFamily="34" charset="0"/>
                <a:cs typeface="Calibri" panose="020F0502020204030204" pitchFamily="34" charset="0"/>
              </a:rPr>
              <a:t> </a:t>
            </a:r>
          </a:p>
          <a:p>
            <a:pPr lvl="1"/>
            <a:r>
              <a:rPr lang="en-US" altLang="zh-TW" dirty="0"/>
              <a:t>Overall framework</a:t>
            </a:r>
          </a:p>
          <a:p>
            <a:pPr marL="457200" lvl="1" indent="0">
              <a:buNone/>
            </a:pPr>
            <a:r>
              <a:rPr lang="en-US" dirty="0"/>
              <a:t>  </a:t>
            </a:r>
          </a:p>
          <a:p>
            <a:pPr marL="1371600" lvl="3" indent="0">
              <a:buNone/>
            </a:pPr>
            <a:endParaRPr lang="en-US" altLang="zh-TW" dirty="0">
              <a:solidFill>
                <a:srgbClr val="000000"/>
              </a:solidFill>
              <a:latin typeface="Calibri" panose="020F0502020204030204" pitchFamily="34" charset="0"/>
              <a:ea typeface="新細明體"/>
              <a:cs typeface="Calibri" panose="020F0502020204030204" pitchFamily="34" charset="0"/>
            </a:endParaRPr>
          </a:p>
        </p:txBody>
      </p:sp>
      <p:sp>
        <p:nvSpPr>
          <p:cNvPr id="5" name="投影片編號版面配置區 4">
            <a:extLst>
              <a:ext uri="{FF2B5EF4-FFF2-40B4-BE49-F238E27FC236}">
                <a16:creationId xmlns:a16="http://schemas.microsoft.com/office/drawing/2014/main" id="{43D2A3B9-0FE1-455C-B58E-2E6AF4D70D1E}"/>
              </a:ext>
            </a:extLst>
          </p:cNvPr>
          <p:cNvSpPr>
            <a:spLocks noGrp="1"/>
          </p:cNvSpPr>
          <p:nvPr>
            <p:ph type="sldNum" sz="quarter" idx="12"/>
          </p:nvPr>
        </p:nvSpPr>
        <p:spPr/>
        <p:txBody>
          <a:bodyPr/>
          <a:lstStyle/>
          <a:p>
            <a:fld id="{5B0A2E34-17E6-46B6-A0CD-23734D57E7FF}" type="slidenum">
              <a:rPr lang="zh-TW" altLang="en-US" smtClean="0"/>
              <a:t>15</a:t>
            </a:fld>
            <a:endParaRPr lang="zh-TW" altLang="en-US"/>
          </a:p>
        </p:txBody>
      </p:sp>
      <p:pic>
        <p:nvPicPr>
          <p:cNvPr id="9" name="圖片 8">
            <a:extLst>
              <a:ext uri="{FF2B5EF4-FFF2-40B4-BE49-F238E27FC236}">
                <a16:creationId xmlns:a16="http://schemas.microsoft.com/office/drawing/2014/main" id="{1DD5DD32-1F4A-46F3-BF0E-E50C0E729514}"/>
              </a:ext>
            </a:extLst>
          </p:cNvPr>
          <p:cNvPicPr>
            <a:picLocks noChangeAspect="1"/>
          </p:cNvPicPr>
          <p:nvPr/>
        </p:nvPicPr>
        <p:blipFill rotWithShape="1">
          <a:blip r:embed="rId3"/>
          <a:srcRect b="18682"/>
          <a:stretch/>
        </p:blipFill>
        <p:spPr>
          <a:xfrm>
            <a:off x="2099665" y="2560474"/>
            <a:ext cx="7515715" cy="3834392"/>
          </a:xfrm>
          <a:prstGeom prst="rect">
            <a:avLst/>
          </a:prstGeom>
        </p:spPr>
      </p:pic>
    </p:spTree>
    <p:extLst>
      <p:ext uri="{BB962C8B-B14F-4D97-AF65-F5344CB8AC3E}">
        <p14:creationId xmlns:p14="http://schemas.microsoft.com/office/powerpoint/2010/main" val="22645191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343E7DF7-6C79-110F-62D2-5D9AE15A6ECD}"/>
              </a:ext>
            </a:extLst>
          </p:cNvPr>
          <p:cNvSpPr>
            <a:spLocks noGrp="1"/>
          </p:cNvSpPr>
          <p:nvPr>
            <p:ph idx="1"/>
          </p:nvPr>
        </p:nvSpPr>
        <p:spPr>
          <a:xfrm>
            <a:off x="838200" y="1690688"/>
            <a:ext cx="10515600" cy="4351338"/>
          </a:xfrm>
        </p:spPr>
        <p:txBody>
          <a:bodyPr vert="horz" lIns="91440" tIns="45720" rIns="91440" bIns="45720" rtlCol="0" anchor="t">
            <a:normAutofit/>
          </a:bodyPr>
          <a:lstStyle/>
          <a:p>
            <a:r>
              <a:rPr lang="en-US" altLang="zh-TW" dirty="0" err="1">
                <a:latin typeface="Calibri" panose="020F0502020204030204" pitchFamily="34" charset="0"/>
                <a:ea typeface="Calibri" panose="020F0502020204030204" pitchFamily="34" charset="0"/>
                <a:cs typeface="Calibri" panose="020F0502020204030204" pitchFamily="34" charset="0"/>
              </a:rPr>
              <a:t>cbDice</a:t>
            </a:r>
            <a:endParaRPr lang="en-US" altLang="zh-TW" dirty="0">
              <a:latin typeface="Calibri" panose="020F0502020204030204" pitchFamily="34" charset="0"/>
              <a:ea typeface="Calibri" panose="020F0502020204030204" pitchFamily="34" charset="0"/>
              <a:cs typeface="Calibri" panose="020F0502020204030204" pitchFamily="34" charset="0"/>
            </a:endParaRPr>
          </a:p>
          <a:p>
            <a:pPr lvl="1"/>
            <a:r>
              <a:rPr lang="en-US" dirty="0"/>
              <a:t> Preliminary</a:t>
            </a:r>
          </a:p>
          <a:p>
            <a:pPr lvl="2"/>
            <a:r>
              <a:rPr lang="en-US" dirty="0"/>
              <a:t>The mask V</a:t>
            </a:r>
          </a:p>
          <a:p>
            <a:pPr marL="914400" lvl="2" indent="0">
              <a:buNone/>
            </a:pPr>
            <a:endParaRPr lang="en-US" altLang="zh-TW" dirty="0"/>
          </a:p>
          <a:p>
            <a:pPr lvl="2"/>
            <a:r>
              <a:rPr lang="en-US" altLang="zh-TW" dirty="0"/>
              <a:t>The corresponding skeleton S, derived from V </a:t>
            </a:r>
          </a:p>
          <a:p>
            <a:pPr lvl="1"/>
            <a:endParaRPr lang="en-US" altLang="zh-TW" dirty="0"/>
          </a:p>
          <a:p>
            <a:pPr lvl="2"/>
            <a:endParaRPr lang="en-US" altLang="zh-TW" dirty="0"/>
          </a:p>
          <a:p>
            <a:pPr lvl="2"/>
            <a:r>
              <a:rPr lang="en-US" altLang="zh-TW" dirty="0" err="1"/>
              <a:t>clDice</a:t>
            </a:r>
            <a:endParaRPr lang="en-US" altLang="zh-TW" dirty="0"/>
          </a:p>
        </p:txBody>
      </p:sp>
      <p:sp>
        <p:nvSpPr>
          <p:cNvPr id="2" name="標題 1">
            <a:extLst>
              <a:ext uri="{FF2B5EF4-FFF2-40B4-BE49-F238E27FC236}">
                <a16:creationId xmlns:a16="http://schemas.microsoft.com/office/drawing/2014/main" id="{67AEB5E9-BA7F-B271-86C3-1B652C8D0117}"/>
              </a:ext>
            </a:extLst>
          </p:cNvPr>
          <p:cNvSpPr>
            <a:spLocks noGrp="1"/>
          </p:cNvSpPr>
          <p:nvPr>
            <p:ph type="title"/>
          </p:nvPr>
        </p:nvSpPr>
        <p:spPr/>
        <p:txBody>
          <a:bodyPr/>
          <a:lstStyle/>
          <a:p>
            <a:r>
              <a:rPr lang="en-US" altLang="zh-TW" dirty="0">
                <a:latin typeface="Calibri" panose="020F0502020204030204" pitchFamily="34" charset="0"/>
                <a:ea typeface="+mn-lt"/>
                <a:cs typeface="Calibri" panose="020F0502020204030204" pitchFamily="34" charset="0"/>
              </a:rPr>
              <a:t>Related work</a:t>
            </a:r>
          </a:p>
        </p:txBody>
      </p:sp>
      <p:sp>
        <p:nvSpPr>
          <p:cNvPr id="5" name="投影片編號版面配置區 4">
            <a:extLst>
              <a:ext uri="{FF2B5EF4-FFF2-40B4-BE49-F238E27FC236}">
                <a16:creationId xmlns:a16="http://schemas.microsoft.com/office/drawing/2014/main" id="{43D2A3B9-0FE1-455C-B58E-2E6AF4D70D1E}"/>
              </a:ext>
            </a:extLst>
          </p:cNvPr>
          <p:cNvSpPr>
            <a:spLocks noGrp="1"/>
          </p:cNvSpPr>
          <p:nvPr>
            <p:ph type="sldNum" sz="quarter" idx="12"/>
          </p:nvPr>
        </p:nvSpPr>
        <p:spPr/>
        <p:txBody>
          <a:bodyPr/>
          <a:lstStyle/>
          <a:p>
            <a:fld id="{5B0A2E34-17E6-46B6-A0CD-23734D57E7FF}" type="slidenum">
              <a:rPr lang="zh-TW" altLang="en-US" smtClean="0"/>
              <a:t>16</a:t>
            </a:fld>
            <a:endParaRPr lang="zh-TW" altLang="en-US"/>
          </a:p>
        </p:txBody>
      </p:sp>
      <p:pic>
        <p:nvPicPr>
          <p:cNvPr id="19" name="圖片 18">
            <a:extLst>
              <a:ext uri="{FF2B5EF4-FFF2-40B4-BE49-F238E27FC236}">
                <a16:creationId xmlns:a16="http://schemas.microsoft.com/office/drawing/2014/main" id="{1087F3DF-A816-4964-ABEE-B30C81E4347F}"/>
              </a:ext>
            </a:extLst>
          </p:cNvPr>
          <p:cNvPicPr>
            <a:picLocks noChangeAspect="1"/>
          </p:cNvPicPr>
          <p:nvPr/>
        </p:nvPicPr>
        <p:blipFill>
          <a:blip r:embed="rId3"/>
          <a:stretch>
            <a:fillRect/>
          </a:stretch>
        </p:blipFill>
        <p:spPr>
          <a:xfrm>
            <a:off x="2146939" y="4682107"/>
            <a:ext cx="7576181" cy="1674243"/>
          </a:xfrm>
          <a:prstGeom prst="rect">
            <a:avLst/>
          </a:prstGeom>
        </p:spPr>
      </p:pic>
      <p:pic>
        <p:nvPicPr>
          <p:cNvPr id="12" name="圖片 11">
            <a:extLst>
              <a:ext uri="{FF2B5EF4-FFF2-40B4-BE49-F238E27FC236}">
                <a16:creationId xmlns:a16="http://schemas.microsoft.com/office/drawing/2014/main" id="{30E00698-F418-43FB-ACD8-ADE1CF0D0BCB}"/>
              </a:ext>
            </a:extLst>
          </p:cNvPr>
          <p:cNvPicPr>
            <a:picLocks noChangeAspect="1"/>
          </p:cNvPicPr>
          <p:nvPr/>
        </p:nvPicPr>
        <p:blipFill>
          <a:blip r:embed="rId4"/>
          <a:stretch>
            <a:fillRect/>
          </a:stretch>
        </p:blipFill>
        <p:spPr>
          <a:xfrm>
            <a:off x="2326976" y="2880011"/>
            <a:ext cx="3769024" cy="301522"/>
          </a:xfrm>
          <a:prstGeom prst="rect">
            <a:avLst/>
          </a:prstGeom>
        </p:spPr>
      </p:pic>
      <p:pic>
        <p:nvPicPr>
          <p:cNvPr id="20" name="圖片 19">
            <a:extLst>
              <a:ext uri="{FF2B5EF4-FFF2-40B4-BE49-F238E27FC236}">
                <a16:creationId xmlns:a16="http://schemas.microsoft.com/office/drawing/2014/main" id="{BA1620E3-4C8D-4E87-8541-2009C3954BE1}"/>
              </a:ext>
            </a:extLst>
          </p:cNvPr>
          <p:cNvPicPr>
            <a:picLocks noChangeAspect="1"/>
          </p:cNvPicPr>
          <p:nvPr/>
        </p:nvPicPr>
        <p:blipFill>
          <a:blip r:embed="rId5"/>
          <a:stretch>
            <a:fillRect/>
          </a:stretch>
        </p:blipFill>
        <p:spPr>
          <a:xfrm>
            <a:off x="2326976" y="3641429"/>
            <a:ext cx="3962953" cy="342948"/>
          </a:xfrm>
          <a:prstGeom prst="rect">
            <a:avLst/>
          </a:prstGeom>
        </p:spPr>
      </p:pic>
    </p:spTree>
    <p:extLst>
      <p:ext uri="{BB962C8B-B14F-4D97-AF65-F5344CB8AC3E}">
        <p14:creationId xmlns:p14="http://schemas.microsoft.com/office/powerpoint/2010/main" val="37587113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AEB5E9-BA7F-B271-86C3-1B652C8D0117}"/>
              </a:ext>
            </a:extLst>
          </p:cNvPr>
          <p:cNvSpPr>
            <a:spLocks noGrp="1"/>
          </p:cNvSpPr>
          <p:nvPr>
            <p:ph type="title"/>
          </p:nvPr>
        </p:nvSpPr>
        <p:spPr/>
        <p:txBody>
          <a:bodyPr/>
          <a:lstStyle/>
          <a:p>
            <a:r>
              <a:rPr lang="en-US" altLang="zh-TW">
                <a:latin typeface="Calibri" panose="020F0502020204030204" pitchFamily="34" charset="0"/>
                <a:ea typeface="+mn-lt"/>
                <a:cs typeface="Calibri" panose="020F0502020204030204" pitchFamily="34" charset="0"/>
              </a:rPr>
              <a:t>Related work</a:t>
            </a:r>
          </a:p>
        </p:txBody>
      </p:sp>
      <p:sp>
        <p:nvSpPr>
          <p:cNvPr id="3" name="內容版面配置區 2">
            <a:extLst>
              <a:ext uri="{FF2B5EF4-FFF2-40B4-BE49-F238E27FC236}">
                <a16:creationId xmlns:a16="http://schemas.microsoft.com/office/drawing/2014/main" id="{343E7DF7-6C79-110F-62D2-5D9AE15A6ECD}"/>
              </a:ext>
            </a:extLst>
          </p:cNvPr>
          <p:cNvSpPr>
            <a:spLocks noGrp="1"/>
          </p:cNvSpPr>
          <p:nvPr>
            <p:ph idx="1"/>
          </p:nvPr>
        </p:nvSpPr>
        <p:spPr>
          <a:xfrm>
            <a:off x="838200" y="1690688"/>
            <a:ext cx="10515600" cy="4913312"/>
          </a:xfrm>
        </p:spPr>
        <p:txBody>
          <a:bodyPr vert="horz" lIns="91440" tIns="45720" rIns="91440" bIns="45720" rtlCol="0" anchor="t">
            <a:normAutofit/>
          </a:bodyPr>
          <a:lstStyle/>
          <a:p>
            <a:r>
              <a:rPr lang="en-US" altLang="zh-TW" dirty="0" err="1">
                <a:latin typeface="Calibri" panose="020F0502020204030204" pitchFamily="34" charset="0"/>
                <a:ea typeface="Calibri" panose="020F0502020204030204" pitchFamily="34" charset="0"/>
                <a:cs typeface="Calibri" panose="020F0502020204030204" pitchFamily="34" charset="0"/>
              </a:rPr>
              <a:t>cbDice</a:t>
            </a:r>
            <a:endParaRPr lang="en-US" altLang="zh-TW" dirty="0">
              <a:latin typeface="Calibri" panose="020F0502020204030204" pitchFamily="34" charset="0"/>
              <a:ea typeface="Calibri" panose="020F0502020204030204" pitchFamily="34" charset="0"/>
              <a:cs typeface="Calibri" panose="020F0502020204030204" pitchFamily="34" charset="0"/>
            </a:endParaRPr>
          </a:p>
          <a:p>
            <a:pPr lvl="1"/>
            <a:r>
              <a:rPr lang="en-US" dirty="0"/>
              <a:t>D signifies the minimum distances from q mask points in V to their respective boundaries:</a:t>
            </a:r>
          </a:p>
          <a:p>
            <a:pPr marL="457200" lvl="1" indent="0">
              <a:buNone/>
            </a:pPr>
            <a:endParaRPr lang="en-US" dirty="0"/>
          </a:p>
          <a:p>
            <a:pPr lvl="1"/>
            <a:r>
              <a:rPr lang="en-US" dirty="0"/>
              <a:t> R associated with skeletal points in S:</a:t>
            </a:r>
          </a:p>
          <a:p>
            <a:pPr lvl="1"/>
            <a:endParaRPr lang="en-US" dirty="0"/>
          </a:p>
          <a:p>
            <a:pPr lvl="1"/>
            <a:r>
              <a:rPr lang="en-US" dirty="0"/>
              <a:t>I denotes the set of inverse skeleton radius for the same n skeletal points in S</a:t>
            </a:r>
          </a:p>
          <a:p>
            <a:pPr lvl="1"/>
            <a:endParaRPr lang="en-US" dirty="0"/>
          </a:p>
          <a:p>
            <a:pPr lvl="1"/>
            <a:endParaRPr lang="en-US" dirty="0"/>
          </a:p>
          <a:p>
            <a:pPr lvl="1"/>
            <a:r>
              <a:rPr lang="en-US" dirty="0"/>
              <a:t>normalized ratios are represented as</a:t>
            </a:r>
          </a:p>
        </p:txBody>
      </p:sp>
      <p:sp>
        <p:nvSpPr>
          <p:cNvPr id="5" name="投影片編號版面配置區 4">
            <a:extLst>
              <a:ext uri="{FF2B5EF4-FFF2-40B4-BE49-F238E27FC236}">
                <a16:creationId xmlns:a16="http://schemas.microsoft.com/office/drawing/2014/main" id="{43D2A3B9-0FE1-455C-B58E-2E6AF4D70D1E}"/>
              </a:ext>
            </a:extLst>
          </p:cNvPr>
          <p:cNvSpPr>
            <a:spLocks noGrp="1"/>
          </p:cNvSpPr>
          <p:nvPr>
            <p:ph type="sldNum" sz="quarter" idx="12"/>
          </p:nvPr>
        </p:nvSpPr>
        <p:spPr/>
        <p:txBody>
          <a:bodyPr/>
          <a:lstStyle/>
          <a:p>
            <a:fld id="{5B0A2E34-17E6-46B6-A0CD-23734D57E7FF}" type="slidenum">
              <a:rPr lang="zh-TW" altLang="en-US" smtClean="0"/>
              <a:t>17</a:t>
            </a:fld>
            <a:endParaRPr lang="zh-TW" altLang="en-US"/>
          </a:p>
        </p:txBody>
      </p:sp>
      <p:pic>
        <p:nvPicPr>
          <p:cNvPr id="13" name="圖片 12">
            <a:extLst>
              <a:ext uri="{FF2B5EF4-FFF2-40B4-BE49-F238E27FC236}">
                <a16:creationId xmlns:a16="http://schemas.microsoft.com/office/drawing/2014/main" id="{FBAD4BDC-AC94-478E-B186-4CBF12567B7E}"/>
              </a:ext>
            </a:extLst>
          </p:cNvPr>
          <p:cNvPicPr>
            <a:picLocks noChangeAspect="1"/>
          </p:cNvPicPr>
          <p:nvPr/>
        </p:nvPicPr>
        <p:blipFill>
          <a:blip r:embed="rId3"/>
          <a:stretch>
            <a:fillRect/>
          </a:stretch>
        </p:blipFill>
        <p:spPr>
          <a:xfrm>
            <a:off x="1967131" y="2917035"/>
            <a:ext cx="4801270" cy="342948"/>
          </a:xfrm>
          <a:prstGeom prst="rect">
            <a:avLst/>
          </a:prstGeom>
        </p:spPr>
      </p:pic>
      <p:pic>
        <p:nvPicPr>
          <p:cNvPr id="15" name="圖片 14">
            <a:extLst>
              <a:ext uri="{FF2B5EF4-FFF2-40B4-BE49-F238E27FC236}">
                <a16:creationId xmlns:a16="http://schemas.microsoft.com/office/drawing/2014/main" id="{D7360291-1891-4964-91D6-590018E7B501}"/>
              </a:ext>
            </a:extLst>
          </p:cNvPr>
          <p:cNvPicPr>
            <a:picLocks noChangeAspect="1"/>
          </p:cNvPicPr>
          <p:nvPr/>
        </p:nvPicPr>
        <p:blipFill>
          <a:blip r:embed="rId4"/>
          <a:stretch>
            <a:fillRect/>
          </a:stretch>
        </p:blipFill>
        <p:spPr>
          <a:xfrm>
            <a:off x="1967131" y="3667409"/>
            <a:ext cx="4601217" cy="333422"/>
          </a:xfrm>
          <a:prstGeom prst="rect">
            <a:avLst/>
          </a:prstGeom>
        </p:spPr>
      </p:pic>
      <p:pic>
        <p:nvPicPr>
          <p:cNvPr id="17" name="圖片 16">
            <a:extLst>
              <a:ext uri="{FF2B5EF4-FFF2-40B4-BE49-F238E27FC236}">
                <a16:creationId xmlns:a16="http://schemas.microsoft.com/office/drawing/2014/main" id="{BC992B01-2335-4C7C-BBB3-B29B7492A522}"/>
              </a:ext>
            </a:extLst>
          </p:cNvPr>
          <p:cNvPicPr>
            <a:picLocks noChangeAspect="1"/>
          </p:cNvPicPr>
          <p:nvPr/>
        </p:nvPicPr>
        <p:blipFill>
          <a:blip r:embed="rId5"/>
          <a:stretch>
            <a:fillRect/>
          </a:stretch>
        </p:blipFill>
        <p:spPr>
          <a:xfrm>
            <a:off x="2009205" y="4496901"/>
            <a:ext cx="4086795" cy="371527"/>
          </a:xfrm>
          <a:prstGeom prst="rect">
            <a:avLst/>
          </a:prstGeom>
        </p:spPr>
      </p:pic>
      <p:pic>
        <p:nvPicPr>
          <p:cNvPr id="19" name="圖片 18">
            <a:extLst>
              <a:ext uri="{FF2B5EF4-FFF2-40B4-BE49-F238E27FC236}">
                <a16:creationId xmlns:a16="http://schemas.microsoft.com/office/drawing/2014/main" id="{4D843BC4-BE70-4B2E-8BDC-670236E463D2}"/>
              </a:ext>
            </a:extLst>
          </p:cNvPr>
          <p:cNvPicPr>
            <a:picLocks noChangeAspect="1"/>
          </p:cNvPicPr>
          <p:nvPr/>
        </p:nvPicPr>
        <p:blipFill>
          <a:blip r:embed="rId6"/>
          <a:stretch>
            <a:fillRect/>
          </a:stretch>
        </p:blipFill>
        <p:spPr>
          <a:xfrm>
            <a:off x="1906171" y="5785771"/>
            <a:ext cx="1409897" cy="447737"/>
          </a:xfrm>
          <a:prstGeom prst="rect">
            <a:avLst/>
          </a:prstGeom>
        </p:spPr>
      </p:pic>
      <p:pic>
        <p:nvPicPr>
          <p:cNvPr id="21" name="圖片 20">
            <a:extLst>
              <a:ext uri="{FF2B5EF4-FFF2-40B4-BE49-F238E27FC236}">
                <a16:creationId xmlns:a16="http://schemas.microsoft.com/office/drawing/2014/main" id="{92A61C09-DA0C-4008-AB27-3462E10AF1AF}"/>
              </a:ext>
            </a:extLst>
          </p:cNvPr>
          <p:cNvPicPr>
            <a:picLocks noChangeAspect="1"/>
          </p:cNvPicPr>
          <p:nvPr/>
        </p:nvPicPr>
        <p:blipFill>
          <a:blip r:embed="rId7"/>
          <a:stretch>
            <a:fillRect/>
          </a:stretch>
        </p:blipFill>
        <p:spPr>
          <a:xfrm>
            <a:off x="3946758" y="5785771"/>
            <a:ext cx="1209844" cy="438211"/>
          </a:xfrm>
          <a:prstGeom prst="rect">
            <a:avLst/>
          </a:prstGeom>
        </p:spPr>
      </p:pic>
      <p:pic>
        <p:nvPicPr>
          <p:cNvPr id="23" name="圖片 22">
            <a:extLst>
              <a:ext uri="{FF2B5EF4-FFF2-40B4-BE49-F238E27FC236}">
                <a16:creationId xmlns:a16="http://schemas.microsoft.com/office/drawing/2014/main" id="{DABA2A49-7455-4BA7-A794-05F934C016CD}"/>
              </a:ext>
            </a:extLst>
          </p:cNvPr>
          <p:cNvPicPr>
            <a:picLocks noChangeAspect="1"/>
          </p:cNvPicPr>
          <p:nvPr/>
        </p:nvPicPr>
        <p:blipFill>
          <a:blip r:embed="rId8"/>
          <a:stretch>
            <a:fillRect/>
          </a:stretch>
        </p:blipFill>
        <p:spPr>
          <a:xfrm>
            <a:off x="5924126" y="5785771"/>
            <a:ext cx="1371791" cy="390580"/>
          </a:xfrm>
          <a:prstGeom prst="rect">
            <a:avLst/>
          </a:prstGeom>
        </p:spPr>
      </p:pic>
    </p:spTree>
    <p:extLst>
      <p:ext uri="{BB962C8B-B14F-4D97-AF65-F5344CB8AC3E}">
        <p14:creationId xmlns:p14="http://schemas.microsoft.com/office/powerpoint/2010/main" val="368041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AEB5E9-BA7F-B271-86C3-1B652C8D0117}"/>
              </a:ext>
            </a:extLst>
          </p:cNvPr>
          <p:cNvSpPr>
            <a:spLocks noGrp="1"/>
          </p:cNvSpPr>
          <p:nvPr>
            <p:ph type="title"/>
          </p:nvPr>
        </p:nvSpPr>
        <p:spPr/>
        <p:txBody>
          <a:bodyPr/>
          <a:lstStyle/>
          <a:p>
            <a:r>
              <a:rPr lang="en-US" altLang="zh-TW">
                <a:latin typeface="Calibri" panose="020F0502020204030204" pitchFamily="34" charset="0"/>
                <a:ea typeface="+mn-lt"/>
                <a:cs typeface="Calibri" panose="020F0502020204030204" pitchFamily="34" charset="0"/>
              </a:rPr>
              <a:t>Related work</a:t>
            </a:r>
          </a:p>
        </p:txBody>
      </p:sp>
      <p:sp>
        <p:nvSpPr>
          <p:cNvPr id="3" name="內容版面配置區 2">
            <a:extLst>
              <a:ext uri="{FF2B5EF4-FFF2-40B4-BE49-F238E27FC236}">
                <a16:creationId xmlns:a16="http://schemas.microsoft.com/office/drawing/2014/main" id="{343E7DF7-6C79-110F-62D2-5D9AE15A6ECD}"/>
              </a:ext>
            </a:extLst>
          </p:cNvPr>
          <p:cNvSpPr>
            <a:spLocks noGrp="1"/>
          </p:cNvSpPr>
          <p:nvPr>
            <p:ph idx="1"/>
          </p:nvPr>
        </p:nvSpPr>
        <p:spPr>
          <a:xfrm>
            <a:off x="838200" y="1690688"/>
            <a:ext cx="10515600" cy="4351338"/>
          </a:xfrm>
        </p:spPr>
        <p:txBody>
          <a:bodyPr vert="horz" lIns="91440" tIns="45720" rIns="91440" bIns="45720" rtlCol="0" anchor="t">
            <a:normAutofit/>
          </a:bodyPr>
          <a:lstStyle/>
          <a:p>
            <a:r>
              <a:rPr lang="en-US" altLang="zh-TW" dirty="0" err="1">
                <a:latin typeface="Calibri" panose="020F0502020204030204" pitchFamily="34" charset="0"/>
                <a:ea typeface="Calibri" panose="020F0502020204030204" pitchFamily="34" charset="0"/>
                <a:cs typeface="Calibri" panose="020F0502020204030204" pitchFamily="34" charset="0"/>
              </a:rPr>
              <a:t>cbDice</a:t>
            </a:r>
            <a:endParaRPr lang="en-US" altLang="zh-TW" dirty="0">
              <a:latin typeface="Calibri" panose="020F0502020204030204" pitchFamily="34" charset="0"/>
              <a:ea typeface="Calibri" panose="020F0502020204030204" pitchFamily="34" charset="0"/>
              <a:cs typeface="Calibri" panose="020F0502020204030204" pitchFamily="34" charset="0"/>
            </a:endParaRPr>
          </a:p>
          <a:p>
            <a:endParaRPr lang="en-US" altLang="zh-TW" dirty="0">
              <a:latin typeface="Calibri" panose="020F0502020204030204" pitchFamily="34" charset="0"/>
              <a:ea typeface="Calibri" panose="020F0502020204030204" pitchFamily="34" charset="0"/>
              <a:cs typeface="Calibri" panose="020F0502020204030204" pitchFamily="34" charset="0"/>
            </a:endParaRPr>
          </a:p>
          <a:p>
            <a:r>
              <a:rPr lang="en-US" altLang="zh-TW" dirty="0">
                <a:latin typeface="Calibri" panose="020F0502020204030204" pitchFamily="34" charset="0"/>
                <a:ea typeface="Calibri" panose="020F0502020204030204" pitchFamily="34" charset="0"/>
                <a:cs typeface="Calibri" panose="020F0502020204030204" pitchFamily="34" charset="0"/>
              </a:rPr>
              <a:t>Key notations for Q are defined as:</a:t>
            </a:r>
          </a:p>
          <a:p>
            <a:pPr marL="457200" lvl="1" indent="0">
              <a:buNone/>
            </a:pPr>
            <a:endParaRPr lang="en-US" dirty="0"/>
          </a:p>
        </p:txBody>
      </p:sp>
      <p:sp>
        <p:nvSpPr>
          <p:cNvPr id="5" name="投影片編號版面配置區 4">
            <a:extLst>
              <a:ext uri="{FF2B5EF4-FFF2-40B4-BE49-F238E27FC236}">
                <a16:creationId xmlns:a16="http://schemas.microsoft.com/office/drawing/2014/main" id="{43D2A3B9-0FE1-455C-B58E-2E6AF4D70D1E}"/>
              </a:ext>
            </a:extLst>
          </p:cNvPr>
          <p:cNvSpPr>
            <a:spLocks noGrp="1"/>
          </p:cNvSpPr>
          <p:nvPr>
            <p:ph type="sldNum" sz="quarter" idx="12"/>
          </p:nvPr>
        </p:nvSpPr>
        <p:spPr/>
        <p:txBody>
          <a:bodyPr/>
          <a:lstStyle/>
          <a:p>
            <a:fld id="{5B0A2E34-17E6-46B6-A0CD-23734D57E7FF}" type="slidenum">
              <a:rPr lang="zh-TW" altLang="en-US" smtClean="0"/>
              <a:t>18</a:t>
            </a:fld>
            <a:endParaRPr lang="zh-TW" altLang="en-US"/>
          </a:p>
        </p:txBody>
      </p:sp>
      <p:pic>
        <p:nvPicPr>
          <p:cNvPr id="12" name="圖片 11">
            <a:extLst>
              <a:ext uri="{FF2B5EF4-FFF2-40B4-BE49-F238E27FC236}">
                <a16:creationId xmlns:a16="http://schemas.microsoft.com/office/drawing/2014/main" id="{086A823A-68B1-4C9D-851A-C5476E2DA501}"/>
              </a:ext>
            </a:extLst>
          </p:cNvPr>
          <p:cNvPicPr>
            <a:picLocks noChangeAspect="1"/>
          </p:cNvPicPr>
          <p:nvPr/>
        </p:nvPicPr>
        <p:blipFill>
          <a:blip r:embed="rId3"/>
          <a:stretch>
            <a:fillRect/>
          </a:stretch>
        </p:blipFill>
        <p:spPr>
          <a:xfrm>
            <a:off x="1268656" y="3912831"/>
            <a:ext cx="7884533" cy="2129195"/>
          </a:xfrm>
          <a:prstGeom prst="rect">
            <a:avLst/>
          </a:prstGeom>
        </p:spPr>
      </p:pic>
      <p:pic>
        <p:nvPicPr>
          <p:cNvPr id="6" name="圖片 5">
            <a:extLst>
              <a:ext uri="{FF2B5EF4-FFF2-40B4-BE49-F238E27FC236}">
                <a16:creationId xmlns:a16="http://schemas.microsoft.com/office/drawing/2014/main" id="{9E424284-9420-4739-861F-2623B074F180}"/>
              </a:ext>
            </a:extLst>
          </p:cNvPr>
          <p:cNvPicPr>
            <a:picLocks noChangeAspect="1"/>
          </p:cNvPicPr>
          <p:nvPr/>
        </p:nvPicPr>
        <p:blipFill>
          <a:blip r:embed="rId4"/>
          <a:stretch>
            <a:fillRect/>
          </a:stretch>
        </p:blipFill>
        <p:spPr>
          <a:xfrm>
            <a:off x="4320935" y="205490"/>
            <a:ext cx="7568045" cy="2410671"/>
          </a:xfrm>
          <a:prstGeom prst="rect">
            <a:avLst/>
          </a:prstGeom>
        </p:spPr>
      </p:pic>
      <p:pic>
        <p:nvPicPr>
          <p:cNvPr id="8" name="圖片 7">
            <a:extLst>
              <a:ext uri="{FF2B5EF4-FFF2-40B4-BE49-F238E27FC236}">
                <a16:creationId xmlns:a16="http://schemas.microsoft.com/office/drawing/2014/main" id="{B56FF972-007C-4265-980A-8B36B08633DE}"/>
              </a:ext>
            </a:extLst>
          </p:cNvPr>
          <p:cNvPicPr>
            <a:picLocks noChangeAspect="1"/>
          </p:cNvPicPr>
          <p:nvPr/>
        </p:nvPicPr>
        <p:blipFill>
          <a:blip r:embed="rId5"/>
          <a:stretch>
            <a:fillRect/>
          </a:stretch>
        </p:blipFill>
        <p:spPr>
          <a:xfrm>
            <a:off x="1380986" y="3226150"/>
            <a:ext cx="6544588" cy="323895"/>
          </a:xfrm>
          <a:prstGeom prst="rect">
            <a:avLst/>
          </a:prstGeom>
        </p:spPr>
      </p:pic>
      <p:pic>
        <p:nvPicPr>
          <p:cNvPr id="10" name="圖片 9">
            <a:extLst>
              <a:ext uri="{FF2B5EF4-FFF2-40B4-BE49-F238E27FC236}">
                <a16:creationId xmlns:a16="http://schemas.microsoft.com/office/drawing/2014/main" id="{262776FD-A031-450B-99FE-472DDEC2DA37}"/>
              </a:ext>
            </a:extLst>
          </p:cNvPr>
          <p:cNvPicPr>
            <a:picLocks noChangeAspect="1"/>
          </p:cNvPicPr>
          <p:nvPr/>
        </p:nvPicPr>
        <p:blipFill>
          <a:blip r:embed="rId6"/>
          <a:stretch>
            <a:fillRect/>
          </a:stretch>
        </p:blipFill>
        <p:spPr>
          <a:xfrm>
            <a:off x="7925574" y="3249965"/>
            <a:ext cx="2057687" cy="276264"/>
          </a:xfrm>
          <a:prstGeom prst="rect">
            <a:avLst/>
          </a:prstGeom>
        </p:spPr>
      </p:pic>
    </p:spTree>
    <p:extLst>
      <p:ext uri="{BB962C8B-B14F-4D97-AF65-F5344CB8AC3E}">
        <p14:creationId xmlns:p14="http://schemas.microsoft.com/office/powerpoint/2010/main" val="27993320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AEB5E9-BA7F-B271-86C3-1B652C8D0117}"/>
              </a:ext>
            </a:extLst>
          </p:cNvPr>
          <p:cNvSpPr>
            <a:spLocks noGrp="1"/>
          </p:cNvSpPr>
          <p:nvPr>
            <p:ph type="title"/>
          </p:nvPr>
        </p:nvSpPr>
        <p:spPr/>
        <p:txBody>
          <a:bodyPr/>
          <a:lstStyle/>
          <a:p>
            <a:r>
              <a:rPr lang="en-US" altLang="zh-TW">
                <a:latin typeface="Calibri" panose="020F0502020204030204" pitchFamily="34" charset="0"/>
                <a:ea typeface="+mj-lt"/>
                <a:cs typeface="Calibri" panose="020F0502020204030204" pitchFamily="34" charset="0"/>
              </a:rPr>
              <a:t>Method</a:t>
            </a:r>
          </a:p>
        </p:txBody>
      </p:sp>
      <p:sp>
        <p:nvSpPr>
          <p:cNvPr id="3" name="內容版面配置區 2">
            <a:extLst>
              <a:ext uri="{FF2B5EF4-FFF2-40B4-BE49-F238E27FC236}">
                <a16:creationId xmlns:a16="http://schemas.microsoft.com/office/drawing/2014/main" id="{343E7DF7-6C79-110F-62D2-5D9AE15A6ECD}"/>
              </a:ext>
            </a:extLst>
          </p:cNvPr>
          <p:cNvSpPr>
            <a:spLocks noGrp="1"/>
          </p:cNvSpPr>
          <p:nvPr>
            <p:ph idx="1"/>
          </p:nvPr>
        </p:nvSpPr>
        <p:spPr/>
        <p:txBody>
          <a:bodyPr vert="horz" lIns="91440" tIns="45720" rIns="91440" bIns="45720" rtlCol="0" anchor="t">
            <a:normAutofit/>
          </a:bodyPr>
          <a:lstStyle/>
          <a:p>
            <a:r>
              <a:rPr lang="zh-TW">
                <a:solidFill>
                  <a:schemeClr val="bg1">
                    <a:lumMod val="75000"/>
                  </a:schemeClr>
                </a:solidFill>
                <a:latin typeface="Calibri" panose="020F0502020204030204" pitchFamily="34" charset="0"/>
                <a:ea typeface="+mn-lt"/>
                <a:cs typeface="Calibri" panose="020F0502020204030204" pitchFamily="34" charset="0"/>
              </a:rPr>
              <a:t>Introduction</a:t>
            </a:r>
            <a:endParaRPr lang="zh-TW" altLang="en-US">
              <a:solidFill>
                <a:schemeClr val="bg1">
                  <a:lumMod val="75000"/>
                </a:schemeClr>
              </a:solidFill>
              <a:latin typeface="Calibri" panose="020F0502020204030204" pitchFamily="34" charset="0"/>
              <a:cs typeface="Calibri" panose="020F0502020204030204" pitchFamily="34" charset="0"/>
            </a:endParaRPr>
          </a:p>
          <a:p>
            <a:r>
              <a:rPr lang="zh-TW">
                <a:solidFill>
                  <a:schemeClr val="bg1">
                    <a:lumMod val="75000"/>
                  </a:schemeClr>
                </a:solidFill>
                <a:latin typeface="Calibri" panose="020F0502020204030204" pitchFamily="34" charset="0"/>
                <a:ea typeface="+mn-lt"/>
                <a:cs typeface="Calibri" panose="020F0502020204030204" pitchFamily="34" charset="0"/>
              </a:rPr>
              <a:t>Related work</a:t>
            </a:r>
            <a:endParaRPr lang="zh-TW">
              <a:solidFill>
                <a:schemeClr val="bg1">
                  <a:lumMod val="75000"/>
                </a:schemeClr>
              </a:solidFill>
              <a:latin typeface="Calibri" panose="020F0502020204030204" pitchFamily="34" charset="0"/>
              <a:cs typeface="Calibri" panose="020F0502020204030204" pitchFamily="34" charset="0"/>
            </a:endParaRPr>
          </a:p>
          <a:p>
            <a:r>
              <a:rPr lang="zh-TW">
                <a:latin typeface="Calibri" panose="020F0502020204030204" pitchFamily="34" charset="0"/>
                <a:ea typeface="+mn-lt"/>
                <a:cs typeface="Calibri" panose="020F0502020204030204" pitchFamily="34" charset="0"/>
              </a:rPr>
              <a:t>Method</a:t>
            </a:r>
            <a:endParaRPr lang="zh-TW">
              <a:latin typeface="Calibri" panose="020F0502020204030204" pitchFamily="34" charset="0"/>
              <a:cs typeface="Calibri" panose="020F0502020204030204" pitchFamily="34" charset="0"/>
            </a:endParaRPr>
          </a:p>
          <a:p>
            <a:r>
              <a:rPr lang="zh-TW">
                <a:solidFill>
                  <a:schemeClr val="bg1">
                    <a:lumMod val="75000"/>
                  </a:schemeClr>
                </a:solidFill>
                <a:latin typeface="Calibri" panose="020F0502020204030204" pitchFamily="34" charset="0"/>
                <a:ea typeface="+mn-lt"/>
                <a:cs typeface="Calibri" panose="020F0502020204030204" pitchFamily="34" charset="0"/>
              </a:rPr>
              <a:t>Experiments</a:t>
            </a:r>
            <a:endParaRPr lang="zh-TW">
              <a:solidFill>
                <a:schemeClr val="bg1">
                  <a:lumMod val="75000"/>
                </a:schemeClr>
              </a:solidFill>
              <a:latin typeface="Calibri" panose="020F0502020204030204" pitchFamily="34" charset="0"/>
              <a:cs typeface="Calibri" panose="020F0502020204030204" pitchFamily="34" charset="0"/>
            </a:endParaRPr>
          </a:p>
          <a:p>
            <a:r>
              <a:rPr lang="zh-TW">
                <a:solidFill>
                  <a:schemeClr val="bg1">
                    <a:lumMod val="75000"/>
                  </a:schemeClr>
                </a:solidFill>
                <a:latin typeface="Calibri" panose="020F0502020204030204" pitchFamily="34" charset="0"/>
                <a:ea typeface="+mn-lt"/>
                <a:cs typeface="Calibri" panose="020F0502020204030204" pitchFamily="34" charset="0"/>
              </a:rPr>
              <a:t>Conclusion</a:t>
            </a:r>
            <a:endParaRPr lang="en-US" altLang="zh-TW">
              <a:solidFill>
                <a:schemeClr val="bg1">
                  <a:lumMod val="75000"/>
                </a:schemeClr>
              </a:solidFill>
              <a:latin typeface="Calibri" panose="020F0502020204030204" pitchFamily="34" charset="0"/>
              <a:ea typeface="+mn-lt"/>
              <a:cs typeface="Calibri" panose="020F0502020204030204" pitchFamily="34" charset="0"/>
            </a:endParaRPr>
          </a:p>
        </p:txBody>
      </p:sp>
      <p:sp>
        <p:nvSpPr>
          <p:cNvPr id="4" name="投影片編號版面配置區 3">
            <a:extLst>
              <a:ext uri="{FF2B5EF4-FFF2-40B4-BE49-F238E27FC236}">
                <a16:creationId xmlns:a16="http://schemas.microsoft.com/office/drawing/2014/main" id="{34107DB1-5C91-4366-97B8-04984998297D}"/>
              </a:ext>
            </a:extLst>
          </p:cNvPr>
          <p:cNvSpPr>
            <a:spLocks noGrp="1"/>
          </p:cNvSpPr>
          <p:nvPr>
            <p:ph type="sldNum" sz="quarter" idx="12"/>
          </p:nvPr>
        </p:nvSpPr>
        <p:spPr/>
        <p:txBody>
          <a:bodyPr/>
          <a:lstStyle/>
          <a:p>
            <a:fld id="{5B0A2E34-17E6-46B6-A0CD-23734D57E7FF}" type="slidenum">
              <a:rPr lang="zh-TW" altLang="en-US" smtClean="0"/>
              <a:t>19</a:t>
            </a:fld>
            <a:endParaRPr lang="zh-TW" altLang="en-US"/>
          </a:p>
        </p:txBody>
      </p:sp>
    </p:spTree>
    <p:extLst>
      <p:ext uri="{BB962C8B-B14F-4D97-AF65-F5344CB8AC3E}">
        <p14:creationId xmlns:p14="http://schemas.microsoft.com/office/powerpoint/2010/main" val="1662196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內容版面配置區 2">
            <a:extLst>
              <a:ext uri="{FF2B5EF4-FFF2-40B4-BE49-F238E27FC236}">
                <a16:creationId xmlns:a16="http://schemas.microsoft.com/office/drawing/2014/main" id="{7AA3A6C1-910D-4EA3-BCB0-CAA739A03452}"/>
              </a:ext>
            </a:extLst>
          </p:cNvPr>
          <p:cNvSpPr txBox="1">
            <a:spLocks/>
          </p:cNvSpPr>
          <p:nvPr/>
        </p:nvSpPr>
        <p:spPr>
          <a:xfrm>
            <a:off x="838200" y="1825625"/>
            <a:ext cx="10886440" cy="43513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Skeleton Recall Loss</a:t>
            </a:r>
            <a:endParaRPr lang="en-US" altLang="zh-TW" dirty="0"/>
          </a:p>
          <a:p>
            <a:pPr lvl="1"/>
            <a:endParaRPr lang="en-US" altLang="zh-TW" dirty="0">
              <a:solidFill>
                <a:schemeClr val="bg1">
                  <a:lumMod val="75000"/>
                </a:schemeClr>
              </a:solidFill>
              <a:latin typeface="Calibri" panose="020F0502020204030204" pitchFamily="34" charset="0"/>
              <a:cs typeface="Calibri" panose="020F0502020204030204" pitchFamily="34" charset="0"/>
            </a:endParaRPr>
          </a:p>
          <a:p>
            <a:pPr lvl="1"/>
            <a:endParaRPr lang="en-US" altLang="zh-TW" dirty="0"/>
          </a:p>
        </p:txBody>
      </p:sp>
      <p:sp>
        <p:nvSpPr>
          <p:cNvPr id="2" name="標題 1">
            <a:extLst>
              <a:ext uri="{FF2B5EF4-FFF2-40B4-BE49-F238E27FC236}">
                <a16:creationId xmlns:a16="http://schemas.microsoft.com/office/drawing/2014/main" id="{67AEB5E9-BA7F-B271-86C3-1B652C8D0117}"/>
              </a:ext>
            </a:extLst>
          </p:cNvPr>
          <p:cNvSpPr>
            <a:spLocks noGrp="1"/>
          </p:cNvSpPr>
          <p:nvPr>
            <p:ph type="title"/>
          </p:nvPr>
        </p:nvSpPr>
        <p:spPr/>
        <p:txBody>
          <a:bodyPr/>
          <a:lstStyle/>
          <a:p>
            <a:r>
              <a:rPr lang="en-US" altLang="zh-TW">
                <a:latin typeface="Calibri" panose="020F0502020204030204" pitchFamily="34" charset="0"/>
                <a:ea typeface="+mn-lt"/>
                <a:cs typeface="Calibri" panose="020F0502020204030204" pitchFamily="34" charset="0"/>
              </a:rPr>
              <a:t>Method</a:t>
            </a:r>
          </a:p>
        </p:txBody>
      </p:sp>
      <p:sp>
        <p:nvSpPr>
          <p:cNvPr id="3" name="投影片編號版面配置區 2">
            <a:extLst>
              <a:ext uri="{FF2B5EF4-FFF2-40B4-BE49-F238E27FC236}">
                <a16:creationId xmlns:a16="http://schemas.microsoft.com/office/drawing/2014/main" id="{1EF0AE84-6734-4ADC-A85B-96CB18737581}"/>
              </a:ext>
            </a:extLst>
          </p:cNvPr>
          <p:cNvSpPr>
            <a:spLocks noGrp="1"/>
          </p:cNvSpPr>
          <p:nvPr>
            <p:ph type="sldNum" sz="quarter" idx="12"/>
          </p:nvPr>
        </p:nvSpPr>
        <p:spPr/>
        <p:txBody>
          <a:bodyPr/>
          <a:lstStyle/>
          <a:p>
            <a:fld id="{5B0A2E34-17E6-46B6-A0CD-23734D57E7FF}" type="slidenum">
              <a:rPr lang="zh-TW" altLang="en-US" smtClean="0"/>
              <a:t>20</a:t>
            </a:fld>
            <a:endParaRPr lang="zh-TW" altLang="en-US"/>
          </a:p>
        </p:txBody>
      </p:sp>
      <p:pic>
        <p:nvPicPr>
          <p:cNvPr id="8" name="圖片 7">
            <a:extLst>
              <a:ext uri="{FF2B5EF4-FFF2-40B4-BE49-F238E27FC236}">
                <a16:creationId xmlns:a16="http://schemas.microsoft.com/office/drawing/2014/main" id="{5C61A796-1362-49F6-B6C7-9E28B1116C5F}"/>
              </a:ext>
            </a:extLst>
          </p:cNvPr>
          <p:cNvPicPr>
            <a:picLocks noChangeAspect="1"/>
          </p:cNvPicPr>
          <p:nvPr/>
        </p:nvPicPr>
        <p:blipFill>
          <a:blip r:embed="rId3"/>
          <a:stretch>
            <a:fillRect/>
          </a:stretch>
        </p:blipFill>
        <p:spPr>
          <a:xfrm>
            <a:off x="5451215" y="136525"/>
            <a:ext cx="5902585" cy="4465977"/>
          </a:xfrm>
          <a:prstGeom prst="rect">
            <a:avLst/>
          </a:prstGeom>
        </p:spPr>
      </p:pic>
      <p:pic>
        <p:nvPicPr>
          <p:cNvPr id="5" name="圖片 4">
            <a:extLst>
              <a:ext uri="{FF2B5EF4-FFF2-40B4-BE49-F238E27FC236}">
                <a16:creationId xmlns:a16="http://schemas.microsoft.com/office/drawing/2014/main" id="{80ECCBAD-6536-4294-B14D-262783E2995C}"/>
              </a:ext>
            </a:extLst>
          </p:cNvPr>
          <p:cNvPicPr>
            <a:picLocks noChangeAspect="1"/>
          </p:cNvPicPr>
          <p:nvPr/>
        </p:nvPicPr>
        <p:blipFill>
          <a:blip r:embed="rId4"/>
          <a:stretch>
            <a:fillRect/>
          </a:stretch>
        </p:blipFill>
        <p:spPr>
          <a:xfrm>
            <a:off x="1417750" y="4696243"/>
            <a:ext cx="8225763" cy="2076330"/>
          </a:xfrm>
          <a:prstGeom prst="rect">
            <a:avLst/>
          </a:prstGeom>
        </p:spPr>
      </p:pic>
    </p:spTree>
    <p:extLst>
      <p:ext uri="{BB962C8B-B14F-4D97-AF65-F5344CB8AC3E}">
        <p14:creationId xmlns:p14="http://schemas.microsoft.com/office/powerpoint/2010/main" val="1303453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AEB5E9-BA7F-B271-86C3-1B652C8D0117}"/>
              </a:ext>
            </a:extLst>
          </p:cNvPr>
          <p:cNvSpPr>
            <a:spLocks noGrp="1"/>
          </p:cNvSpPr>
          <p:nvPr>
            <p:ph type="title"/>
          </p:nvPr>
        </p:nvSpPr>
        <p:spPr/>
        <p:txBody>
          <a:bodyPr/>
          <a:lstStyle/>
          <a:p>
            <a:r>
              <a:rPr lang="en-US" altLang="zh-TW" dirty="0">
                <a:latin typeface="Calibri" panose="020F0502020204030204" pitchFamily="34" charset="0"/>
                <a:ea typeface="+mn-lt"/>
                <a:cs typeface="Calibri" panose="020F0502020204030204" pitchFamily="34" charset="0"/>
              </a:rPr>
              <a:t>Method</a:t>
            </a:r>
          </a:p>
        </p:txBody>
      </p:sp>
      <p:sp>
        <p:nvSpPr>
          <p:cNvPr id="3" name="內容版面配置區 2">
            <a:extLst>
              <a:ext uri="{FF2B5EF4-FFF2-40B4-BE49-F238E27FC236}">
                <a16:creationId xmlns:a16="http://schemas.microsoft.com/office/drawing/2014/main" id="{343E7DF7-6C79-110F-62D2-5D9AE15A6ECD}"/>
              </a:ext>
            </a:extLst>
          </p:cNvPr>
          <p:cNvSpPr>
            <a:spLocks noGrp="1"/>
          </p:cNvSpPr>
          <p:nvPr>
            <p:ph idx="1"/>
          </p:nvPr>
        </p:nvSpPr>
        <p:spPr/>
        <p:txBody>
          <a:bodyPr vert="horz" lIns="91440" tIns="45720" rIns="91440" bIns="45720" rtlCol="0" anchor="t">
            <a:normAutofit/>
          </a:bodyPr>
          <a:lstStyle/>
          <a:p>
            <a:r>
              <a:rPr lang="en-US" altLang="zh-TW" dirty="0"/>
              <a:t>Soft Recall on Tubed Skeleton</a:t>
            </a:r>
          </a:p>
          <a:p>
            <a:pPr lvl="1"/>
            <a:r>
              <a:rPr lang="en-US" dirty="0"/>
              <a:t>incentivize the network to include as much of this skeleton as possible as part of the prediction.</a:t>
            </a:r>
          </a:p>
        </p:txBody>
      </p:sp>
      <p:sp>
        <p:nvSpPr>
          <p:cNvPr id="5" name="投影片編號版面配置區 4">
            <a:extLst>
              <a:ext uri="{FF2B5EF4-FFF2-40B4-BE49-F238E27FC236}">
                <a16:creationId xmlns:a16="http://schemas.microsoft.com/office/drawing/2014/main" id="{43FE86CF-577D-4071-8BC2-44B68B003E19}"/>
              </a:ext>
            </a:extLst>
          </p:cNvPr>
          <p:cNvSpPr>
            <a:spLocks noGrp="1"/>
          </p:cNvSpPr>
          <p:nvPr>
            <p:ph type="sldNum" sz="quarter" idx="12"/>
          </p:nvPr>
        </p:nvSpPr>
        <p:spPr/>
        <p:txBody>
          <a:bodyPr/>
          <a:lstStyle/>
          <a:p>
            <a:fld id="{5B0A2E34-17E6-46B6-A0CD-23734D57E7FF}" type="slidenum">
              <a:rPr lang="zh-TW" altLang="en-US" smtClean="0"/>
              <a:t>21</a:t>
            </a:fld>
            <a:endParaRPr lang="zh-TW" altLang="en-US"/>
          </a:p>
        </p:txBody>
      </p:sp>
      <p:pic>
        <p:nvPicPr>
          <p:cNvPr id="16" name="圖片 15">
            <a:extLst>
              <a:ext uri="{FF2B5EF4-FFF2-40B4-BE49-F238E27FC236}">
                <a16:creationId xmlns:a16="http://schemas.microsoft.com/office/drawing/2014/main" id="{7031BBFB-CB72-4D27-B88F-9A37DDC1E144}"/>
              </a:ext>
            </a:extLst>
          </p:cNvPr>
          <p:cNvPicPr>
            <a:picLocks noChangeAspect="1"/>
          </p:cNvPicPr>
          <p:nvPr/>
        </p:nvPicPr>
        <p:blipFill>
          <a:blip r:embed="rId3"/>
          <a:stretch>
            <a:fillRect/>
          </a:stretch>
        </p:blipFill>
        <p:spPr>
          <a:xfrm>
            <a:off x="1603779" y="3096942"/>
            <a:ext cx="7602011" cy="990738"/>
          </a:xfrm>
          <a:prstGeom prst="rect">
            <a:avLst/>
          </a:prstGeom>
        </p:spPr>
      </p:pic>
      <p:pic>
        <p:nvPicPr>
          <p:cNvPr id="6" name="圖片 5">
            <a:extLst>
              <a:ext uri="{FF2B5EF4-FFF2-40B4-BE49-F238E27FC236}">
                <a16:creationId xmlns:a16="http://schemas.microsoft.com/office/drawing/2014/main" id="{0EAC9E34-AC8F-4B24-B968-86E9CDBEAF00}"/>
              </a:ext>
            </a:extLst>
          </p:cNvPr>
          <p:cNvPicPr>
            <a:picLocks noChangeAspect="1"/>
          </p:cNvPicPr>
          <p:nvPr/>
        </p:nvPicPr>
        <p:blipFill>
          <a:blip r:embed="rId4"/>
          <a:stretch>
            <a:fillRect/>
          </a:stretch>
        </p:blipFill>
        <p:spPr>
          <a:xfrm>
            <a:off x="7003289" y="4066678"/>
            <a:ext cx="3416059" cy="2584637"/>
          </a:xfrm>
          <a:prstGeom prst="rect">
            <a:avLst/>
          </a:prstGeom>
        </p:spPr>
      </p:pic>
    </p:spTree>
    <p:extLst>
      <p:ext uri="{BB962C8B-B14F-4D97-AF65-F5344CB8AC3E}">
        <p14:creationId xmlns:p14="http://schemas.microsoft.com/office/powerpoint/2010/main" val="41377190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AEB5E9-BA7F-B271-86C3-1B652C8D0117}"/>
              </a:ext>
            </a:extLst>
          </p:cNvPr>
          <p:cNvSpPr>
            <a:spLocks noGrp="1"/>
          </p:cNvSpPr>
          <p:nvPr>
            <p:ph type="title"/>
          </p:nvPr>
        </p:nvSpPr>
        <p:spPr/>
        <p:txBody>
          <a:bodyPr/>
          <a:lstStyle/>
          <a:p>
            <a:r>
              <a:rPr lang="zh-TW">
                <a:latin typeface="Calibri" panose="020F0502020204030204" pitchFamily="34" charset="0"/>
                <a:ea typeface="+mj-lt"/>
                <a:cs typeface="Calibri" panose="020F0502020204030204" pitchFamily="34" charset="0"/>
              </a:rPr>
              <a:t>Outline</a:t>
            </a:r>
          </a:p>
        </p:txBody>
      </p:sp>
      <p:sp>
        <p:nvSpPr>
          <p:cNvPr id="3" name="內容版面配置區 2">
            <a:extLst>
              <a:ext uri="{FF2B5EF4-FFF2-40B4-BE49-F238E27FC236}">
                <a16:creationId xmlns:a16="http://schemas.microsoft.com/office/drawing/2014/main" id="{343E7DF7-6C79-110F-62D2-5D9AE15A6ECD}"/>
              </a:ext>
            </a:extLst>
          </p:cNvPr>
          <p:cNvSpPr>
            <a:spLocks noGrp="1"/>
          </p:cNvSpPr>
          <p:nvPr>
            <p:ph idx="1"/>
          </p:nvPr>
        </p:nvSpPr>
        <p:spPr/>
        <p:txBody>
          <a:bodyPr vert="horz" lIns="91440" tIns="45720" rIns="91440" bIns="45720" rtlCol="0" anchor="t">
            <a:normAutofit/>
          </a:bodyPr>
          <a:lstStyle/>
          <a:p>
            <a:r>
              <a:rPr lang="zh-TW">
                <a:solidFill>
                  <a:schemeClr val="bg1">
                    <a:lumMod val="75000"/>
                  </a:schemeClr>
                </a:solidFill>
                <a:latin typeface="Calibri" panose="020F0502020204030204" pitchFamily="34" charset="0"/>
                <a:ea typeface="+mn-lt"/>
                <a:cs typeface="Calibri" panose="020F0502020204030204" pitchFamily="34" charset="0"/>
              </a:rPr>
              <a:t>Introduction</a:t>
            </a:r>
            <a:endParaRPr lang="zh-TW" altLang="en-US">
              <a:solidFill>
                <a:schemeClr val="bg1">
                  <a:lumMod val="75000"/>
                </a:schemeClr>
              </a:solidFill>
              <a:latin typeface="Calibri" panose="020F0502020204030204" pitchFamily="34" charset="0"/>
              <a:cs typeface="Calibri" panose="020F0502020204030204" pitchFamily="34" charset="0"/>
            </a:endParaRPr>
          </a:p>
          <a:p>
            <a:r>
              <a:rPr lang="zh-TW">
                <a:solidFill>
                  <a:schemeClr val="bg1">
                    <a:lumMod val="75000"/>
                  </a:schemeClr>
                </a:solidFill>
                <a:latin typeface="Calibri" panose="020F0502020204030204" pitchFamily="34" charset="0"/>
                <a:ea typeface="+mn-lt"/>
                <a:cs typeface="Calibri" panose="020F0502020204030204" pitchFamily="34" charset="0"/>
              </a:rPr>
              <a:t>Related work</a:t>
            </a:r>
            <a:endParaRPr lang="zh-TW">
              <a:solidFill>
                <a:schemeClr val="bg1">
                  <a:lumMod val="75000"/>
                </a:schemeClr>
              </a:solidFill>
              <a:latin typeface="Calibri" panose="020F0502020204030204" pitchFamily="34" charset="0"/>
              <a:cs typeface="Calibri" panose="020F0502020204030204" pitchFamily="34" charset="0"/>
            </a:endParaRPr>
          </a:p>
          <a:p>
            <a:r>
              <a:rPr lang="zh-TW">
                <a:solidFill>
                  <a:schemeClr val="bg1">
                    <a:lumMod val="75000"/>
                  </a:schemeClr>
                </a:solidFill>
                <a:latin typeface="Calibri" panose="020F0502020204030204" pitchFamily="34" charset="0"/>
                <a:ea typeface="+mn-lt"/>
                <a:cs typeface="Calibri" panose="020F0502020204030204" pitchFamily="34" charset="0"/>
              </a:rPr>
              <a:t>Method</a:t>
            </a:r>
            <a:endParaRPr lang="zh-TW">
              <a:solidFill>
                <a:schemeClr val="bg1">
                  <a:lumMod val="75000"/>
                </a:schemeClr>
              </a:solidFill>
              <a:latin typeface="Calibri" panose="020F0502020204030204" pitchFamily="34" charset="0"/>
              <a:cs typeface="Calibri" panose="020F0502020204030204" pitchFamily="34" charset="0"/>
            </a:endParaRPr>
          </a:p>
          <a:p>
            <a:r>
              <a:rPr lang="zh-TW">
                <a:latin typeface="Calibri" panose="020F0502020204030204" pitchFamily="34" charset="0"/>
                <a:ea typeface="+mn-lt"/>
                <a:cs typeface="Calibri" panose="020F0502020204030204" pitchFamily="34" charset="0"/>
              </a:rPr>
              <a:t>Experiments</a:t>
            </a:r>
            <a:endParaRPr lang="zh-TW">
              <a:latin typeface="Calibri" panose="020F0502020204030204" pitchFamily="34" charset="0"/>
              <a:cs typeface="Calibri" panose="020F0502020204030204" pitchFamily="34" charset="0"/>
            </a:endParaRPr>
          </a:p>
          <a:p>
            <a:r>
              <a:rPr lang="zh-TW">
                <a:solidFill>
                  <a:schemeClr val="bg1">
                    <a:lumMod val="75000"/>
                  </a:schemeClr>
                </a:solidFill>
                <a:latin typeface="Calibri" panose="020F0502020204030204" pitchFamily="34" charset="0"/>
                <a:ea typeface="+mn-lt"/>
                <a:cs typeface="Calibri" panose="020F0502020204030204" pitchFamily="34" charset="0"/>
              </a:rPr>
              <a:t>Conclusion</a:t>
            </a:r>
            <a:endParaRPr lang="en-US" altLang="zh-TW">
              <a:solidFill>
                <a:schemeClr val="bg1">
                  <a:lumMod val="75000"/>
                </a:schemeClr>
              </a:solidFill>
              <a:latin typeface="Calibri" panose="020F0502020204030204" pitchFamily="34" charset="0"/>
              <a:ea typeface="+mn-lt"/>
              <a:cs typeface="Calibri" panose="020F0502020204030204" pitchFamily="34" charset="0"/>
            </a:endParaRPr>
          </a:p>
        </p:txBody>
      </p:sp>
      <p:sp>
        <p:nvSpPr>
          <p:cNvPr id="4" name="投影片編號版面配置區 3">
            <a:extLst>
              <a:ext uri="{FF2B5EF4-FFF2-40B4-BE49-F238E27FC236}">
                <a16:creationId xmlns:a16="http://schemas.microsoft.com/office/drawing/2014/main" id="{2F9268E5-493C-4460-87CE-0168F651628E}"/>
              </a:ext>
            </a:extLst>
          </p:cNvPr>
          <p:cNvSpPr>
            <a:spLocks noGrp="1"/>
          </p:cNvSpPr>
          <p:nvPr>
            <p:ph type="sldNum" sz="quarter" idx="12"/>
          </p:nvPr>
        </p:nvSpPr>
        <p:spPr/>
        <p:txBody>
          <a:bodyPr/>
          <a:lstStyle/>
          <a:p>
            <a:fld id="{5B0A2E34-17E6-46B6-A0CD-23734D57E7FF}" type="slidenum">
              <a:rPr lang="zh-TW" altLang="en-US" smtClean="0"/>
              <a:t>22</a:t>
            </a:fld>
            <a:endParaRPr lang="zh-TW" altLang="en-US"/>
          </a:p>
        </p:txBody>
      </p:sp>
    </p:spTree>
    <p:extLst>
      <p:ext uri="{BB962C8B-B14F-4D97-AF65-F5344CB8AC3E}">
        <p14:creationId xmlns:p14="http://schemas.microsoft.com/office/powerpoint/2010/main" val="31757114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AEB5E9-BA7F-B271-86C3-1B652C8D0117}"/>
              </a:ext>
            </a:extLst>
          </p:cNvPr>
          <p:cNvSpPr>
            <a:spLocks noGrp="1"/>
          </p:cNvSpPr>
          <p:nvPr>
            <p:ph type="title"/>
          </p:nvPr>
        </p:nvSpPr>
        <p:spPr/>
        <p:txBody>
          <a:bodyPr/>
          <a:lstStyle/>
          <a:p>
            <a:r>
              <a:rPr lang="en-US" altLang="zh-TW">
                <a:latin typeface="Calibri" panose="020F0502020204030204" pitchFamily="34" charset="0"/>
                <a:ea typeface="+mn-lt"/>
                <a:cs typeface="Calibri" panose="020F0502020204030204" pitchFamily="34" charset="0"/>
              </a:rPr>
              <a:t>Experiments</a:t>
            </a:r>
          </a:p>
        </p:txBody>
      </p:sp>
      <p:sp>
        <p:nvSpPr>
          <p:cNvPr id="3" name="內容版面配置區 2">
            <a:extLst>
              <a:ext uri="{FF2B5EF4-FFF2-40B4-BE49-F238E27FC236}">
                <a16:creationId xmlns:a16="http://schemas.microsoft.com/office/drawing/2014/main" id="{343E7DF7-6C79-110F-62D2-5D9AE15A6ECD}"/>
              </a:ext>
            </a:extLst>
          </p:cNvPr>
          <p:cNvSpPr>
            <a:spLocks noGrp="1"/>
          </p:cNvSpPr>
          <p:nvPr>
            <p:ph idx="1"/>
          </p:nvPr>
        </p:nvSpPr>
        <p:spPr/>
        <p:txBody>
          <a:bodyPr vert="horz" lIns="91440" tIns="45720" rIns="91440" bIns="45720" rtlCol="0" anchor="t">
            <a:normAutofit/>
          </a:bodyPr>
          <a:lstStyle/>
          <a:p>
            <a:r>
              <a:rPr lang="en-US" altLang="zh-TW" dirty="0">
                <a:solidFill>
                  <a:srgbClr val="000000"/>
                </a:solidFill>
                <a:latin typeface="Calibri" panose="020F0502020204030204" pitchFamily="34" charset="0"/>
                <a:cs typeface="Calibri" panose="020F0502020204030204" pitchFamily="34" charset="0"/>
              </a:rPr>
              <a:t>Datasets</a:t>
            </a:r>
          </a:p>
          <a:p>
            <a:pPr lvl="1"/>
            <a:r>
              <a:rPr lang="en-US" dirty="0"/>
              <a:t>Roads </a:t>
            </a:r>
          </a:p>
          <a:p>
            <a:pPr lvl="1"/>
            <a:r>
              <a:rPr lang="en-US" dirty="0"/>
              <a:t>DRIVE </a:t>
            </a:r>
          </a:p>
          <a:p>
            <a:pPr lvl="1"/>
            <a:r>
              <a:rPr lang="en-US" dirty="0"/>
              <a:t>Cracks </a:t>
            </a:r>
          </a:p>
          <a:p>
            <a:pPr lvl="1"/>
            <a:r>
              <a:rPr lang="en-US" dirty="0" err="1"/>
              <a:t>ToothFairy</a:t>
            </a:r>
            <a:r>
              <a:rPr lang="en-US" dirty="0"/>
              <a:t> </a:t>
            </a:r>
          </a:p>
          <a:p>
            <a:pPr lvl="1"/>
            <a:r>
              <a:rPr lang="en-US" dirty="0" err="1"/>
              <a:t>TopCoW</a:t>
            </a:r>
            <a:endParaRPr lang="en-US" dirty="0"/>
          </a:p>
          <a:p>
            <a:r>
              <a:rPr lang="en-US" dirty="0"/>
              <a:t>Evaluation Metrics</a:t>
            </a:r>
          </a:p>
          <a:p>
            <a:pPr lvl="1"/>
            <a:r>
              <a:rPr lang="en-US" dirty="0" err="1"/>
              <a:t>clDice</a:t>
            </a:r>
            <a:r>
              <a:rPr lang="en-US" dirty="0"/>
              <a:t> (↑)</a:t>
            </a:r>
          </a:p>
          <a:p>
            <a:pPr lvl="1"/>
            <a:r>
              <a:rPr lang="en-US" altLang="zh-TW" dirty="0"/>
              <a:t>Dice(↑)</a:t>
            </a:r>
            <a:endParaRPr lang="en-US" dirty="0"/>
          </a:p>
          <a:p>
            <a:pPr lvl="1" fontAlgn="base"/>
            <a:r>
              <a:rPr lang="en-US" dirty="0" err="1"/>
              <a:t>Betti</a:t>
            </a:r>
            <a:r>
              <a:rPr lang="en-US" dirty="0"/>
              <a:t> Number Errors(</a:t>
            </a:r>
            <a:r>
              <a:rPr lang="zh-TW" altLang="en-US" dirty="0"/>
              <a:t>↓</a:t>
            </a:r>
            <a:r>
              <a:rPr lang="en-US" dirty="0"/>
              <a:t>)</a:t>
            </a:r>
          </a:p>
        </p:txBody>
      </p:sp>
      <p:sp>
        <p:nvSpPr>
          <p:cNvPr id="4" name="投影片編號版面配置區 3">
            <a:extLst>
              <a:ext uri="{FF2B5EF4-FFF2-40B4-BE49-F238E27FC236}">
                <a16:creationId xmlns:a16="http://schemas.microsoft.com/office/drawing/2014/main" id="{7D8BAABB-D7D2-4C97-9A72-DE8ED2EBA063}"/>
              </a:ext>
            </a:extLst>
          </p:cNvPr>
          <p:cNvSpPr>
            <a:spLocks noGrp="1"/>
          </p:cNvSpPr>
          <p:nvPr>
            <p:ph type="sldNum" sz="quarter" idx="12"/>
          </p:nvPr>
        </p:nvSpPr>
        <p:spPr/>
        <p:txBody>
          <a:bodyPr/>
          <a:lstStyle/>
          <a:p>
            <a:fld id="{5B0A2E34-17E6-46B6-A0CD-23734D57E7FF}" type="slidenum">
              <a:rPr lang="zh-TW" altLang="en-US" smtClean="0"/>
              <a:t>23</a:t>
            </a:fld>
            <a:endParaRPr lang="zh-TW" altLang="en-US"/>
          </a:p>
        </p:txBody>
      </p:sp>
      <p:pic>
        <p:nvPicPr>
          <p:cNvPr id="7" name="圖片 6">
            <a:extLst>
              <a:ext uri="{FF2B5EF4-FFF2-40B4-BE49-F238E27FC236}">
                <a16:creationId xmlns:a16="http://schemas.microsoft.com/office/drawing/2014/main" id="{18D443EA-FA8D-4BD0-A860-828E2D0F37D4}"/>
              </a:ext>
            </a:extLst>
          </p:cNvPr>
          <p:cNvPicPr>
            <a:picLocks noChangeAspect="1"/>
          </p:cNvPicPr>
          <p:nvPr/>
        </p:nvPicPr>
        <p:blipFill>
          <a:blip r:embed="rId3"/>
          <a:stretch>
            <a:fillRect/>
          </a:stretch>
        </p:blipFill>
        <p:spPr>
          <a:xfrm>
            <a:off x="4925606" y="2189003"/>
            <a:ext cx="7112362" cy="1661637"/>
          </a:xfrm>
          <a:prstGeom prst="rect">
            <a:avLst/>
          </a:prstGeom>
        </p:spPr>
      </p:pic>
    </p:spTree>
    <p:extLst>
      <p:ext uri="{BB962C8B-B14F-4D97-AF65-F5344CB8AC3E}">
        <p14:creationId xmlns:p14="http://schemas.microsoft.com/office/powerpoint/2010/main" val="38648724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AEB5E9-BA7F-B271-86C3-1B652C8D0117}"/>
              </a:ext>
            </a:extLst>
          </p:cNvPr>
          <p:cNvSpPr>
            <a:spLocks noGrp="1"/>
          </p:cNvSpPr>
          <p:nvPr>
            <p:ph type="title"/>
          </p:nvPr>
        </p:nvSpPr>
        <p:spPr>
          <a:xfrm>
            <a:off x="665480" y="194333"/>
            <a:ext cx="10515600" cy="1325563"/>
          </a:xfrm>
        </p:spPr>
        <p:txBody>
          <a:bodyPr/>
          <a:lstStyle/>
          <a:p>
            <a:r>
              <a:rPr lang="en-US" altLang="zh-TW" dirty="0">
                <a:latin typeface="Calibri" panose="020F0502020204030204" pitchFamily="34" charset="0"/>
                <a:ea typeface="+mn-lt"/>
                <a:cs typeface="Calibri" panose="020F0502020204030204" pitchFamily="34" charset="0"/>
              </a:rPr>
              <a:t>Experiments</a:t>
            </a:r>
          </a:p>
        </p:txBody>
      </p:sp>
      <p:sp>
        <p:nvSpPr>
          <p:cNvPr id="3" name="內容版面配置區 2">
            <a:extLst>
              <a:ext uri="{FF2B5EF4-FFF2-40B4-BE49-F238E27FC236}">
                <a16:creationId xmlns:a16="http://schemas.microsoft.com/office/drawing/2014/main" id="{343E7DF7-6C79-110F-62D2-5D9AE15A6ECD}"/>
              </a:ext>
            </a:extLst>
          </p:cNvPr>
          <p:cNvSpPr>
            <a:spLocks noGrp="1"/>
          </p:cNvSpPr>
          <p:nvPr>
            <p:ph idx="1"/>
          </p:nvPr>
        </p:nvSpPr>
        <p:spPr>
          <a:xfrm>
            <a:off x="838200" y="1175385"/>
            <a:ext cx="10515600" cy="4351338"/>
          </a:xfrm>
        </p:spPr>
        <p:txBody>
          <a:bodyPr vert="horz" lIns="91440" tIns="45720" rIns="91440" bIns="45720" rtlCol="0" anchor="t">
            <a:normAutofit/>
          </a:bodyPr>
          <a:lstStyle/>
          <a:p>
            <a:r>
              <a:rPr lang="en-US" dirty="0"/>
              <a:t>Comparison with the state-of-the-art models</a:t>
            </a:r>
            <a:endParaRPr lang="en-US" altLang="zh-TW" dirty="0">
              <a:solidFill>
                <a:srgbClr val="000000"/>
              </a:solidFill>
              <a:latin typeface="Calibri" panose="020F0502020204030204" pitchFamily="34" charset="0"/>
              <a:cs typeface="Calibri" panose="020F0502020204030204" pitchFamily="34" charset="0"/>
            </a:endParaRPr>
          </a:p>
        </p:txBody>
      </p:sp>
      <p:sp>
        <p:nvSpPr>
          <p:cNvPr id="5" name="投影片編號版面配置區 4">
            <a:extLst>
              <a:ext uri="{FF2B5EF4-FFF2-40B4-BE49-F238E27FC236}">
                <a16:creationId xmlns:a16="http://schemas.microsoft.com/office/drawing/2014/main" id="{66FEC477-2349-4C7F-9496-B4A45EBD08FD}"/>
              </a:ext>
            </a:extLst>
          </p:cNvPr>
          <p:cNvSpPr>
            <a:spLocks noGrp="1"/>
          </p:cNvSpPr>
          <p:nvPr>
            <p:ph type="sldNum" sz="quarter" idx="12"/>
          </p:nvPr>
        </p:nvSpPr>
        <p:spPr/>
        <p:txBody>
          <a:bodyPr/>
          <a:lstStyle/>
          <a:p>
            <a:fld id="{5B0A2E34-17E6-46B6-A0CD-23734D57E7FF}" type="slidenum">
              <a:rPr lang="zh-TW" altLang="en-US" smtClean="0"/>
              <a:t>24</a:t>
            </a:fld>
            <a:endParaRPr lang="zh-TW" altLang="en-US"/>
          </a:p>
        </p:txBody>
      </p:sp>
      <p:pic>
        <p:nvPicPr>
          <p:cNvPr id="7" name="圖片 6">
            <a:extLst>
              <a:ext uri="{FF2B5EF4-FFF2-40B4-BE49-F238E27FC236}">
                <a16:creationId xmlns:a16="http://schemas.microsoft.com/office/drawing/2014/main" id="{18D0E341-3F92-4344-AFC3-64BF5CD3053F}"/>
              </a:ext>
            </a:extLst>
          </p:cNvPr>
          <p:cNvPicPr>
            <a:picLocks noChangeAspect="1"/>
          </p:cNvPicPr>
          <p:nvPr/>
        </p:nvPicPr>
        <p:blipFill>
          <a:blip r:embed="rId3"/>
          <a:stretch>
            <a:fillRect/>
          </a:stretch>
        </p:blipFill>
        <p:spPr>
          <a:xfrm>
            <a:off x="2660998" y="1519896"/>
            <a:ext cx="6676042" cy="5338104"/>
          </a:xfrm>
          <a:prstGeom prst="rect">
            <a:avLst/>
          </a:prstGeom>
        </p:spPr>
      </p:pic>
    </p:spTree>
    <p:extLst>
      <p:ext uri="{BB962C8B-B14F-4D97-AF65-F5344CB8AC3E}">
        <p14:creationId xmlns:p14="http://schemas.microsoft.com/office/powerpoint/2010/main" val="31011450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AEB5E9-BA7F-B271-86C3-1B652C8D0117}"/>
              </a:ext>
            </a:extLst>
          </p:cNvPr>
          <p:cNvSpPr>
            <a:spLocks noGrp="1"/>
          </p:cNvSpPr>
          <p:nvPr>
            <p:ph type="title"/>
          </p:nvPr>
        </p:nvSpPr>
        <p:spPr/>
        <p:txBody>
          <a:bodyPr/>
          <a:lstStyle/>
          <a:p>
            <a:r>
              <a:rPr lang="en-US" altLang="zh-TW">
                <a:latin typeface="Calibri" panose="020F0502020204030204" pitchFamily="34" charset="0"/>
                <a:ea typeface="+mn-lt"/>
                <a:cs typeface="Calibri" panose="020F0502020204030204" pitchFamily="34" charset="0"/>
              </a:rPr>
              <a:t>Experiments</a:t>
            </a:r>
          </a:p>
        </p:txBody>
      </p:sp>
      <p:sp>
        <p:nvSpPr>
          <p:cNvPr id="4" name="投影片編號版面配置區 3">
            <a:extLst>
              <a:ext uri="{FF2B5EF4-FFF2-40B4-BE49-F238E27FC236}">
                <a16:creationId xmlns:a16="http://schemas.microsoft.com/office/drawing/2014/main" id="{B0456031-B563-4FCD-A00F-3F29A599ADA2}"/>
              </a:ext>
            </a:extLst>
          </p:cNvPr>
          <p:cNvSpPr>
            <a:spLocks noGrp="1"/>
          </p:cNvSpPr>
          <p:nvPr>
            <p:ph type="sldNum" sz="quarter" idx="12"/>
          </p:nvPr>
        </p:nvSpPr>
        <p:spPr/>
        <p:txBody>
          <a:bodyPr/>
          <a:lstStyle/>
          <a:p>
            <a:fld id="{5B0A2E34-17E6-46B6-A0CD-23734D57E7FF}" type="slidenum">
              <a:rPr lang="zh-TW" altLang="en-US" smtClean="0"/>
              <a:t>25</a:t>
            </a:fld>
            <a:endParaRPr lang="zh-TW" altLang="en-US"/>
          </a:p>
        </p:txBody>
      </p:sp>
      <p:pic>
        <p:nvPicPr>
          <p:cNvPr id="9" name="圖片 8">
            <a:extLst>
              <a:ext uri="{FF2B5EF4-FFF2-40B4-BE49-F238E27FC236}">
                <a16:creationId xmlns:a16="http://schemas.microsoft.com/office/drawing/2014/main" id="{81B7D7E6-1803-4A92-9359-7258E588989D}"/>
              </a:ext>
            </a:extLst>
          </p:cNvPr>
          <p:cNvPicPr>
            <a:picLocks noChangeAspect="1"/>
          </p:cNvPicPr>
          <p:nvPr/>
        </p:nvPicPr>
        <p:blipFill>
          <a:blip r:embed="rId3"/>
          <a:stretch>
            <a:fillRect/>
          </a:stretch>
        </p:blipFill>
        <p:spPr>
          <a:xfrm>
            <a:off x="5811521" y="171323"/>
            <a:ext cx="6217920" cy="6321552"/>
          </a:xfrm>
          <a:prstGeom prst="rect">
            <a:avLst/>
          </a:prstGeom>
        </p:spPr>
      </p:pic>
      <p:sp>
        <p:nvSpPr>
          <p:cNvPr id="11" name="文字方塊 10">
            <a:extLst>
              <a:ext uri="{FF2B5EF4-FFF2-40B4-BE49-F238E27FC236}">
                <a16:creationId xmlns:a16="http://schemas.microsoft.com/office/drawing/2014/main" id="{12B507EF-2E84-4D9F-9961-832A88CA4D22}"/>
              </a:ext>
            </a:extLst>
          </p:cNvPr>
          <p:cNvSpPr txBox="1"/>
          <p:nvPr/>
        </p:nvSpPr>
        <p:spPr>
          <a:xfrm>
            <a:off x="716280" y="1496814"/>
            <a:ext cx="5095241" cy="867930"/>
          </a:xfrm>
          <a:prstGeom prst="rect">
            <a:avLst/>
          </a:prstGeom>
        </p:spPr>
        <p:txBody>
          <a:bodyPr vert="horz" lIns="91440" tIns="45720" rIns="91440" bIns="45720" rtlCol="0" anchor="t">
            <a:normAutofit/>
          </a:bodyPr>
          <a:lstStyle>
            <a:lvl1pPr marL="228600" indent="-228600">
              <a:lnSpc>
                <a:spcPct val="90000"/>
              </a:lnSpc>
              <a:spcBef>
                <a:spcPts val="1000"/>
              </a:spcBef>
              <a:buFont typeface="Arial" panose="020B0604020202020204" pitchFamily="34" charset="0"/>
              <a:buChar char="•"/>
              <a:defRPr sz="28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TW" dirty="0"/>
              <a:t>Connectivity conservation in qualitative results on 5 datasets</a:t>
            </a:r>
            <a:endParaRPr lang="zh-TW" altLang="en-US" dirty="0"/>
          </a:p>
        </p:txBody>
      </p:sp>
    </p:spTree>
    <p:extLst>
      <p:ext uri="{BB962C8B-B14F-4D97-AF65-F5344CB8AC3E}">
        <p14:creationId xmlns:p14="http://schemas.microsoft.com/office/powerpoint/2010/main" val="40985899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AEB5E9-BA7F-B271-86C3-1B652C8D0117}"/>
              </a:ext>
            </a:extLst>
          </p:cNvPr>
          <p:cNvSpPr>
            <a:spLocks noGrp="1"/>
          </p:cNvSpPr>
          <p:nvPr>
            <p:ph type="title"/>
          </p:nvPr>
        </p:nvSpPr>
        <p:spPr/>
        <p:txBody>
          <a:bodyPr/>
          <a:lstStyle/>
          <a:p>
            <a:r>
              <a:rPr lang="en-US" altLang="zh-TW" dirty="0">
                <a:latin typeface="Calibri" panose="020F0502020204030204" pitchFamily="34" charset="0"/>
                <a:ea typeface="+mn-lt"/>
                <a:cs typeface="Calibri" panose="020F0502020204030204" pitchFamily="34" charset="0"/>
              </a:rPr>
              <a:t>Experiments</a:t>
            </a:r>
          </a:p>
        </p:txBody>
      </p:sp>
      <p:sp>
        <p:nvSpPr>
          <p:cNvPr id="3" name="內容版面配置區 2">
            <a:extLst>
              <a:ext uri="{FF2B5EF4-FFF2-40B4-BE49-F238E27FC236}">
                <a16:creationId xmlns:a16="http://schemas.microsoft.com/office/drawing/2014/main" id="{343E7DF7-6C79-110F-62D2-5D9AE15A6ECD}"/>
              </a:ext>
            </a:extLst>
          </p:cNvPr>
          <p:cNvSpPr>
            <a:spLocks noGrp="1"/>
          </p:cNvSpPr>
          <p:nvPr>
            <p:ph idx="1"/>
          </p:nvPr>
        </p:nvSpPr>
        <p:spPr/>
        <p:txBody>
          <a:bodyPr vert="horz" lIns="91440" tIns="45720" rIns="91440" bIns="45720" rtlCol="0" anchor="t">
            <a:normAutofit/>
          </a:bodyPr>
          <a:lstStyle/>
          <a:p>
            <a:r>
              <a:rPr lang="en-US" dirty="0"/>
              <a:t>Skeleton</a:t>
            </a:r>
            <a:r>
              <a:rPr lang="zh-TW" altLang="en-US" dirty="0"/>
              <a:t> </a:t>
            </a:r>
            <a:r>
              <a:rPr lang="en-US" dirty="0"/>
              <a:t>Recall</a:t>
            </a:r>
            <a:r>
              <a:rPr lang="zh-TW" altLang="en-US" dirty="0"/>
              <a:t> </a:t>
            </a:r>
            <a:r>
              <a:rPr lang="en-US" dirty="0"/>
              <a:t>Loss</a:t>
            </a:r>
            <a:r>
              <a:rPr lang="zh-TW" altLang="en-US" dirty="0"/>
              <a:t> </a:t>
            </a:r>
            <a:r>
              <a:rPr lang="en-US" dirty="0"/>
              <a:t>is</a:t>
            </a:r>
            <a:r>
              <a:rPr lang="zh-TW" altLang="en-US" dirty="0"/>
              <a:t> </a:t>
            </a:r>
            <a:r>
              <a:rPr lang="en-US" dirty="0"/>
              <a:t>architecture</a:t>
            </a:r>
            <a:r>
              <a:rPr lang="zh-TW" altLang="en-US" dirty="0"/>
              <a:t> </a:t>
            </a:r>
            <a:r>
              <a:rPr lang="en-US" dirty="0"/>
              <a:t>agnostic.</a:t>
            </a:r>
          </a:p>
        </p:txBody>
      </p:sp>
      <p:sp>
        <p:nvSpPr>
          <p:cNvPr id="4" name="投影片編號版面配置區 3">
            <a:extLst>
              <a:ext uri="{FF2B5EF4-FFF2-40B4-BE49-F238E27FC236}">
                <a16:creationId xmlns:a16="http://schemas.microsoft.com/office/drawing/2014/main" id="{B0456031-B563-4FCD-A00F-3F29A599ADA2}"/>
              </a:ext>
            </a:extLst>
          </p:cNvPr>
          <p:cNvSpPr>
            <a:spLocks noGrp="1"/>
          </p:cNvSpPr>
          <p:nvPr>
            <p:ph type="sldNum" sz="quarter" idx="12"/>
          </p:nvPr>
        </p:nvSpPr>
        <p:spPr/>
        <p:txBody>
          <a:bodyPr/>
          <a:lstStyle/>
          <a:p>
            <a:fld id="{5B0A2E34-17E6-46B6-A0CD-23734D57E7FF}" type="slidenum">
              <a:rPr lang="zh-TW" altLang="en-US" smtClean="0"/>
              <a:t>26</a:t>
            </a:fld>
            <a:endParaRPr lang="zh-TW" altLang="en-US"/>
          </a:p>
        </p:txBody>
      </p:sp>
      <p:pic>
        <p:nvPicPr>
          <p:cNvPr id="7" name="圖片 6">
            <a:extLst>
              <a:ext uri="{FF2B5EF4-FFF2-40B4-BE49-F238E27FC236}">
                <a16:creationId xmlns:a16="http://schemas.microsoft.com/office/drawing/2014/main" id="{CD2405FE-6ED1-48A4-989B-A59FE37EA696}"/>
              </a:ext>
            </a:extLst>
          </p:cNvPr>
          <p:cNvPicPr>
            <a:picLocks noChangeAspect="1"/>
          </p:cNvPicPr>
          <p:nvPr/>
        </p:nvPicPr>
        <p:blipFill>
          <a:blip r:embed="rId3"/>
          <a:stretch>
            <a:fillRect/>
          </a:stretch>
        </p:blipFill>
        <p:spPr>
          <a:xfrm>
            <a:off x="2386476" y="2550918"/>
            <a:ext cx="7609287" cy="3016761"/>
          </a:xfrm>
          <a:prstGeom prst="rect">
            <a:avLst/>
          </a:prstGeom>
        </p:spPr>
      </p:pic>
    </p:spTree>
    <p:extLst>
      <p:ext uri="{BB962C8B-B14F-4D97-AF65-F5344CB8AC3E}">
        <p14:creationId xmlns:p14="http://schemas.microsoft.com/office/powerpoint/2010/main" val="9924521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AEB5E9-BA7F-B271-86C3-1B652C8D0117}"/>
              </a:ext>
            </a:extLst>
          </p:cNvPr>
          <p:cNvSpPr>
            <a:spLocks noGrp="1"/>
          </p:cNvSpPr>
          <p:nvPr>
            <p:ph type="title"/>
          </p:nvPr>
        </p:nvSpPr>
        <p:spPr/>
        <p:txBody>
          <a:bodyPr/>
          <a:lstStyle/>
          <a:p>
            <a:r>
              <a:rPr lang="en-US" altLang="zh-TW">
                <a:latin typeface="Calibri" panose="020F0502020204030204" pitchFamily="34" charset="0"/>
                <a:ea typeface="+mn-lt"/>
                <a:cs typeface="Calibri" panose="020F0502020204030204" pitchFamily="34" charset="0"/>
              </a:rPr>
              <a:t>Experiments</a:t>
            </a:r>
          </a:p>
        </p:txBody>
      </p:sp>
      <p:sp>
        <p:nvSpPr>
          <p:cNvPr id="3" name="內容版面配置區 2">
            <a:extLst>
              <a:ext uri="{FF2B5EF4-FFF2-40B4-BE49-F238E27FC236}">
                <a16:creationId xmlns:a16="http://schemas.microsoft.com/office/drawing/2014/main" id="{343E7DF7-6C79-110F-62D2-5D9AE15A6ECD}"/>
              </a:ext>
            </a:extLst>
          </p:cNvPr>
          <p:cNvSpPr>
            <a:spLocks noGrp="1"/>
          </p:cNvSpPr>
          <p:nvPr>
            <p:ph idx="1"/>
          </p:nvPr>
        </p:nvSpPr>
        <p:spPr/>
        <p:txBody>
          <a:bodyPr vert="horz" lIns="91440" tIns="45720" rIns="91440" bIns="45720" rtlCol="0" anchor="t">
            <a:normAutofit/>
          </a:bodyPr>
          <a:lstStyle/>
          <a:p>
            <a:r>
              <a:rPr lang="en-US" dirty="0"/>
              <a:t>Efficient</a:t>
            </a:r>
            <a:r>
              <a:rPr lang="zh-TW" altLang="en-US" dirty="0"/>
              <a:t> </a:t>
            </a:r>
            <a:r>
              <a:rPr lang="en-US" dirty="0"/>
              <a:t>Resource</a:t>
            </a:r>
            <a:r>
              <a:rPr lang="zh-TW" altLang="en-US" dirty="0"/>
              <a:t> </a:t>
            </a:r>
            <a:r>
              <a:rPr lang="en-US" dirty="0"/>
              <a:t>Utilization for</a:t>
            </a:r>
            <a:r>
              <a:rPr lang="zh-TW" altLang="en-US" dirty="0"/>
              <a:t> </a:t>
            </a:r>
            <a:r>
              <a:rPr lang="en-US" dirty="0"/>
              <a:t>Binary</a:t>
            </a:r>
            <a:r>
              <a:rPr lang="zh-TW" altLang="en-US" dirty="0"/>
              <a:t> </a:t>
            </a:r>
            <a:r>
              <a:rPr lang="en-US" dirty="0"/>
              <a:t>Segmentation.</a:t>
            </a:r>
            <a:endParaRPr lang="zh-TW" dirty="0">
              <a:solidFill>
                <a:schemeClr val="bg1">
                  <a:lumMod val="75000"/>
                </a:schemeClr>
              </a:solidFill>
              <a:latin typeface="Calibri" panose="020F0502020204030204" pitchFamily="34" charset="0"/>
              <a:cs typeface="Calibri" panose="020F0502020204030204" pitchFamily="34" charset="0"/>
            </a:endParaRPr>
          </a:p>
        </p:txBody>
      </p:sp>
      <p:sp>
        <p:nvSpPr>
          <p:cNvPr id="4" name="投影片編號版面配置區 3">
            <a:extLst>
              <a:ext uri="{FF2B5EF4-FFF2-40B4-BE49-F238E27FC236}">
                <a16:creationId xmlns:a16="http://schemas.microsoft.com/office/drawing/2014/main" id="{B0456031-B563-4FCD-A00F-3F29A599ADA2}"/>
              </a:ext>
            </a:extLst>
          </p:cNvPr>
          <p:cNvSpPr>
            <a:spLocks noGrp="1"/>
          </p:cNvSpPr>
          <p:nvPr>
            <p:ph type="sldNum" sz="quarter" idx="12"/>
          </p:nvPr>
        </p:nvSpPr>
        <p:spPr/>
        <p:txBody>
          <a:bodyPr/>
          <a:lstStyle/>
          <a:p>
            <a:fld id="{5B0A2E34-17E6-46B6-A0CD-23734D57E7FF}" type="slidenum">
              <a:rPr lang="zh-TW" altLang="en-US" smtClean="0"/>
              <a:t>27</a:t>
            </a:fld>
            <a:endParaRPr lang="zh-TW" altLang="en-US"/>
          </a:p>
        </p:txBody>
      </p:sp>
      <p:pic>
        <p:nvPicPr>
          <p:cNvPr id="7" name="圖片 6">
            <a:extLst>
              <a:ext uri="{FF2B5EF4-FFF2-40B4-BE49-F238E27FC236}">
                <a16:creationId xmlns:a16="http://schemas.microsoft.com/office/drawing/2014/main" id="{0E17149E-28EB-4216-B6BA-A95E52F2872F}"/>
              </a:ext>
            </a:extLst>
          </p:cNvPr>
          <p:cNvPicPr>
            <a:picLocks noChangeAspect="1"/>
          </p:cNvPicPr>
          <p:nvPr/>
        </p:nvPicPr>
        <p:blipFill>
          <a:blip r:embed="rId3"/>
          <a:stretch>
            <a:fillRect/>
          </a:stretch>
        </p:blipFill>
        <p:spPr>
          <a:xfrm>
            <a:off x="2086929" y="2763520"/>
            <a:ext cx="8463742" cy="3132161"/>
          </a:xfrm>
          <a:prstGeom prst="rect">
            <a:avLst/>
          </a:prstGeom>
        </p:spPr>
      </p:pic>
    </p:spTree>
    <p:extLst>
      <p:ext uri="{BB962C8B-B14F-4D97-AF65-F5344CB8AC3E}">
        <p14:creationId xmlns:p14="http://schemas.microsoft.com/office/powerpoint/2010/main" val="24729270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AEB5E9-BA7F-B271-86C3-1B652C8D0117}"/>
              </a:ext>
            </a:extLst>
          </p:cNvPr>
          <p:cNvSpPr>
            <a:spLocks noGrp="1"/>
          </p:cNvSpPr>
          <p:nvPr>
            <p:ph type="title"/>
          </p:nvPr>
        </p:nvSpPr>
        <p:spPr/>
        <p:txBody>
          <a:bodyPr/>
          <a:lstStyle/>
          <a:p>
            <a:r>
              <a:rPr lang="en-US" altLang="zh-TW">
                <a:latin typeface="Calibri" panose="020F0502020204030204" pitchFamily="34" charset="0"/>
                <a:ea typeface="+mn-lt"/>
                <a:cs typeface="Calibri" panose="020F0502020204030204" pitchFamily="34" charset="0"/>
              </a:rPr>
              <a:t>Experiments</a:t>
            </a:r>
          </a:p>
        </p:txBody>
      </p:sp>
      <p:sp>
        <p:nvSpPr>
          <p:cNvPr id="3" name="內容版面配置區 2">
            <a:extLst>
              <a:ext uri="{FF2B5EF4-FFF2-40B4-BE49-F238E27FC236}">
                <a16:creationId xmlns:a16="http://schemas.microsoft.com/office/drawing/2014/main" id="{343E7DF7-6C79-110F-62D2-5D9AE15A6ECD}"/>
              </a:ext>
            </a:extLst>
          </p:cNvPr>
          <p:cNvSpPr>
            <a:spLocks noGrp="1"/>
          </p:cNvSpPr>
          <p:nvPr>
            <p:ph idx="1"/>
          </p:nvPr>
        </p:nvSpPr>
        <p:spPr>
          <a:xfrm>
            <a:off x="1041400" y="1429550"/>
            <a:ext cx="9138920" cy="651985"/>
          </a:xfrm>
        </p:spPr>
        <p:txBody>
          <a:bodyPr vert="horz" lIns="91440" tIns="45720" rIns="91440" bIns="45720" rtlCol="0" anchor="t">
            <a:normAutofit/>
          </a:bodyPr>
          <a:lstStyle/>
          <a:p>
            <a:r>
              <a:rPr lang="en-US" dirty="0"/>
              <a:t>Resource Utilization for Multi-class Segmentation</a:t>
            </a:r>
            <a:endParaRPr lang="zh-TW" dirty="0">
              <a:solidFill>
                <a:schemeClr val="bg1">
                  <a:lumMod val="75000"/>
                </a:schemeClr>
              </a:solidFill>
              <a:latin typeface="Calibri" panose="020F0502020204030204" pitchFamily="34" charset="0"/>
              <a:cs typeface="Calibri" panose="020F0502020204030204" pitchFamily="34" charset="0"/>
            </a:endParaRPr>
          </a:p>
        </p:txBody>
      </p:sp>
      <p:sp>
        <p:nvSpPr>
          <p:cNvPr id="4" name="投影片編號版面配置區 3">
            <a:extLst>
              <a:ext uri="{FF2B5EF4-FFF2-40B4-BE49-F238E27FC236}">
                <a16:creationId xmlns:a16="http://schemas.microsoft.com/office/drawing/2014/main" id="{B0456031-B563-4FCD-A00F-3F29A599ADA2}"/>
              </a:ext>
            </a:extLst>
          </p:cNvPr>
          <p:cNvSpPr>
            <a:spLocks noGrp="1"/>
          </p:cNvSpPr>
          <p:nvPr>
            <p:ph type="sldNum" sz="quarter" idx="12"/>
          </p:nvPr>
        </p:nvSpPr>
        <p:spPr/>
        <p:txBody>
          <a:bodyPr/>
          <a:lstStyle/>
          <a:p>
            <a:fld id="{5B0A2E34-17E6-46B6-A0CD-23734D57E7FF}" type="slidenum">
              <a:rPr lang="zh-TW" altLang="en-US" smtClean="0"/>
              <a:t>28</a:t>
            </a:fld>
            <a:endParaRPr lang="zh-TW" altLang="en-US"/>
          </a:p>
        </p:txBody>
      </p:sp>
      <p:pic>
        <p:nvPicPr>
          <p:cNvPr id="9" name="圖片 8">
            <a:extLst>
              <a:ext uri="{FF2B5EF4-FFF2-40B4-BE49-F238E27FC236}">
                <a16:creationId xmlns:a16="http://schemas.microsoft.com/office/drawing/2014/main" id="{128BBE62-8021-42DA-BFB0-5D54B4F64585}"/>
              </a:ext>
            </a:extLst>
          </p:cNvPr>
          <p:cNvPicPr>
            <a:picLocks noChangeAspect="1"/>
          </p:cNvPicPr>
          <p:nvPr/>
        </p:nvPicPr>
        <p:blipFill>
          <a:blip r:embed="rId3"/>
          <a:stretch>
            <a:fillRect/>
          </a:stretch>
        </p:blipFill>
        <p:spPr>
          <a:xfrm>
            <a:off x="2743201" y="1991846"/>
            <a:ext cx="6244126" cy="4729629"/>
          </a:xfrm>
          <a:prstGeom prst="rect">
            <a:avLst/>
          </a:prstGeom>
        </p:spPr>
      </p:pic>
    </p:spTree>
    <p:extLst>
      <p:ext uri="{BB962C8B-B14F-4D97-AF65-F5344CB8AC3E}">
        <p14:creationId xmlns:p14="http://schemas.microsoft.com/office/powerpoint/2010/main" val="5001327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AEB5E9-BA7F-B271-86C3-1B652C8D0117}"/>
              </a:ext>
            </a:extLst>
          </p:cNvPr>
          <p:cNvSpPr>
            <a:spLocks noGrp="1"/>
          </p:cNvSpPr>
          <p:nvPr>
            <p:ph type="title"/>
          </p:nvPr>
        </p:nvSpPr>
        <p:spPr/>
        <p:txBody>
          <a:bodyPr/>
          <a:lstStyle/>
          <a:p>
            <a:r>
              <a:rPr lang="zh-TW">
                <a:latin typeface="Calibri" panose="020F0502020204030204" pitchFamily="34" charset="0"/>
                <a:ea typeface="+mj-lt"/>
                <a:cs typeface="Calibri" panose="020F0502020204030204" pitchFamily="34" charset="0"/>
              </a:rPr>
              <a:t>Outline</a:t>
            </a:r>
          </a:p>
        </p:txBody>
      </p:sp>
      <p:sp>
        <p:nvSpPr>
          <p:cNvPr id="3" name="內容版面配置區 2">
            <a:extLst>
              <a:ext uri="{FF2B5EF4-FFF2-40B4-BE49-F238E27FC236}">
                <a16:creationId xmlns:a16="http://schemas.microsoft.com/office/drawing/2014/main" id="{343E7DF7-6C79-110F-62D2-5D9AE15A6ECD}"/>
              </a:ext>
            </a:extLst>
          </p:cNvPr>
          <p:cNvSpPr>
            <a:spLocks noGrp="1"/>
          </p:cNvSpPr>
          <p:nvPr>
            <p:ph idx="1"/>
          </p:nvPr>
        </p:nvSpPr>
        <p:spPr/>
        <p:txBody>
          <a:bodyPr vert="horz" lIns="91440" tIns="45720" rIns="91440" bIns="45720" rtlCol="0" anchor="t">
            <a:normAutofit/>
          </a:bodyPr>
          <a:lstStyle/>
          <a:p>
            <a:r>
              <a:rPr lang="zh-TW">
                <a:solidFill>
                  <a:schemeClr val="bg1">
                    <a:lumMod val="75000"/>
                  </a:schemeClr>
                </a:solidFill>
                <a:latin typeface="Calibri" panose="020F0502020204030204" pitchFamily="34" charset="0"/>
                <a:ea typeface="+mn-lt"/>
                <a:cs typeface="Calibri" panose="020F0502020204030204" pitchFamily="34" charset="0"/>
              </a:rPr>
              <a:t>Introduction</a:t>
            </a:r>
            <a:endParaRPr lang="zh-TW" altLang="en-US">
              <a:solidFill>
                <a:schemeClr val="bg1">
                  <a:lumMod val="75000"/>
                </a:schemeClr>
              </a:solidFill>
              <a:latin typeface="Calibri" panose="020F0502020204030204" pitchFamily="34" charset="0"/>
              <a:cs typeface="Calibri" panose="020F0502020204030204" pitchFamily="34" charset="0"/>
            </a:endParaRPr>
          </a:p>
          <a:p>
            <a:r>
              <a:rPr lang="zh-TW">
                <a:solidFill>
                  <a:schemeClr val="bg1">
                    <a:lumMod val="75000"/>
                  </a:schemeClr>
                </a:solidFill>
                <a:latin typeface="Calibri" panose="020F0502020204030204" pitchFamily="34" charset="0"/>
                <a:ea typeface="+mn-lt"/>
                <a:cs typeface="Calibri" panose="020F0502020204030204" pitchFamily="34" charset="0"/>
              </a:rPr>
              <a:t>Related work</a:t>
            </a:r>
            <a:endParaRPr lang="zh-TW">
              <a:solidFill>
                <a:schemeClr val="bg1">
                  <a:lumMod val="75000"/>
                </a:schemeClr>
              </a:solidFill>
              <a:latin typeface="Calibri" panose="020F0502020204030204" pitchFamily="34" charset="0"/>
              <a:cs typeface="Calibri" panose="020F0502020204030204" pitchFamily="34" charset="0"/>
            </a:endParaRPr>
          </a:p>
          <a:p>
            <a:r>
              <a:rPr lang="zh-TW">
                <a:solidFill>
                  <a:schemeClr val="bg1">
                    <a:lumMod val="75000"/>
                  </a:schemeClr>
                </a:solidFill>
                <a:latin typeface="Calibri" panose="020F0502020204030204" pitchFamily="34" charset="0"/>
                <a:ea typeface="+mn-lt"/>
                <a:cs typeface="Calibri" panose="020F0502020204030204" pitchFamily="34" charset="0"/>
              </a:rPr>
              <a:t>Method</a:t>
            </a:r>
            <a:endParaRPr lang="zh-TW">
              <a:solidFill>
                <a:schemeClr val="bg1">
                  <a:lumMod val="75000"/>
                </a:schemeClr>
              </a:solidFill>
              <a:latin typeface="Calibri" panose="020F0502020204030204" pitchFamily="34" charset="0"/>
              <a:cs typeface="Calibri" panose="020F0502020204030204" pitchFamily="34" charset="0"/>
            </a:endParaRPr>
          </a:p>
          <a:p>
            <a:r>
              <a:rPr lang="zh-TW">
                <a:solidFill>
                  <a:schemeClr val="bg1">
                    <a:lumMod val="75000"/>
                  </a:schemeClr>
                </a:solidFill>
                <a:latin typeface="Calibri" panose="020F0502020204030204" pitchFamily="34" charset="0"/>
                <a:ea typeface="+mn-lt"/>
                <a:cs typeface="Calibri" panose="020F0502020204030204" pitchFamily="34" charset="0"/>
              </a:rPr>
              <a:t>Experiments</a:t>
            </a:r>
            <a:endParaRPr lang="zh-TW">
              <a:solidFill>
                <a:schemeClr val="bg1">
                  <a:lumMod val="75000"/>
                </a:schemeClr>
              </a:solidFill>
              <a:latin typeface="Calibri" panose="020F0502020204030204" pitchFamily="34" charset="0"/>
              <a:cs typeface="Calibri" panose="020F0502020204030204" pitchFamily="34" charset="0"/>
            </a:endParaRPr>
          </a:p>
          <a:p>
            <a:r>
              <a:rPr lang="zh-TW">
                <a:latin typeface="Calibri" panose="020F0502020204030204" pitchFamily="34" charset="0"/>
                <a:ea typeface="+mn-lt"/>
                <a:cs typeface="Calibri" panose="020F0502020204030204" pitchFamily="34" charset="0"/>
              </a:rPr>
              <a:t>Conclusion</a:t>
            </a:r>
            <a:endParaRPr lang="en-US" altLang="zh-TW">
              <a:latin typeface="Calibri" panose="020F0502020204030204" pitchFamily="34" charset="0"/>
              <a:ea typeface="+mn-lt"/>
              <a:cs typeface="Calibri" panose="020F0502020204030204" pitchFamily="34" charset="0"/>
            </a:endParaRPr>
          </a:p>
        </p:txBody>
      </p:sp>
      <p:sp>
        <p:nvSpPr>
          <p:cNvPr id="4" name="投影片編號版面配置區 3">
            <a:extLst>
              <a:ext uri="{FF2B5EF4-FFF2-40B4-BE49-F238E27FC236}">
                <a16:creationId xmlns:a16="http://schemas.microsoft.com/office/drawing/2014/main" id="{8EDCE734-A389-4DDF-A033-E82C3D0EB90C}"/>
              </a:ext>
            </a:extLst>
          </p:cNvPr>
          <p:cNvSpPr>
            <a:spLocks noGrp="1"/>
          </p:cNvSpPr>
          <p:nvPr>
            <p:ph type="sldNum" sz="quarter" idx="12"/>
          </p:nvPr>
        </p:nvSpPr>
        <p:spPr/>
        <p:txBody>
          <a:bodyPr/>
          <a:lstStyle/>
          <a:p>
            <a:fld id="{5B0A2E34-17E6-46B6-A0CD-23734D57E7FF}" type="slidenum">
              <a:rPr lang="zh-TW" altLang="en-US" smtClean="0"/>
              <a:t>29</a:t>
            </a:fld>
            <a:endParaRPr lang="zh-TW" altLang="en-US"/>
          </a:p>
        </p:txBody>
      </p:sp>
    </p:spTree>
    <p:extLst>
      <p:ext uri="{BB962C8B-B14F-4D97-AF65-F5344CB8AC3E}">
        <p14:creationId xmlns:p14="http://schemas.microsoft.com/office/powerpoint/2010/main" val="40795901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AEB5E9-BA7F-B271-86C3-1B652C8D0117}"/>
              </a:ext>
            </a:extLst>
          </p:cNvPr>
          <p:cNvSpPr>
            <a:spLocks noGrp="1"/>
          </p:cNvSpPr>
          <p:nvPr>
            <p:ph type="title"/>
          </p:nvPr>
        </p:nvSpPr>
        <p:spPr/>
        <p:txBody>
          <a:bodyPr/>
          <a:lstStyle/>
          <a:p>
            <a:r>
              <a:rPr lang="en-US" altLang="zh-TW" dirty="0">
                <a:latin typeface="Calibri" panose="020F0502020204030204" pitchFamily="34" charset="0"/>
                <a:ea typeface="+mn-lt"/>
                <a:cs typeface="Calibri" panose="020F0502020204030204" pitchFamily="34" charset="0"/>
              </a:rPr>
              <a:t>Conclusion</a:t>
            </a:r>
          </a:p>
        </p:txBody>
      </p:sp>
      <p:sp>
        <p:nvSpPr>
          <p:cNvPr id="3" name="內容版面配置區 2">
            <a:extLst>
              <a:ext uri="{FF2B5EF4-FFF2-40B4-BE49-F238E27FC236}">
                <a16:creationId xmlns:a16="http://schemas.microsoft.com/office/drawing/2014/main" id="{343E7DF7-6C79-110F-62D2-5D9AE15A6ECD}"/>
              </a:ext>
            </a:extLst>
          </p:cNvPr>
          <p:cNvSpPr>
            <a:spLocks noGrp="1"/>
          </p:cNvSpPr>
          <p:nvPr>
            <p:ph idx="1"/>
          </p:nvPr>
        </p:nvSpPr>
        <p:spPr/>
        <p:txBody>
          <a:bodyPr vert="horz" lIns="91440" tIns="45720" rIns="91440" bIns="45720" rtlCol="0" anchor="t">
            <a:normAutofit/>
          </a:bodyPr>
          <a:lstStyle/>
          <a:p>
            <a:pPr lvl="1"/>
            <a:r>
              <a:rPr lang="en-US" altLang="zh-TW" dirty="0"/>
              <a:t>Demonstrating that Skeleton Recall Loss shows overall superior performance on existing state-of-the-art topology-aware loss functions through extensive evaluation on five publicly available datasets</a:t>
            </a:r>
          </a:p>
          <a:p>
            <a:pPr lvl="1"/>
            <a:endParaRPr lang="en-US" altLang="zh-TW" dirty="0"/>
          </a:p>
          <a:p>
            <a:pPr lvl="1"/>
            <a:r>
              <a:rPr lang="en-US" altLang="zh-TW" dirty="0"/>
              <a:t>Skeleton Recall Loss represents a significant advancement in the field of thin structure segmentation, offering both efficiency and efficacy.</a:t>
            </a:r>
          </a:p>
          <a:p>
            <a:pPr lvl="1"/>
            <a:endParaRPr lang="en-US" altLang="zh-TW" dirty="0"/>
          </a:p>
          <a:p>
            <a:pPr marL="457200" lvl="1" indent="0">
              <a:buNone/>
            </a:pPr>
            <a:endParaRPr lang="en-US" altLang="zh-TW" dirty="0"/>
          </a:p>
          <a:p>
            <a:pPr lvl="1"/>
            <a:endParaRPr lang="en-US" altLang="zh-TW" dirty="0"/>
          </a:p>
        </p:txBody>
      </p:sp>
      <p:sp>
        <p:nvSpPr>
          <p:cNvPr id="4" name="投影片編號版面配置區 3">
            <a:extLst>
              <a:ext uri="{FF2B5EF4-FFF2-40B4-BE49-F238E27FC236}">
                <a16:creationId xmlns:a16="http://schemas.microsoft.com/office/drawing/2014/main" id="{D4E4CF3C-49A3-4C4F-9919-51BAE4D86F4D}"/>
              </a:ext>
            </a:extLst>
          </p:cNvPr>
          <p:cNvSpPr>
            <a:spLocks noGrp="1"/>
          </p:cNvSpPr>
          <p:nvPr>
            <p:ph type="sldNum" sz="quarter" idx="12"/>
          </p:nvPr>
        </p:nvSpPr>
        <p:spPr/>
        <p:txBody>
          <a:bodyPr/>
          <a:lstStyle/>
          <a:p>
            <a:fld id="{5B0A2E34-17E6-46B6-A0CD-23734D57E7FF}" type="slidenum">
              <a:rPr lang="zh-TW" altLang="en-US" smtClean="0"/>
              <a:t>30</a:t>
            </a:fld>
            <a:endParaRPr lang="zh-TW" altLang="en-US" dirty="0"/>
          </a:p>
        </p:txBody>
      </p:sp>
    </p:spTree>
    <p:extLst>
      <p:ext uri="{BB962C8B-B14F-4D97-AF65-F5344CB8AC3E}">
        <p14:creationId xmlns:p14="http://schemas.microsoft.com/office/powerpoint/2010/main" val="31823333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44759AF-C0D6-4129-951A-BD50AB26B0E9}"/>
              </a:ext>
            </a:extLst>
          </p:cNvPr>
          <p:cNvSpPr>
            <a:spLocks noGrp="1"/>
          </p:cNvSpPr>
          <p:nvPr>
            <p:ph type="ctrTitle"/>
          </p:nvPr>
        </p:nvSpPr>
        <p:spPr>
          <a:xfrm>
            <a:off x="1524000" y="1748970"/>
            <a:ext cx="9144000" cy="2387600"/>
          </a:xfrm>
        </p:spPr>
        <p:txBody>
          <a:bodyPr/>
          <a:lstStyle/>
          <a:p>
            <a:r>
              <a:rPr lang="en-US" dirty="0">
                <a:solidFill>
                  <a:schemeClr val="tx1">
                    <a:lumMod val="65000"/>
                    <a:lumOff val="35000"/>
                  </a:schemeClr>
                </a:solidFill>
                <a:latin typeface="Calibri" panose="020F0502020204030204" pitchFamily="34" charset="0"/>
                <a:cs typeface="Calibri" panose="020F0502020204030204" pitchFamily="34" charset="0"/>
              </a:rPr>
              <a:t>THE END</a:t>
            </a:r>
          </a:p>
        </p:txBody>
      </p:sp>
      <p:cxnSp>
        <p:nvCxnSpPr>
          <p:cNvPr id="5" name="直線接點 4">
            <a:extLst>
              <a:ext uri="{FF2B5EF4-FFF2-40B4-BE49-F238E27FC236}">
                <a16:creationId xmlns:a16="http://schemas.microsoft.com/office/drawing/2014/main" id="{7180EBF6-1708-4FC7-A2AF-77C4323C827B}"/>
              </a:ext>
            </a:extLst>
          </p:cNvPr>
          <p:cNvCxnSpPr/>
          <p:nvPr/>
        </p:nvCxnSpPr>
        <p:spPr>
          <a:xfrm>
            <a:off x="1621971" y="4136570"/>
            <a:ext cx="9231086" cy="0"/>
          </a:xfrm>
          <a:prstGeom prst="line">
            <a:avLst/>
          </a:prstGeom>
          <a:ln w="19050">
            <a:solidFill>
              <a:schemeClr val="tx1">
                <a:lumMod val="65000"/>
                <a:lumOff val="3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5774262"/>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651</TotalTime>
  <Words>2613</Words>
  <Application>Microsoft Office PowerPoint</Application>
  <PresentationFormat>寬螢幕</PresentationFormat>
  <Paragraphs>302</Paragraphs>
  <Slides>31</Slides>
  <Notes>29</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31</vt:i4>
      </vt:variant>
    </vt:vector>
  </HeadingPairs>
  <TitlesOfParts>
    <vt:vector size="37" baseType="lpstr">
      <vt:lpstr>Aptos</vt:lpstr>
      <vt:lpstr>Aptos Display</vt:lpstr>
      <vt:lpstr>Arial</vt:lpstr>
      <vt:lpstr>Calibri</vt:lpstr>
      <vt:lpstr>Segoe UI</vt:lpstr>
      <vt:lpstr>Office 佈景主題</vt:lpstr>
      <vt:lpstr>Skeleton Recall Loss for Connectivity Conserving and Resource Efficient Segmentation of Thin Tubular Structures</vt:lpstr>
      <vt:lpstr>Outline</vt:lpstr>
      <vt:lpstr>Outline</vt:lpstr>
      <vt:lpstr>Introduction</vt:lpstr>
      <vt:lpstr>Introduction</vt:lpstr>
      <vt:lpstr>Introduction</vt:lpstr>
      <vt:lpstr>Outline</vt:lpstr>
      <vt:lpstr>Related work</vt:lpstr>
      <vt:lpstr>Related work</vt:lpstr>
      <vt:lpstr>Related work</vt:lpstr>
      <vt:lpstr>Related work</vt:lpstr>
      <vt:lpstr>Related work</vt:lpstr>
      <vt:lpstr>Related work</vt:lpstr>
      <vt:lpstr>Related work</vt:lpstr>
      <vt:lpstr>Related work</vt:lpstr>
      <vt:lpstr>Related work</vt:lpstr>
      <vt:lpstr>Related work</vt:lpstr>
      <vt:lpstr>Related work</vt:lpstr>
      <vt:lpstr>Method</vt:lpstr>
      <vt:lpstr>Method</vt:lpstr>
      <vt:lpstr>Method</vt:lpstr>
      <vt:lpstr>Outline</vt:lpstr>
      <vt:lpstr>Experiments</vt:lpstr>
      <vt:lpstr>Experiments</vt:lpstr>
      <vt:lpstr>Experiments</vt:lpstr>
      <vt:lpstr>Experiments</vt:lpstr>
      <vt:lpstr>Experiments</vt:lpstr>
      <vt:lpstr>Experiments</vt:lpstr>
      <vt:lpstr>Outline</vt:lpstr>
      <vt:lpstr>Conclusion</vt:lpstr>
      <vt:lpstr>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CCY</dc:creator>
  <cp:lastModifiedBy>佳渝</cp:lastModifiedBy>
  <cp:revision>76</cp:revision>
  <dcterms:created xsi:type="dcterms:W3CDTF">2024-04-21T14:54:50Z</dcterms:created>
  <dcterms:modified xsi:type="dcterms:W3CDTF">2025-02-25T07:47:23Z</dcterms:modified>
</cp:coreProperties>
</file>