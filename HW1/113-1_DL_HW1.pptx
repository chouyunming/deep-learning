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59" r:id="rId4"/>
    <p:sldId id="262" r:id="rId5"/>
    <p:sldId id="260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C50B92-9E1E-E4D5-91CC-D58FB93B8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22EF694-CBA2-5389-166B-BFC67F73AF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15DDA6-97C2-62C3-9F77-95FB6333D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5999A-79CD-4EAF-896E-4DF0B810984A}" type="datetimeFigureOut">
              <a:rPr lang="zh-TW" altLang="en-US" smtClean="0"/>
              <a:t>2024/10/7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8077C4-1F3A-1E3F-26D3-4D8AF099B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4FE8B54-7AEE-6B33-E4CA-E87A63D76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9254-5E34-43FC-BBB7-68C1467EF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2566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54FA8E-9BF0-82D2-1CA1-546670CD0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EEA425-6F7F-518A-CFF0-25D917FD8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28D4E2B-1845-9D12-B8C4-1B78D33E1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5999A-79CD-4EAF-896E-4DF0B810984A}" type="datetimeFigureOut">
              <a:rPr lang="zh-TW" altLang="en-US" smtClean="0"/>
              <a:t>2024/10/7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8EB9B26-C03F-2E14-F0F9-89728217C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6319195-2CF0-C30A-5800-41F051423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9254-5E34-43FC-BBB7-68C1467EF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8104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A87B83-0C5C-B174-B770-F0C4073F0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507C68A-C5C7-7050-A556-8D5FE47C4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4C7BD4-A0C0-7E65-61E4-3ADE793A7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5999A-79CD-4EAF-896E-4DF0B810984A}" type="datetimeFigureOut">
              <a:rPr lang="zh-TW" altLang="en-US" smtClean="0"/>
              <a:t>2024/10/7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0FE713-4849-215D-3331-74D4C8305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5B0DD0-3956-30EA-6A78-C75A8BEB5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9254-5E34-43FC-BBB7-68C1467EF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7761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61F938-7AE7-6690-0A09-BED61465A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6E1382-A0B9-33C5-CAD4-C61D0B857D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B0CB6BD-D428-CDA5-08C2-3648F3258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C57F622-C1B9-1806-321D-24A2A305E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5999A-79CD-4EAF-896E-4DF0B810984A}" type="datetimeFigureOut">
              <a:rPr lang="zh-TW" altLang="en-US" smtClean="0"/>
              <a:t>2024/10/7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00CD542-1489-2519-9FA4-41761BC99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511769D-C907-54FA-D215-C02EFAFDB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9254-5E34-43FC-BBB7-68C1467EF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9930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594F35-BDDB-3249-C6A5-3D69536CF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0A6ED82-0CB2-83F9-691F-48E8146D9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81EB156-0342-82E1-0B7E-F76D0C2E9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0CE9671-4A53-7266-82AB-CA7E9A9AA2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E01EEFF-8B3D-50E4-7325-E056079C90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A4E5E3E-E177-6800-1130-1F8516842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5999A-79CD-4EAF-896E-4DF0B810984A}" type="datetimeFigureOut">
              <a:rPr lang="zh-TW" altLang="en-US" smtClean="0"/>
              <a:t>2024/10/7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45AEA72-EDC4-528E-C8B3-492C32B11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44597FF-3C40-7DFB-EF99-9D74D22D0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9254-5E34-43FC-BBB7-68C1467EF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1892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EDEC60-EBB2-E9B3-A2A4-C0CA6221B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5B00885-5FFC-831B-D0DC-BF52DCB4A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5999A-79CD-4EAF-896E-4DF0B810984A}" type="datetimeFigureOut">
              <a:rPr lang="zh-TW" altLang="en-US" smtClean="0"/>
              <a:t>2024/10/7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58167E6-7EFF-2DD8-71EC-A20E2A4FC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084C680-4C3A-208D-BD49-A33AEE9B9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9254-5E34-43FC-BBB7-68C1467EF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2668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E0F5CB8-2312-B002-762D-C46A03B87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5999A-79CD-4EAF-896E-4DF0B810984A}" type="datetimeFigureOut">
              <a:rPr lang="zh-TW" altLang="en-US" smtClean="0"/>
              <a:t>2024/10/7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75CA866-25E3-A9E3-C003-D6EC9FDCE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924C84D-252A-B1C2-6627-E7DDB5FAF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9254-5E34-43FC-BBB7-68C1467EF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3121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C3EF37-C3E5-C86A-CC2F-49B63B3DD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6DE376-A4EA-E617-5D08-9EC35F32C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953F0CC-A773-9554-AF8B-97C2B74FE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2407A34-537D-39A5-E205-A6FC4018E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5999A-79CD-4EAF-896E-4DF0B810984A}" type="datetimeFigureOut">
              <a:rPr lang="zh-TW" altLang="en-US" smtClean="0"/>
              <a:t>2024/10/7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E73FCD-367C-2C23-865F-033676B50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64266FB-907A-1393-FAB3-9E4BB457D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9254-5E34-43FC-BBB7-68C1467EF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5241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4EAD5E-D9E7-812D-D614-948DB85FE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2F300E7-711E-CDD7-DAD2-4F3A9F6000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D62033E-51AA-307E-6778-87BF5C65F4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08B937A-BF46-4862-F191-442E32BB6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5999A-79CD-4EAF-896E-4DF0B810984A}" type="datetimeFigureOut">
              <a:rPr lang="zh-TW" altLang="en-US" smtClean="0"/>
              <a:t>2024/10/7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0760E48-FEC4-A7A2-7FB2-CD7DB63F0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3FDF2D7-C12C-E44C-2775-C0CFD42DD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9254-5E34-43FC-BBB7-68C1467EF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256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71CBF9-2845-4AA7-0921-38EDCC278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23A0FF5-26E8-AA60-F0B3-232C20B9E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674166-6D24-1C7C-25DE-EB5A8DF0A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5999A-79CD-4EAF-896E-4DF0B810984A}" type="datetimeFigureOut">
              <a:rPr lang="zh-TW" altLang="en-US" smtClean="0"/>
              <a:t>2024/10/7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D842A7-FA03-9845-216B-6A2ABD09C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9DA9CB4-558A-D10C-6128-3309133AB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9254-5E34-43FC-BBB7-68C1467EF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4000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40BBE52-1E60-860D-9DD2-72C9B275AC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E643D7E-1287-1367-AAB6-48A689F49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BBFFB30-E66E-0655-79B9-1C2D4F8CD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5999A-79CD-4EAF-896E-4DF0B810984A}" type="datetimeFigureOut">
              <a:rPr lang="zh-TW" altLang="en-US" smtClean="0"/>
              <a:t>2024/10/7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0CE37FD-5F07-DC83-FA6D-017743178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D242C8-C146-4B83-966F-57FBD83DF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9254-5E34-43FC-BBB7-68C1467EF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272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1EC4A60-1E59-1001-8626-5A021668D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1DFA247-9022-BA4F-182A-2100C4922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DA113F4-2C29-59C1-5710-1EFDE1A09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25999A-79CD-4EAF-896E-4DF0B810984A}" type="datetimeFigureOut">
              <a:rPr lang="zh-TW" altLang="en-US" smtClean="0"/>
              <a:t>2024/10/7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C11BB7-BCFA-CA72-8BD3-492B72D8B9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AD92BD-97B8-DA17-6972-934F2CE0E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C79254-5E34-43FC-BBB7-68C1467EF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2105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4135C7C-DBBE-C517-6C24-C96DC87EB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403" y="1267818"/>
            <a:ext cx="2738029" cy="216000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AB87B2C7-0F7E-BCC2-6601-730C1E5DA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723" y="1269000"/>
            <a:ext cx="2762553" cy="216000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E8AD411C-8E59-5D3B-37AD-791C0A36B2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075" y="1267818"/>
            <a:ext cx="2765416" cy="2160000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08EE5DAE-62BA-4D74-9070-2DE4C43BD131}"/>
              </a:ext>
            </a:extLst>
          </p:cNvPr>
          <p:cNvSpPr txBox="1"/>
          <p:nvPr/>
        </p:nvSpPr>
        <p:spPr>
          <a:xfrm>
            <a:off x="892187" y="336491"/>
            <a:ext cx="45381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模型測試（</a:t>
            </a:r>
            <a:r>
              <a:rPr lang="en-US" altLang="zh-TW" dirty="0"/>
              <a:t>20</a:t>
            </a:r>
            <a:r>
              <a:rPr lang="zh-TW" altLang="en-US" dirty="0"/>
              <a:t> </a:t>
            </a:r>
            <a:r>
              <a:rPr lang="en-US" altLang="zh-TW" dirty="0"/>
              <a:t>epochs</a:t>
            </a:r>
            <a:r>
              <a:rPr lang="zh-TW" altLang="en-US" dirty="0"/>
              <a:t>）</a:t>
            </a:r>
            <a:endParaRPr lang="en-US" altLang="zh-TW" dirty="0"/>
          </a:p>
          <a:p>
            <a:r>
              <a:rPr lang="en-US" altLang="zh-TW" dirty="0"/>
              <a:t>Models: </a:t>
            </a:r>
            <a:r>
              <a:rPr lang="en-US" altLang="zh-TW" dirty="0" err="1"/>
              <a:t>ResNet</a:t>
            </a:r>
            <a:r>
              <a:rPr lang="en-US" altLang="zh-TW" dirty="0"/>
              <a:t>, Inception, Vision Transformer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E6CA8B2-791F-490B-B1AE-B7769C9A65C2}"/>
              </a:ext>
            </a:extLst>
          </p:cNvPr>
          <p:cNvSpPr txBox="1"/>
          <p:nvPr/>
        </p:nvSpPr>
        <p:spPr>
          <a:xfrm>
            <a:off x="6354288" y="460068"/>
            <a:ext cx="366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驗證集準確率最高模型為 </a:t>
            </a:r>
            <a:r>
              <a:rPr lang="en-US" altLang="zh-TW" dirty="0"/>
              <a:t>ViT_B_16</a:t>
            </a:r>
            <a:endParaRPr lang="zh-TW" altLang="en-US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2EFF6BA3-5A3B-4203-A268-3D463B47F72F}"/>
              </a:ext>
            </a:extLst>
          </p:cNvPr>
          <p:cNvGrpSpPr/>
          <p:nvPr/>
        </p:nvGrpSpPr>
        <p:grpSpPr>
          <a:xfrm>
            <a:off x="892187" y="4054561"/>
            <a:ext cx="2826304" cy="2087153"/>
            <a:chOff x="3490912" y="1323734"/>
            <a:chExt cx="5210175" cy="4176953"/>
          </a:xfrm>
        </p:grpSpPr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EA1FBD91-40DC-470B-B2D1-85B1FA5D65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6092"/>
            <a:stretch/>
          </p:blipFill>
          <p:spPr>
            <a:xfrm>
              <a:off x="3490912" y="1609725"/>
              <a:ext cx="5210175" cy="3890962"/>
            </a:xfrm>
            <a:prstGeom prst="rect">
              <a:avLst/>
            </a:prstGeom>
          </p:spPr>
        </p:pic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01DEE8F3-28BC-4F92-8081-1776CB1703F5}"/>
                </a:ext>
              </a:extLst>
            </p:cNvPr>
            <p:cNvSpPr txBox="1"/>
            <p:nvPr/>
          </p:nvSpPr>
          <p:spPr>
            <a:xfrm>
              <a:off x="5693814" y="1323734"/>
              <a:ext cx="822102" cy="4311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800" dirty="0"/>
                <a:t>vitb16</a:t>
              </a:r>
              <a:endParaRPr lang="zh-TW" altLang="en-US" sz="800" dirty="0"/>
            </a:p>
          </p:txBody>
        </p:sp>
      </p:grp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468305E-DF2E-4920-8713-6556458ECEDB}"/>
              </a:ext>
            </a:extLst>
          </p:cNvPr>
          <p:cNvSpPr txBox="1"/>
          <p:nvPr/>
        </p:nvSpPr>
        <p:spPr>
          <a:xfrm>
            <a:off x="953075" y="61521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0" i="0" dirty="0">
                <a:effectLst/>
                <a:latin typeface="Consolas" panose="020B0609020204030204" pitchFamily="49" charset="0"/>
              </a:rPr>
              <a:t>Best </a:t>
            </a:r>
            <a:r>
              <a:rPr lang="en-US" altLang="zh-TW" b="0" i="0" dirty="0" err="1">
                <a:effectLst/>
                <a:latin typeface="Consolas" panose="020B0609020204030204" pitchFamily="49" charset="0"/>
              </a:rPr>
              <a:t>val</a:t>
            </a:r>
            <a:r>
              <a:rPr lang="en-US" altLang="zh-TW" b="0" i="0" dirty="0">
                <a:effectLst/>
                <a:latin typeface="Consolas" panose="020B0609020204030204" pitchFamily="49" charset="0"/>
              </a:rPr>
              <a:t> Acc: 0.996711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C32668E-B1E4-444A-AB69-17ED44A2A6AA}"/>
              </a:ext>
            </a:extLst>
          </p:cNvPr>
          <p:cNvSpPr txBox="1"/>
          <p:nvPr/>
        </p:nvSpPr>
        <p:spPr>
          <a:xfrm>
            <a:off x="953075" y="33897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0" i="0" dirty="0">
                <a:effectLst/>
                <a:latin typeface="Consolas" panose="020B0609020204030204" pitchFamily="49" charset="0"/>
              </a:rPr>
              <a:t>Best </a:t>
            </a:r>
            <a:r>
              <a:rPr lang="en-US" altLang="zh-TW" b="0" i="0" dirty="0" err="1">
                <a:effectLst/>
                <a:latin typeface="Consolas" panose="020B0609020204030204" pitchFamily="49" charset="0"/>
              </a:rPr>
              <a:t>val</a:t>
            </a:r>
            <a:r>
              <a:rPr lang="en-US" altLang="zh-TW" b="0" i="0" dirty="0">
                <a:effectLst/>
                <a:latin typeface="Consolas" panose="020B0609020204030204" pitchFamily="49" charset="0"/>
              </a:rPr>
              <a:t> Acc: 0.917763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812DB9B-9406-4CC5-A72D-7D8FB98B2B5E}"/>
              </a:ext>
            </a:extLst>
          </p:cNvPr>
          <p:cNvSpPr txBox="1"/>
          <p:nvPr/>
        </p:nvSpPr>
        <p:spPr>
          <a:xfrm>
            <a:off x="4714723" y="3389716"/>
            <a:ext cx="3077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0" i="0" dirty="0">
                <a:effectLst/>
                <a:latin typeface="Consolas" panose="020B0609020204030204" pitchFamily="49" charset="0"/>
              </a:rPr>
              <a:t>Best </a:t>
            </a:r>
            <a:r>
              <a:rPr lang="en-US" altLang="zh-TW" b="0" i="0" dirty="0" err="1">
                <a:effectLst/>
                <a:latin typeface="Consolas" panose="020B0609020204030204" pitchFamily="49" charset="0"/>
              </a:rPr>
              <a:t>val</a:t>
            </a:r>
            <a:r>
              <a:rPr lang="en-US" altLang="zh-TW" b="0" i="0" dirty="0">
                <a:effectLst/>
                <a:latin typeface="Consolas" panose="020B0609020204030204" pitchFamily="49" charset="0"/>
              </a:rPr>
              <a:t> Acc: 0.940789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6E3D05D0-1FD1-4D83-8386-8A3805D0F8F6}"/>
              </a:ext>
            </a:extLst>
          </p:cNvPr>
          <p:cNvSpPr txBox="1"/>
          <p:nvPr/>
        </p:nvSpPr>
        <p:spPr>
          <a:xfrm>
            <a:off x="8368403" y="3389716"/>
            <a:ext cx="33092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0" i="0" dirty="0">
                <a:effectLst/>
                <a:latin typeface="Consolas" panose="020B0609020204030204" pitchFamily="49" charset="0"/>
              </a:rPr>
              <a:t>Best </a:t>
            </a:r>
            <a:r>
              <a:rPr lang="en-US" altLang="zh-TW" b="0" i="0" dirty="0" err="1">
                <a:effectLst/>
                <a:latin typeface="Consolas" panose="020B0609020204030204" pitchFamily="49" charset="0"/>
              </a:rPr>
              <a:t>val</a:t>
            </a:r>
            <a:r>
              <a:rPr lang="en-US" altLang="zh-TW" b="0" i="0" dirty="0">
                <a:effectLst/>
                <a:latin typeface="Consolas" panose="020B0609020204030204" pitchFamily="49" charset="0"/>
              </a:rPr>
              <a:t> Acc: 0.911184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5AFB57A-26F5-4D78-AA55-74F3C6F9E4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723" y="4097038"/>
            <a:ext cx="2716138" cy="2160000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C9DF86F2-0BC9-432F-A571-60056B3450A8}"/>
              </a:ext>
            </a:extLst>
          </p:cNvPr>
          <p:cNvSpPr txBox="1"/>
          <p:nvPr/>
        </p:nvSpPr>
        <p:spPr>
          <a:xfrm>
            <a:off x="4743779" y="6165942"/>
            <a:ext cx="32210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0" i="0" dirty="0">
                <a:effectLst/>
                <a:latin typeface="Consolas" panose="020B0609020204030204" pitchFamily="49" charset="0"/>
              </a:rPr>
              <a:t>Best </a:t>
            </a:r>
            <a:r>
              <a:rPr lang="en-US" altLang="zh-TW" b="0" i="0" dirty="0" err="1">
                <a:effectLst/>
                <a:latin typeface="Consolas" panose="020B0609020204030204" pitchFamily="49" charset="0"/>
              </a:rPr>
              <a:t>val</a:t>
            </a:r>
            <a:r>
              <a:rPr lang="en-US" altLang="zh-TW" b="0" i="0" dirty="0">
                <a:effectLst/>
                <a:latin typeface="Consolas" panose="020B0609020204030204" pitchFamily="49" charset="0"/>
              </a:rPr>
              <a:t> Acc: 0.993421</a:t>
            </a:r>
            <a:endParaRPr lang="zh-TW" altLang="en-US" dirty="0"/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15D24555-554A-4BE9-82B7-44A80862BF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4091" y="4089590"/>
            <a:ext cx="2752341" cy="2160000"/>
          </a:xfrm>
          <a:prstGeom prst="rect">
            <a:avLst/>
          </a:prstGeom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2EC69B85-4D58-4A76-866E-B8FFA150523B}"/>
              </a:ext>
            </a:extLst>
          </p:cNvPr>
          <p:cNvSpPr txBox="1"/>
          <p:nvPr/>
        </p:nvSpPr>
        <p:spPr>
          <a:xfrm>
            <a:off x="8354091" y="6186116"/>
            <a:ext cx="32210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0" i="0" dirty="0">
                <a:effectLst/>
                <a:latin typeface="Consolas" panose="020B0609020204030204" pitchFamily="49" charset="0"/>
              </a:rPr>
              <a:t>Best </a:t>
            </a:r>
            <a:r>
              <a:rPr lang="en-US" altLang="zh-TW" b="0" i="0" dirty="0" err="1">
                <a:effectLst/>
                <a:latin typeface="Consolas" panose="020B0609020204030204" pitchFamily="49" charset="0"/>
              </a:rPr>
              <a:t>val</a:t>
            </a:r>
            <a:r>
              <a:rPr lang="en-US" altLang="zh-TW" b="0" i="0" dirty="0">
                <a:effectLst/>
                <a:latin typeface="Consolas" panose="020B0609020204030204" pitchFamily="49" charset="0"/>
              </a:rPr>
              <a:t> Acc: 0.960526</a:t>
            </a:r>
            <a:endParaRPr lang="zh-TW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3D3F70C-B2A7-4775-8BC9-CDA10C5347A9}"/>
              </a:ext>
            </a:extLst>
          </p:cNvPr>
          <p:cNvSpPr/>
          <p:nvPr/>
        </p:nvSpPr>
        <p:spPr>
          <a:xfrm>
            <a:off x="780056" y="6106902"/>
            <a:ext cx="3221019" cy="5277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2FD3B2B-B013-45A7-BB54-6C65832C8374}"/>
              </a:ext>
            </a:extLst>
          </p:cNvPr>
          <p:cNvSpPr txBox="1"/>
          <p:nvPr/>
        </p:nvSpPr>
        <p:spPr>
          <a:xfrm>
            <a:off x="8341278" y="6473005"/>
            <a:ext cx="2915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ResNet152 epochs: 20 -&gt; 100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59613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4C0D2AD3-96F0-42D9-B28B-32F2FC998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708" y="3948043"/>
            <a:ext cx="6969517" cy="105258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994054D-A4D5-4631-BACB-3D76EF9D9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708" y="2174925"/>
            <a:ext cx="6494583" cy="1155326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45B09B2E-FC89-4402-8B18-6A40C592C25B}"/>
              </a:ext>
            </a:extLst>
          </p:cNvPr>
          <p:cNvSpPr txBox="1"/>
          <p:nvPr/>
        </p:nvSpPr>
        <p:spPr>
          <a:xfrm>
            <a:off x="620806" y="498101"/>
            <a:ext cx="1752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上傳 </a:t>
            </a:r>
            <a:r>
              <a:rPr lang="en-US" altLang="zh-TW" dirty="0" err="1"/>
              <a:t>AIdea</a:t>
            </a:r>
            <a:r>
              <a:rPr lang="zh-TW" altLang="en-US" dirty="0"/>
              <a:t> 結果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BBC5AA0-327E-4D55-B831-A4ACBC66556C}"/>
              </a:ext>
            </a:extLst>
          </p:cNvPr>
          <p:cNvSpPr/>
          <p:nvPr/>
        </p:nvSpPr>
        <p:spPr>
          <a:xfrm>
            <a:off x="2630261" y="3684162"/>
            <a:ext cx="7332889" cy="14593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7FCFF65-191B-4B29-8A5E-7BB5B0B588F5}"/>
              </a:ext>
            </a:extLst>
          </p:cNvPr>
          <p:cNvSpPr txBox="1"/>
          <p:nvPr/>
        </p:nvSpPr>
        <p:spPr>
          <a:xfrm>
            <a:off x="4098026" y="5407380"/>
            <a:ext cx="4397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ViT_B_16</a:t>
            </a:r>
            <a:r>
              <a:rPr lang="zh-TW" altLang="en-US" dirty="0"/>
              <a:t> 和 </a:t>
            </a:r>
            <a:r>
              <a:rPr lang="en-US" altLang="zh-TW" dirty="0"/>
              <a:t>ViT_L_32 </a:t>
            </a:r>
            <a:r>
              <a:rPr lang="zh-TW" altLang="en-US" dirty="0"/>
              <a:t>得到相同的測試分數</a:t>
            </a:r>
          </a:p>
        </p:txBody>
      </p:sp>
    </p:spTree>
    <p:extLst>
      <p:ext uri="{BB962C8B-B14F-4D97-AF65-F5344CB8AC3E}">
        <p14:creationId xmlns:p14="http://schemas.microsoft.com/office/powerpoint/2010/main" val="1616140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7BC0FD7-91CA-4ED2-81BE-31115BF23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769" y="1629000"/>
            <a:ext cx="4593784" cy="36000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A28F081D-6DF0-43DD-A044-3A92C2D09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449" y="1629000"/>
            <a:ext cx="4593784" cy="3600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0BF685A-81D8-4660-A87B-BCB2B33137A2}"/>
              </a:ext>
            </a:extLst>
          </p:cNvPr>
          <p:cNvSpPr txBox="1"/>
          <p:nvPr/>
        </p:nvSpPr>
        <p:spPr>
          <a:xfrm>
            <a:off x="620806" y="498101"/>
            <a:ext cx="1699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ResNet152</a:t>
            </a:r>
            <a:r>
              <a:rPr lang="zh-TW" altLang="en-US" dirty="0"/>
              <a:t> </a:t>
            </a:r>
            <a:r>
              <a:rPr lang="en-US" altLang="zh-TW" dirty="0" err="1"/>
              <a:t>tSNE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53068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F7BA6FA8-1D02-4565-9E00-1B32B23E1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629000"/>
            <a:ext cx="4593784" cy="3600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3A625F7-E0E2-406C-AE76-44CBF3BC2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718" y="1629000"/>
            <a:ext cx="4593784" cy="360000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7A2E8C50-0BFF-49A1-8072-BDBF35F5C621}"/>
              </a:ext>
            </a:extLst>
          </p:cNvPr>
          <p:cNvSpPr txBox="1"/>
          <p:nvPr/>
        </p:nvSpPr>
        <p:spPr>
          <a:xfrm>
            <a:off x="620806" y="498101"/>
            <a:ext cx="1540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ViT_L_32</a:t>
            </a:r>
            <a:r>
              <a:rPr lang="zh-TW" altLang="en-US" dirty="0"/>
              <a:t> </a:t>
            </a:r>
            <a:r>
              <a:rPr lang="en-US" altLang="zh-TW" dirty="0" err="1"/>
              <a:t>tSNE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71A1EFB-F3C9-48DE-8607-5C73B906CEE0}"/>
              </a:ext>
            </a:extLst>
          </p:cNvPr>
          <p:cNvSpPr txBox="1"/>
          <p:nvPr/>
        </p:nvSpPr>
        <p:spPr>
          <a:xfrm>
            <a:off x="4467800" y="5621235"/>
            <a:ext cx="3383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ViT</a:t>
            </a:r>
            <a:r>
              <a:rPr lang="en-US" altLang="zh-TW" dirty="0"/>
              <a:t> </a:t>
            </a:r>
            <a:r>
              <a:rPr lang="zh-TW" altLang="en-US" dirty="0"/>
              <a:t>視覺化結果分得較 </a:t>
            </a:r>
            <a:r>
              <a:rPr lang="en-US" altLang="zh-TW" dirty="0" err="1"/>
              <a:t>ResNet</a:t>
            </a:r>
            <a:r>
              <a:rPr lang="zh-TW" altLang="en-US" dirty="0"/>
              <a:t> 開</a:t>
            </a:r>
          </a:p>
        </p:txBody>
      </p:sp>
    </p:spTree>
    <p:extLst>
      <p:ext uri="{BB962C8B-B14F-4D97-AF65-F5344CB8AC3E}">
        <p14:creationId xmlns:p14="http://schemas.microsoft.com/office/powerpoint/2010/main" val="771002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00845E6-C941-4DB4-86B8-4479433BC70C}"/>
              </a:ext>
            </a:extLst>
          </p:cNvPr>
          <p:cNvSpPr txBox="1"/>
          <p:nvPr/>
        </p:nvSpPr>
        <p:spPr>
          <a:xfrm>
            <a:off x="430306" y="56477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心得：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3146A3C-56C8-442A-8DB3-44D6B9F8C804}"/>
              </a:ext>
            </a:extLst>
          </p:cNvPr>
          <p:cNvSpPr txBox="1"/>
          <p:nvPr/>
        </p:nvSpPr>
        <p:spPr>
          <a:xfrm>
            <a:off x="386603" y="2288800"/>
            <a:ext cx="114187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    過去也有做過 </a:t>
            </a:r>
            <a:r>
              <a:rPr lang="en-US" altLang="zh-TW" dirty="0" err="1"/>
              <a:t>aoi</a:t>
            </a:r>
            <a:r>
              <a:rPr lang="en-US" altLang="zh-TW" dirty="0"/>
              <a:t> </a:t>
            </a:r>
            <a:r>
              <a:rPr lang="zh-TW" altLang="en-US" dirty="0"/>
              <a:t>瑕疵分類任務，對於簡單分類任務流程有基本的認識，當時使用</a:t>
            </a:r>
            <a:r>
              <a:rPr lang="en-US" altLang="zh-TW" dirty="0"/>
              <a:t> </a:t>
            </a:r>
            <a:r>
              <a:rPr lang="en-US" altLang="zh-TW" dirty="0" err="1"/>
              <a:t>ResNet</a:t>
            </a:r>
            <a:r>
              <a:rPr lang="en-US" altLang="zh-TW" dirty="0"/>
              <a:t> </a:t>
            </a:r>
            <a:r>
              <a:rPr lang="zh-TW" altLang="en-US" dirty="0"/>
              <a:t>即得到不錯的成效。這次作業便測試不同層數的 </a:t>
            </a:r>
            <a:r>
              <a:rPr lang="en-US" altLang="zh-TW" dirty="0" err="1"/>
              <a:t>ResNet</a:t>
            </a:r>
            <a:r>
              <a:rPr lang="en-US" altLang="zh-TW" dirty="0"/>
              <a:t> </a:t>
            </a:r>
            <a:r>
              <a:rPr lang="zh-TW" altLang="en-US" dirty="0"/>
              <a:t>是否能提升分類準確率，又因</a:t>
            </a:r>
            <a:r>
              <a:rPr lang="en-US" altLang="zh-TW" dirty="0"/>
              <a:t> Residual Block </a:t>
            </a:r>
            <a:r>
              <a:rPr lang="zh-TW" altLang="en-US" dirty="0"/>
              <a:t>的特性，將 </a:t>
            </a:r>
            <a:r>
              <a:rPr lang="en-US" altLang="zh-TW" dirty="0"/>
              <a:t>epochs </a:t>
            </a:r>
            <a:r>
              <a:rPr lang="zh-TW" altLang="en-US" dirty="0"/>
              <a:t>加大至 </a:t>
            </a:r>
            <a:r>
              <a:rPr lang="en-US" altLang="zh-TW" dirty="0"/>
              <a:t>100</a:t>
            </a:r>
            <a:r>
              <a:rPr lang="zh-TW" altLang="en-US" dirty="0"/>
              <a:t> 測試。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    後來嘗試使用 </a:t>
            </a:r>
            <a:r>
              <a:rPr lang="en-US" altLang="zh-TW" dirty="0"/>
              <a:t>Vision Transformer </a:t>
            </a:r>
            <a:r>
              <a:rPr lang="zh-TW" altLang="en-US" dirty="0"/>
              <a:t>，並使用不同大小以及 </a:t>
            </a:r>
            <a:r>
              <a:rPr lang="en-US" altLang="zh-TW" dirty="0" err="1"/>
              <a:t>torchvision.models</a:t>
            </a:r>
            <a:r>
              <a:rPr lang="zh-TW" altLang="en-US" dirty="0"/>
              <a:t> 內建的初始權重，得到相比其他模型更佳的準確率，由此得知 </a:t>
            </a:r>
            <a:r>
              <a:rPr lang="en-US" altLang="zh-TW" dirty="0"/>
              <a:t>self attention </a:t>
            </a:r>
            <a:r>
              <a:rPr lang="zh-TW" altLang="en-US" dirty="0"/>
              <a:t>在此項分類任務的表現優於其他 </a:t>
            </a:r>
            <a:r>
              <a:rPr lang="en-US" altLang="zh-TW" dirty="0"/>
              <a:t>CNN based </a:t>
            </a:r>
            <a:r>
              <a:rPr lang="zh-TW" altLang="en-US" dirty="0"/>
              <a:t>模型。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532049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205</Words>
  <Application>Microsoft Office PowerPoint</Application>
  <PresentationFormat>寬螢幕</PresentationFormat>
  <Paragraphs>20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Consolas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雲明 周</dc:creator>
  <cp:lastModifiedBy>雲明 周</cp:lastModifiedBy>
  <cp:revision>15</cp:revision>
  <dcterms:created xsi:type="dcterms:W3CDTF">2024-10-06T07:48:14Z</dcterms:created>
  <dcterms:modified xsi:type="dcterms:W3CDTF">2024-10-07T14:44:49Z</dcterms:modified>
</cp:coreProperties>
</file>